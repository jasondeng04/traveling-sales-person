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9850"/>
  <p:notesSz cx="9144000" cy="5149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86"/>
    <p:restoredTop sz="94663"/>
  </p:normalViewPr>
  <p:slideViewPr>
    <p:cSldViewPr>
      <p:cViewPr varScale="1">
        <p:scale>
          <a:sx n="132" d="100"/>
          <a:sy n="132" d="100"/>
        </p:scale>
        <p:origin x="592" y="-4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6453"/>
            <a:ext cx="7772400" cy="10814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0E162A"/>
                </a:solidFill>
                <a:latin typeface="Meiryo UI"/>
                <a:cs typeface="Meiryo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3916"/>
            <a:ext cx="6400800" cy="12874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6/4/26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0E162A"/>
                </a:solidFill>
                <a:latin typeface="Meiryo UI"/>
                <a:cs typeface="Meiryo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6/4/26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0E162A"/>
                </a:solidFill>
                <a:latin typeface="Meiryo UI"/>
                <a:cs typeface="Meiryo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41824" y="789027"/>
            <a:ext cx="3434079" cy="28727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6/4/26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0E162A"/>
                </a:solidFill>
                <a:latin typeface="Meiryo UI"/>
                <a:cs typeface="Meiryo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6/4/26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0E162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5180" y="240666"/>
            <a:ext cx="85675" cy="85675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411480" y="1005841"/>
            <a:ext cx="1965960" cy="1325880"/>
          </a:xfrm>
          <a:custGeom>
            <a:avLst/>
            <a:gdLst/>
            <a:ahLst/>
            <a:cxnLst/>
            <a:rect l="l" t="t" r="r" b="b"/>
            <a:pathLst>
              <a:path w="1965960" h="1325880">
                <a:moveTo>
                  <a:pt x="1965604" y="0"/>
                </a:moveTo>
                <a:lnTo>
                  <a:pt x="0" y="0"/>
                </a:lnTo>
                <a:lnTo>
                  <a:pt x="0" y="1325524"/>
                </a:lnTo>
                <a:lnTo>
                  <a:pt x="982802" y="1325524"/>
                </a:lnTo>
                <a:lnTo>
                  <a:pt x="1965604" y="1325524"/>
                </a:lnTo>
                <a:lnTo>
                  <a:pt x="1965604" y="0"/>
                </a:lnTo>
                <a:close/>
              </a:path>
            </a:pathLst>
          </a:custGeom>
          <a:solidFill>
            <a:srgbClr val="1D28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6/4/26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F7FAF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05180" y="240666"/>
            <a:ext cx="85675" cy="8567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53935" y="205462"/>
            <a:ext cx="7846695" cy="421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0E162A"/>
                </a:solidFill>
                <a:latin typeface="Meiryo UI"/>
                <a:cs typeface="Meiryo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0521" y="1167499"/>
            <a:ext cx="6757034" cy="14147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9360"/>
            <a:ext cx="292608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9360"/>
            <a:ext cx="210312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6/4/26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9360"/>
            <a:ext cx="210312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5862" y="0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0E162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6299" y="-6653"/>
            <a:ext cx="177165" cy="5156200"/>
            <a:chOff x="-6299" y="-6653"/>
            <a:chExt cx="177165" cy="5156200"/>
          </a:xfrm>
        </p:grpSpPr>
        <p:sp>
          <p:nvSpPr>
            <p:cNvPr id="4" name="object 4"/>
            <p:cNvSpPr/>
            <p:nvPr/>
          </p:nvSpPr>
          <p:spPr>
            <a:xfrm>
              <a:off x="0" y="-353"/>
              <a:ext cx="164465" cy="5143500"/>
            </a:xfrm>
            <a:custGeom>
              <a:avLst/>
              <a:gdLst/>
              <a:ahLst/>
              <a:cxnLst/>
              <a:rect l="l" t="t" r="r" b="b"/>
              <a:pathLst>
                <a:path w="164465" h="5143500">
                  <a:moveTo>
                    <a:pt x="164160" y="0"/>
                  </a:moveTo>
                  <a:lnTo>
                    <a:pt x="0" y="0"/>
                  </a:lnTo>
                  <a:lnTo>
                    <a:pt x="0" y="5143309"/>
                  </a:lnTo>
                  <a:lnTo>
                    <a:pt x="82080" y="5143309"/>
                  </a:lnTo>
                  <a:lnTo>
                    <a:pt x="164160" y="5143309"/>
                  </a:lnTo>
                  <a:lnTo>
                    <a:pt x="164160" y="0"/>
                  </a:lnTo>
                  <a:close/>
                </a:path>
              </a:pathLst>
            </a:custGeom>
            <a:solidFill>
              <a:srgbClr val="0D94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-353"/>
              <a:ext cx="164465" cy="5143500"/>
            </a:xfrm>
            <a:custGeom>
              <a:avLst/>
              <a:gdLst/>
              <a:ahLst/>
              <a:cxnLst/>
              <a:rect l="l" t="t" r="r" b="b"/>
              <a:pathLst>
                <a:path w="164465" h="5143500">
                  <a:moveTo>
                    <a:pt x="82080" y="5143309"/>
                  </a:moveTo>
                  <a:lnTo>
                    <a:pt x="0" y="5143309"/>
                  </a:lnTo>
                  <a:lnTo>
                    <a:pt x="0" y="0"/>
                  </a:lnTo>
                  <a:lnTo>
                    <a:pt x="164160" y="0"/>
                  </a:lnTo>
                  <a:lnTo>
                    <a:pt x="164160" y="5143309"/>
                  </a:lnTo>
                  <a:lnTo>
                    <a:pt x="82080" y="5143309"/>
                  </a:lnTo>
                  <a:close/>
                </a:path>
              </a:pathLst>
            </a:custGeom>
            <a:ln w="12599">
              <a:solidFill>
                <a:srgbClr val="0D94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398424" y="1122745"/>
            <a:ext cx="566991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120" dirty="0">
                <a:solidFill>
                  <a:srgbClr val="FFFFFF"/>
                </a:solidFill>
              </a:rPr>
              <a:t>Large-</a:t>
            </a:r>
            <a:r>
              <a:rPr sz="4000" spc="125" dirty="0">
                <a:solidFill>
                  <a:srgbClr val="FFFFFF"/>
                </a:solidFill>
              </a:rPr>
              <a:t>Scale</a:t>
            </a:r>
            <a:r>
              <a:rPr sz="4000" spc="70" dirty="0">
                <a:solidFill>
                  <a:srgbClr val="FFFFFF"/>
                </a:solidFill>
              </a:rPr>
              <a:t> </a:t>
            </a:r>
            <a:r>
              <a:rPr sz="4000" spc="120" dirty="0">
                <a:solidFill>
                  <a:srgbClr val="FFFFFF"/>
                </a:solidFill>
              </a:rPr>
              <a:t>TSP</a:t>
            </a:r>
            <a:r>
              <a:rPr sz="4000" spc="75" dirty="0">
                <a:solidFill>
                  <a:srgbClr val="FFFFFF"/>
                </a:solidFill>
              </a:rPr>
              <a:t> </a:t>
            </a:r>
            <a:r>
              <a:rPr sz="4000" spc="110" dirty="0">
                <a:solidFill>
                  <a:srgbClr val="FFFFFF"/>
                </a:solidFill>
              </a:rPr>
              <a:t>via</a:t>
            </a:r>
            <a:endParaRPr sz="4000" dirty="0"/>
          </a:p>
        </p:txBody>
      </p:sp>
      <p:sp>
        <p:nvSpPr>
          <p:cNvPr id="7" name="object 7"/>
          <p:cNvSpPr txBox="1"/>
          <p:nvPr/>
        </p:nvSpPr>
        <p:spPr>
          <a:xfrm>
            <a:off x="370519" y="1650107"/>
            <a:ext cx="7099934" cy="105862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3400" b="1" spc="120" dirty="0">
                <a:solidFill>
                  <a:srgbClr val="13B8A6"/>
                </a:solidFill>
                <a:latin typeface="Meiryo UI"/>
                <a:cs typeface="Meiryo UI"/>
              </a:rPr>
              <a:t>Clustering,</a:t>
            </a:r>
            <a:r>
              <a:rPr sz="3400" b="1" spc="65" dirty="0">
                <a:solidFill>
                  <a:srgbClr val="13B8A6"/>
                </a:solidFill>
                <a:latin typeface="Meiryo UI"/>
                <a:cs typeface="Meiryo UI"/>
              </a:rPr>
              <a:t> </a:t>
            </a:r>
            <a:r>
              <a:rPr sz="3400" b="1" spc="125" dirty="0">
                <a:solidFill>
                  <a:srgbClr val="13B8A6"/>
                </a:solidFill>
                <a:latin typeface="Meiryo UI"/>
                <a:cs typeface="Meiryo UI"/>
              </a:rPr>
              <a:t>GLS</a:t>
            </a:r>
            <a:r>
              <a:rPr sz="3400" b="1" spc="60" dirty="0">
                <a:solidFill>
                  <a:srgbClr val="13B8A6"/>
                </a:solidFill>
                <a:latin typeface="Meiryo UI"/>
                <a:cs typeface="Meiryo UI"/>
              </a:rPr>
              <a:t> </a:t>
            </a:r>
            <a:r>
              <a:rPr sz="3400" b="1" spc="140" dirty="0">
                <a:solidFill>
                  <a:srgbClr val="13B8A6"/>
                </a:solidFill>
                <a:latin typeface="Meiryo UI"/>
                <a:cs typeface="Meiryo UI"/>
              </a:rPr>
              <a:t>&amp;</a:t>
            </a:r>
            <a:r>
              <a:rPr sz="3400" b="1" spc="65" dirty="0">
                <a:solidFill>
                  <a:srgbClr val="13B8A6"/>
                </a:solidFill>
                <a:latin typeface="Meiryo UI"/>
                <a:cs typeface="Meiryo UI"/>
              </a:rPr>
              <a:t> </a:t>
            </a:r>
            <a:r>
              <a:rPr sz="3400" b="1" spc="120" dirty="0">
                <a:solidFill>
                  <a:srgbClr val="13B8A6"/>
                </a:solidFill>
                <a:latin typeface="Meiryo UI"/>
                <a:cs typeface="Meiryo UI"/>
              </a:rPr>
              <a:t>Ant</a:t>
            </a:r>
            <a:r>
              <a:rPr sz="3400" b="1" spc="65" dirty="0">
                <a:solidFill>
                  <a:srgbClr val="13B8A6"/>
                </a:solidFill>
                <a:latin typeface="Meiryo UI"/>
                <a:cs typeface="Meiryo UI"/>
              </a:rPr>
              <a:t> </a:t>
            </a:r>
            <a:r>
              <a:rPr sz="3400" b="1" spc="105" dirty="0">
                <a:solidFill>
                  <a:srgbClr val="13B8A6"/>
                </a:solidFill>
                <a:latin typeface="Meiryo UI"/>
                <a:cs typeface="Meiryo UI"/>
              </a:rPr>
              <a:t>Colony </a:t>
            </a:r>
            <a:r>
              <a:rPr sz="3400" b="1" spc="110" dirty="0">
                <a:solidFill>
                  <a:srgbClr val="13B8A6"/>
                </a:solidFill>
                <a:latin typeface="Meiryo UI"/>
                <a:cs typeface="Meiryo UI"/>
              </a:rPr>
              <a:t>Optimization</a:t>
            </a:r>
            <a:endParaRPr sz="3400" dirty="0">
              <a:latin typeface="Meiryo UI"/>
              <a:cs typeface="Meiryo U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11480" y="3154682"/>
            <a:ext cx="3200400" cy="635"/>
          </a:xfrm>
          <a:custGeom>
            <a:avLst/>
            <a:gdLst/>
            <a:ahLst/>
            <a:cxnLst/>
            <a:rect l="l" t="t" r="r" b="b"/>
            <a:pathLst>
              <a:path w="3200400" h="635">
                <a:moveTo>
                  <a:pt x="0" y="0"/>
                </a:moveTo>
                <a:lnTo>
                  <a:pt x="3200399" y="355"/>
                </a:lnTo>
              </a:path>
            </a:pathLst>
          </a:custGeom>
          <a:ln w="19079">
            <a:solidFill>
              <a:srgbClr val="0D94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98424" y="3385707"/>
            <a:ext cx="338074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94A3B8"/>
                </a:solidFill>
                <a:latin typeface="Calibri"/>
                <a:cs typeface="Calibri"/>
              </a:rPr>
              <a:t>Jason</a:t>
            </a:r>
            <a:r>
              <a:rPr sz="1300" spc="-2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4A3B8"/>
                </a:solidFill>
                <a:latin typeface="Calibri"/>
                <a:cs typeface="Calibri"/>
              </a:rPr>
              <a:t>&amp;</a:t>
            </a:r>
            <a:r>
              <a:rPr sz="1300" spc="-2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4A3B8"/>
                </a:solidFill>
                <a:latin typeface="Calibri"/>
                <a:cs typeface="Calibri"/>
              </a:rPr>
              <a:t>Geno</a:t>
            </a:r>
            <a:r>
              <a:rPr sz="1300" spc="26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4A3B8"/>
                </a:solidFill>
                <a:latin typeface="Calibri"/>
                <a:cs typeface="Calibri"/>
              </a:rPr>
              <a:t>·</a:t>
            </a:r>
            <a:r>
              <a:rPr sz="1300" spc="26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4A3B8"/>
                </a:solidFill>
                <a:latin typeface="Calibri"/>
                <a:cs typeface="Calibri"/>
              </a:rPr>
              <a:t>2026</a:t>
            </a:r>
            <a:r>
              <a:rPr sz="1300" spc="26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4A3B8"/>
                </a:solidFill>
                <a:latin typeface="Calibri"/>
                <a:cs typeface="Calibri"/>
              </a:rPr>
              <a:t>·</a:t>
            </a:r>
            <a:r>
              <a:rPr sz="1300" spc="26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94A3B8"/>
                </a:solidFill>
                <a:latin typeface="Calibri"/>
                <a:cs typeface="Calibri"/>
              </a:rPr>
              <a:t>Optimization</a:t>
            </a:r>
            <a:r>
              <a:rPr sz="1300" spc="-2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4A3B8"/>
                </a:solidFill>
                <a:latin typeface="Calibri"/>
                <a:cs typeface="Calibri"/>
              </a:rPr>
              <a:t>Final</a:t>
            </a:r>
            <a:r>
              <a:rPr sz="1300" spc="-2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94A3B8"/>
                </a:solidFill>
                <a:latin typeface="Calibri"/>
                <a:cs typeface="Calibri"/>
              </a:rPr>
              <a:t>Project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29208" y="331801"/>
            <a:ext cx="784669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Goals</a:t>
            </a:r>
            <a:r>
              <a:rPr spc="50" dirty="0"/>
              <a:t> </a:t>
            </a:r>
            <a:r>
              <a:rPr spc="105" dirty="0"/>
              <a:t>&amp;</a:t>
            </a:r>
            <a:r>
              <a:rPr spc="50" dirty="0"/>
              <a:t> </a:t>
            </a:r>
            <a:r>
              <a:rPr spc="95" dirty="0"/>
              <a:t>Setup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9132" y="964544"/>
            <a:ext cx="4043045" cy="1924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dirty="0">
                <a:solidFill>
                  <a:srgbClr val="0D9487"/>
                </a:solidFill>
                <a:latin typeface="Calibri"/>
                <a:cs typeface="Calibri"/>
              </a:rPr>
              <a:t>Our</a:t>
            </a:r>
            <a:r>
              <a:rPr sz="1300" b="1" spc="-25" dirty="0">
                <a:solidFill>
                  <a:srgbClr val="0D9487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D9487"/>
                </a:solidFill>
                <a:latin typeface="Calibri"/>
                <a:cs typeface="Calibri"/>
              </a:rPr>
              <a:t>approach:</a:t>
            </a:r>
            <a:endParaRPr sz="1300" dirty="0">
              <a:latin typeface="Calibri"/>
              <a:cs typeface="Calibri"/>
            </a:endParaRPr>
          </a:p>
          <a:p>
            <a:pPr marL="355600" marR="201930" indent="-342900">
              <a:lnSpc>
                <a:spcPct val="145000"/>
              </a:lnSpc>
              <a:buAutoNum type="arabicParenR"/>
            </a:pPr>
            <a:r>
              <a:rPr lang="en-US" sz="1300" spc="-10" dirty="0">
                <a:solidFill>
                  <a:srgbClr val="1D283A"/>
                </a:solidFill>
                <a:latin typeface="Calibri"/>
                <a:cs typeface="Calibri"/>
              </a:rPr>
              <a:t>Use k-means clustering (1000 clusters)</a:t>
            </a:r>
          </a:p>
          <a:p>
            <a:pPr marL="355600" marR="201930" indent="-342900">
              <a:lnSpc>
                <a:spcPct val="145000"/>
              </a:lnSpc>
              <a:buAutoNum type="arabicParenR"/>
            </a:pPr>
            <a:r>
              <a:rPr lang="en-US" sz="1300" spc="-10" dirty="0">
                <a:solidFill>
                  <a:srgbClr val="1D283A"/>
                </a:solidFill>
                <a:latin typeface="Calibri"/>
                <a:cs typeface="Calibri"/>
              </a:rPr>
              <a:t>Apply Guided Local Search and Ant Colony Optimization</a:t>
            </a:r>
          </a:p>
          <a:p>
            <a:pPr marL="355600" marR="201930" indent="-342900">
              <a:lnSpc>
                <a:spcPct val="145000"/>
              </a:lnSpc>
              <a:buAutoNum type="arabicParenR"/>
            </a:pPr>
            <a:r>
              <a:rPr lang="en-US" sz="1300" spc="-10" dirty="0">
                <a:solidFill>
                  <a:srgbClr val="1D283A"/>
                </a:solidFill>
                <a:latin typeface="Calibri"/>
                <a:cs typeface="Calibri"/>
              </a:rPr>
              <a:t>Represent each cluster by its centroid</a:t>
            </a:r>
          </a:p>
          <a:p>
            <a:pPr marL="355600" marR="201930" indent="-342900">
              <a:lnSpc>
                <a:spcPct val="145000"/>
              </a:lnSpc>
              <a:buAutoNum type="arabicParenR"/>
            </a:pPr>
            <a:r>
              <a:rPr lang="en-US" sz="1300" spc="-10" dirty="0">
                <a:solidFill>
                  <a:srgbClr val="1D283A"/>
                </a:solidFill>
                <a:latin typeface="Calibri"/>
                <a:cs typeface="Calibri"/>
              </a:rPr>
              <a:t>Stitch the cluster tours together</a:t>
            </a:r>
          </a:p>
          <a:p>
            <a:pPr marL="355600" marR="201930" indent="-342900">
              <a:lnSpc>
                <a:spcPct val="145000"/>
              </a:lnSpc>
              <a:buAutoNum type="arabicParenR"/>
            </a:pPr>
            <a:r>
              <a:rPr lang="en-US" sz="1300" spc="-10" dirty="0">
                <a:solidFill>
                  <a:srgbClr val="1D283A"/>
                </a:solidFill>
                <a:latin typeface="Calibri"/>
                <a:cs typeface="Calibri"/>
              </a:rPr>
              <a:t>Apply 2-opt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748579" y="1292226"/>
            <a:ext cx="268605" cy="268605"/>
            <a:chOff x="4748579" y="1292226"/>
            <a:chExt cx="268605" cy="268605"/>
          </a:xfrm>
        </p:grpSpPr>
        <p:sp>
          <p:nvSpPr>
            <p:cNvPr id="5" name="object 5"/>
            <p:cNvSpPr/>
            <p:nvPr/>
          </p:nvSpPr>
          <p:spPr>
            <a:xfrm>
              <a:off x="4754879" y="1298526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39" h="256540">
                  <a:moveTo>
                    <a:pt x="128155" y="0"/>
                  </a:moveTo>
                  <a:lnTo>
                    <a:pt x="79104" y="9563"/>
                  </a:lnTo>
                  <a:lnTo>
                    <a:pt x="37574" y="37211"/>
                  </a:lnTo>
                  <a:lnTo>
                    <a:pt x="9724" y="78792"/>
                  </a:lnTo>
                  <a:lnTo>
                    <a:pt x="0" y="127800"/>
                  </a:lnTo>
                  <a:lnTo>
                    <a:pt x="1080" y="144492"/>
                  </a:lnTo>
                  <a:lnTo>
                    <a:pt x="17284" y="191871"/>
                  </a:lnTo>
                  <a:lnTo>
                    <a:pt x="50137" y="229388"/>
                  </a:lnTo>
                  <a:lnTo>
                    <a:pt x="94905" y="251499"/>
                  </a:lnTo>
                  <a:lnTo>
                    <a:pt x="128155" y="255955"/>
                  </a:lnTo>
                  <a:lnTo>
                    <a:pt x="144798" y="254824"/>
                  </a:lnTo>
                  <a:lnTo>
                    <a:pt x="191884" y="238671"/>
                  </a:lnTo>
                  <a:lnTo>
                    <a:pt x="229394" y="205818"/>
                  </a:lnTo>
                  <a:lnTo>
                    <a:pt x="251639" y="160916"/>
                  </a:lnTo>
                  <a:lnTo>
                    <a:pt x="255955" y="127800"/>
                  </a:lnTo>
                  <a:lnTo>
                    <a:pt x="254876" y="111102"/>
                  </a:lnTo>
                  <a:lnTo>
                    <a:pt x="238683" y="63715"/>
                  </a:lnTo>
                  <a:lnTo>
                    <a:pt x="205824" y="26204"/>
                  </a:lnTo>
                  <a:lnTo>
                    <a:pt x="161101" y="4271"/>
                  </a:lnTo>
                  <a:lnTo>
                    <a:pt x="128155" y="0"/>
                  </a:lnTo>
                  <a:close/>
                </a:path>
              </a:pathLst>
            </a:custGeom>
            <a:solidFill>
              <a:srgbClr val="0D94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754879" y="1298526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39" h="256540">
                  <a:moveTo>
                    <a:pt x="0" y="127800"/>
                  </a:moveTo>
                  <a:lnTo>
                    <a:pt x="1080" y="111102"/>
                  </a:lnTo>
                  <a:lnTo>
                    <a:pt x="4322" y="94676"/>
                  </a:lnTo>
                  <a:lnTo>
                    <a:pt x="26567" y="49770"/>
                  </a:lnTo>
                  <a:lnTo>
                    <a:pt x="64084" y="16916"/>
                  </a:lnTo>
                  <a:lnTo>
                    <a:pt x="111313" y="1073"/>
                  </a:lnTo>
                  <a:lnTo>
                    <a:pt x="128155" y="0"/>
                  </a:lnTo>
                  <a:lnTo>
                    <a:pt x="176863" y="9563"/>
                  </a:lnTo>
                  <a:lnTo>
                    <a:pt x="218384" y="37211"/>
                  </a:lnTo>
                  <a:lnTo>
                    <a:pt x="246242" y="78792"/>
                  </a:lnTo>
                  <a:lnTo>
                    <a:pt x="255955" y="127800"/>
                  </a:lnTo>
                  <a:lnTo>
                    <a:pt x="254876" y="144492"/>
                  </a:lnTo>
                  <a:lnTo>
                    <a:pt x="251639" y="160916"/>
                  </a:lnTo>
                  <a:lnTo>
                    <a:pt x="229394" y="205818"/>
                  </a:lnTo>
                  <a:lnTo>
                    <a:pt x="191884" y="238671"/>
                  </a:lnTo>
                  <a:lnTo>
                    <a:pt x="144798" y="254824"/>
                  </a:lnTo>
                  <a:lnTo>
                    <a:pt x="128155" y="255955"/>
                  </a:lnTo>
                  <a:lnTo>
                    <a:pt x="79104" y="246081"/>
                  </a:lnTo>
                  <a:lnTo>
                    <a:pt x="37574" y="218381"/>
                  </a:lnTo>
                  <a:lnTo>
                    <a:pt x="9724" y="176800"/>
                  </a:lnTo>
                  <a:lnTo>
                    <a:pt x="1080" y="144492"/>
                  </a:lnTo>
                  <a:lnTo>
                    <a:pt x="0" y="127800"/>
                  </a:lnTo>
                  <a:close/>
                </a:path>
              </a:pathLst>
            </a:custGeom>
            <a:ln w="12599">
              <a:solidFill>
                <a:srgbClr val="0D94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826418" y="1337667"/>
            <a:ext cx="11430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0" dirty="0">
                <a:solidFill>
                  <a:srgbClr val="FFFFFF"/>
                </a:solidFill>
                <a:latin typeface="Meiryo UI"/>
                <a:cs typeface="Meiryo UI"/>
              </a:rPr>
              <a:t>1</a:t>
            </a:r>
            <a:endParaRPr sz="1000">
              <a:latin typeface="Meiryo UI"/>
              <a:cs typeface="Meiryo U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748579" y="1822502"/>
            <a:ext cx="268605" cy="268605"/>
            <a:chOff x="4748579" y="1822502"/>
            <a:chExt cx="268605" cy="268605"/>
          </a:xfrm>
        </p:grpSpPr>
        <p:sp>
          <p:nvSpPr>
            <p:cNvPr id="9" name="object 9"/>
            <p:cNvSpPr/>
            <p:nvPr/>
          </p:nvSpPr>
          <p:spPr>
            <a:xfrm>
              <a:off x="4754879" y="1828802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39" h="256539">
                  <a:moveTo>
                    <a:pt x="128155" y="0"/>
                  </a:moveTo>
                  <a:lnTo>
                    <a:pt x="79104" y="9569"/>
                  </a:lnTo>
                  <a:lnTo>
                    <a:pt x="37574" y="37215"/>
                  </a:lnTo>
                  <a:lnTo>
                    <a:pt x="9724" y="78793"/>
                  </a:lnTo>
                  <a:lnTo>
                    <a:pt x="0" y="127800"/>
                  </a:lnTo>
                  <a:lnTo>
                    <a:pt x="1080" y="144492"/>
                  </a:lnTo>
                  <a:lnTo>
                    <a:pt x="17284" y="191884"/>
                  </a:lnTo>
                  <a:lnTo>
                    <a:pt x="50137" y="229394"/>
                  </a:lnTo>
                  <a:lnTo>
                    <a:pt x="94905" y="251501"/>
                  </a:lnTo>
                  <a:lnTo>
                    <a:pt x="128155" y="255955"/>
                  </a:lnTo>
                  <a:lnTo>
                    <a:pt x="144798" y="254825"/>
                  </a:lnTo>
                  <a:lnTo>
                    <a:pt x="191884" y="238683"/>
                  </a:lnTo>
                  <a:lnTo>
                    <a:pt x="229394" y="205824"/>
                  </a:lnTo>
                  <a:lnTo>
                    <a:pt x="251639" y="160918"/>
                  </a:lnTo>
                  <a:lnTo>
                    <a:pt x="255955" y="127800"/>
                  </a:lnTo>
                  <a:lnTo>
                    <a:pt x="254876" y="111107"/>
                  </a:lnTo>
                  <a:lnTo>
                    <a:pt x="238683" y="63715"/>
                  </a:lnTo>
                  <a:lnTo>
                    <a:pt x="205824" y="26205"/>
                  </a:lnTo>
                  <a:lnTo>
                    <a:pt x="161101" y="4276"/>
                  </a:lnTo>
                  <a:lnTo>
                    <a:pt x="128155" y="0"/>
                  </a:lnTo>
                  <a:close/>
                </a:path>
              </a:pathLst>
            </a:custGeom>
            <a:solidFill>
              <a:srgbClr val="0D94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754879" y="1828802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39" h="256539">
                  <a:moveTo>
                    <a:pt x="0" y="127800"/>
                  </a:moveTo>
                  <a:lnTo>
                    <a:pt x="1080" y="111107"/>
                  </a:lnTo>
                  <a:lnTo>
                    <a:pt x="4322" y="94681"/>
                  </a:lnTo>
                  <a:lnTo>
                    <a:pt x="26567" y="49775"/>
                  </a:lnTo>
                  <a:lnTo>
                    <a:pt x="64084" y="16916"/>
                  </a:lnTo>
                  <a:lnTo>
                    <a:pt x="111313" y="1075"/>
                  </a:lnTo>
                  <a:lnTo>
                    <a:pt x="128155" y="0"/>
                  </a:lnTo>
                  <a:lnTo>
                    <a:pt x="176863" y="9569"/>
                  </a:lnTo>
                  <a:lnTo>
                    <a:pt x="218384" y="37215"/>
                  </a:lnTo>
                  <a:lnTo>
                    <a:pt x="246242" y="78793"/>
                  </a:lnTo>
                  <a:lnTo>
                    <a:pt x="255955" y="127800"/>
                  </a:lnTo>
                  <a:lnTo>
                    <a:pt x="254876" y="144492"/>
                  </a:lnTo>
                  <a:lnTo>
                    <a:pt x="251639" y="160918"/>
                  </a:lnTo>
                  <a:lnTo>
                    <a:pt x="229394" y="205824"/>
                  </a:lnTo>
                  <a:lnTo>
                    <a:pt x="191884" y="238683"/>
                  </a:lnTo>
                  <a:lnTo>
                    <a:pt x="144798" y="254825"/>
                  </a:lnTo>
                  <a:lnTo>
                    <a:pt x="128155" y="255955"/>
                  </a:lnTo>
                  <a:lnTo>
                    <a:pt x="79104" y="246086"/>
                  </a:lnTo>
                  <a:lnTo>
                    <a:pt x="37574" y="218384"/>
                  </a:lnTo>
                  <a:lnTo>
                    <a:pt x="9724" y="176806"/>
                  </a:lnTo>
                  <a:lnTo>
                    <a:pt x="1080" y="144492"/>
                  </a:lnTo>
                  <a:lnTo>
                    <a:pt x="0" y="127800"/>
                  </a:lnTo>
                  <a:close/>
                </a:path>
              </a:pathLst>
            </a:custGeom>
            <a:ln w="12599">
              <a:solidFill>
                <a:srgbClr val="0D94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826418" y="1867943"/>
            <a:ext cx="11430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0" dirty="0">
                <a:solidFill>
                  <a:srgbClr val="FFFFFF"/>
                </a:solidFill>
                <a:latin typeface="Meiryo UI"/>
                <a:cs typeface="Meiryo UI"/>
              </a:rPr>
              <a:t>2</a:t>
            </a:r>
            <a:endParaRPr sz="1000">
              <a:latin typeface="Meiryo UI"/>
              <a:cs typeface="Meiryo U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748579" y="2352777"/>
            <a:ext cx="268605" cy="268605"/>
            <a:chOff x="4748579" y="2352777"/>
            <a:chExt cx="268605" cy="268605"/>
          </a:xfrm>
        </p:grpSpPr>
        <p:sp>
          <p:nvSpPr>
            <p:cNvPr id="13" name="object 13"/>
            <p:cNvSpPr/>
            <p:nvPr/>
          </p:nvSpPr>
          <p:spPr>
            <a:xfrm>
              <a:off x="4754879" y="2359077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39" h="256539">
                  <a:moveTo>
                    <a:pt x="128155" y="0"/>
                  </a:moveTo>
                  <a:lnTo>
                    <a:pt x="79104" y="9574"/>
                  </a:lnTo>
                  <a:lnTo>
                    <a:pt x="37574" y="37218"/>
                  </a:lnTo>
                  <a:lnTo>
                    <a:pt x="9724" y="78799"/>
                  </a:lnTo>
                  <a:lnTo>
                    <a:pt x="0" y="127800"/>
                  </a:lnTo>
                  <a:lnTo>
                    <a:pt x="1080" y="144498"/>
                  </a:lnTo>
                  <a:lnTo>
                    <a:pt x="17284" y="191884"/>
                  </a:lnTo>
                  <a:lnTo>
                    <a:pt x="50137" y="229396"/>
                  </a:lnTo>
                  <a:lnTo>
                    <a:pt x="94905" y="251512"/>
                  </a:lnTo>
                  <a:lnTo>
                    <a:pt x="128155" y="255968"/>
                  </a:lnTo>
                  <a:lnTo>
                    <a:pt x="144798" y="254837"/>
                  </a:lnTo>
                  <a:lnTo>
                    <a:pt x="191884" y="238683"/>
                  </a:lnTo>
                  <a:lnTo>
                    <a:pt x="229394" y="205829"/>
                  </a:lnTo>
                  <a:lnTo>
                    <a:pt x="251639" y="160923"/>
                  </a:lnTo>
                  <a:lnTo>
                    <a:pt x="255955" y="127800"/>
                  </a:lnTo>
                  <a:lnTo>
                    <a:pt x="254876" y="111107"/>
                  </a:lnTo>
                  <a:lnTo>
                    <a:pt x="238683" y="63728"/>
                  </a:lnTo>
                  <a:lnTo>
                    <a:pt x="205824" y="26211"/>
                  </a:lnTo>
                  <a:lnTo>
                    <a:pt x="161101" y="4278"/>
                  </a:lnTo>
                  <a:lnTo>
                    <a:pt x="128155" y="0"/>
                  </a:lnTo>
                  <a:close/>
                </a:path>
              </a:pathLst>
            </a:custGeom>
            <a:solidFill>
              <a:srgbClr val="0D94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754879" y="2359077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39" h="256539">
                  <a:moveTo>
                    <a:pt x="0" y="127800"/>
                  </a:moveTo>
                  <a:lnTo>
                    <a:pt x="1080" y="111107"/>
                  </a:lnTo>
                  <a:lnTo>
                    <a:pt x="4322" y="94683"/>
                  </a:lnTo>
                  <a:lnTo>
                    <a:pt x="26567" y="49781"/>
                  </a:lnTo>
                  <a:lnTo>
                    <a:pt x="64084" y="16929"/>
                  </a:lnTo>
                  <a:lnTo>
                    <a:pt x="111313" y="1075"/>
                  </a:lnTo>
                  <a:lnTo>
                    <a:pt x="128155" y="0"/>
                  </a:lnTo>
                  <a:lnTo>
                    <a:pt x="176863" y="9574"/>
                  </a:lnTo>
                  <a:lnTo>
                    <a:pt x="218384" y="37218"/>
                  </a:lnTo>
                  <a:lnTo>
                    <a:pt x="246242" y="78799"/>
                  </a:lnTo>
                  <a:lnTo>
                    <a:pt x="255955" y="127800"/>
                  </a:lnTo>
                  <a:lnTo>
                    <a:pt x="254876" y="144498"/>
                  </a:lnTo>
                  <a:lnTo>
                    <a:pt x="251639" y="160923"/>
                  </a:lnTo>
                  <a:lnTo>
                    <a:pt x="229394" y="205829"/>
                  </a:lnTo>
                  <a:lnTo>
                    <a:pt x="191884" y="238683"/>
                  </a:lnTo>
                  <a:lnTo>
                    <a:pt x="144798" y="254837"/>
                  </a:lnTo>
                  <a:lnTo>
                    <a:pt x="128155" y="255968"/>
                  </a:lnTo>
                  <a:lnTo>
                    <a:pt x="79104" y="246094"/>
                  </a:lnTo>
                  <a:lnTo>
                    <a:pt x="37574" y="218389"/>
                  </a:lnTo>
                  <a:lnTo>
                    <a:pt x="9724" y="176808"/>
                  </a:lnTo>
                  <a:lnTo>
                    <a:pt x="1080" y="144498"/>
                  </a:lnTo>
                  <a:lnTo>
                    <a:pt x="0" y="127800"/>
                  </a:lnTo>
                  <a:close/>
                </a:path>
              </a:pathLst>
            </a:custGeom>
            <a:ln w="12599">
              <a:solidFill>
                <a:srgbClr val="0D94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826418" y="2398231"/>
            <a:ext cx="11430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0" dirty="0">
                <a:solidFill>
                  <a:srgbClr val="FFFFFF"/>
                </a:solidFill>
                <a:latin typeface="Meiryo UI"/>
                <a:cs typeface="Meiryo UI"/>
              </a:rPr>
              <a:t>3</a:t>
            </a:r>
            <a:endParaRPr sz="1000">
              <a:latin typeface="Meiryo UI"/>
              <a:cs typeface="Meiryo U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748579" y="2883066"/>
            <a:ext cx="268605" cy="268605"/>
            <a:chOff x="4748579" y="2883066"/>
            <a:chExt cx="268605" cy="268605"/>
          </a:xfrm>
        </p:grpSpPr>
        <p:sp>
          <p:nvSpPr>
            <p:cNvPr id="17" name="object 17"/>
            <p:cNvSpPr/>
            <p:nvPr/>
          </p:nvSpPr>
          <p:spPr>
            <a:xfrm>
              <a:off x="4754879" y="2889366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39" h="256539">
                  <a:moveTo>
                    <a:pt x="128155" y="0"/>
                  </a:moveTo>
                  <a:lnTo>
                    <a:pt x="79104" y="9563"/>
                  </a:lnTo>
                  <a:lnTo>
                    <a:pt x="37574" y="37211"/>
                  </a:lnTo>
                  <a:lnTo>
                    <a:pt x="9724" y="78792"/>
                  </a:lnTo>
                  <a:lnTo>
                    <a:pt x="0" y="127800"/>
                  </a:lnTo>
                  <a:lnTo>
                    <a:pt x="1080" y="144492"/>
                  </a:lnTo>
                  <a:lnTo>
                    <a:pt x="17284" y="191871"/>
                  </a:lnTo>
                  <a:lnTo>
                    <a:pt x="50137" y="229388"/>
                  </a:lnTo>
                  <a:lnTo>
                    <a:pt x="94905" y="251499"/>
                  </a:lnTo>
                  <a:lnTo>
                    <a:pt x="128155" y="255955"/>
                  </a:lnTo>
                  <a:lnTo>
                    <a:pt x="144798" y="254824"/>
                  </a:lnTo>
                  <a:lnTo>
                    <a:pt x="191884" y="238671"/>
                  </a:lnTo>
                  <a:lnTo>
                    <a:pt x="229394" y="205818"/>
                  </a:lnTo>
                  <a:lnTo>
                    <a:pt x="251639" y="160916"/>
                  </a:lnTo>
                  <a:lnTo>
                    <a:pt x="255955" y="127800"/>
                  </a:lnTo>
                  <a:lnTo>
                    <a:pt x="254876" y="111102"/>
                  </a:lnTo>
                  <a:lnTo>
                    <a:pt x="238683" y="63715"/>
                  </a:lnTo>
                  <a:lnTo>
                    <a:pt x="205824" y="26204"/>
                  </a:lnTo>
                  <a:lnTo>
                    <a:pt x="161101" y="4271"/>
                  </a:lnTo>
                  <a:lnTo>
                    <a:pt x="128155" y="0"/>
                  </a:lnTo>
                  <a:close/>
                </a:path>
              </a:pathLst>
            </a:custGeom>
            <a:solidFill>
              <a:srgbClr val="0D94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754879" y="2889366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39" h="256539">
                  <a:moveTo>
                    <a:pt x="0" y="127800"/>
                  </a:moveTo>
                  <a:lnTo>
                    <a:pt x="1080" y="111102"/>
                  </a:lnTo>
                  <a:lnTo>
                    <a:pt x="4322" y="94676"/>
                  </a:lnTo>
                  <a:lnTo>
                    <a:pt x="26567" y="49770"/>
                  </a:lnTo>
                  <a:lnTo>
                    <a:pt x="64084" y="16916"/>
                  </a:lnTo>
                  <a:lnTo>
                    <a:pt x="111313" y="1073"/>
                  </a:lnTo>
                  <a:lnTo>
                    <a:pt x="128155" y="0"/>
                  </a:lnTo>
                  <a:lnTo>
                    <a:pt x="176863" y="9563"/>
                  </a:lnTo>
                  <a:lnTo>
                    <a:pt x="218384" y="37211"/>
                  </a:lnTo>
                  <a:lnTo>
                    <a:pt x="246242" y="78792"/>
                  </a:lnTo>
                  <a:lnTo>
                    <a:pt x="255955" y="127800"/>
                  </a:lnTo>
                  <a:lnTo>
                    <a:pt x="254876" y="144492"/>
                  </a:lnTo>
                  <a:lnTo>
                    <a:pt x="251639" y="160916"/>
                  </a:lnTo>
                  <a:lnTo>
                    <a:pt x="229394" y="205818"/>
                  </a:lnTo>
                  <a:lnTo>
                    <a:pt x="191884" y="238671"/>
                  </a:lnTo>
                  <a:lnTo>
                    <a:pt x="144798" y="254824"/>
                  </a:lnTo>
                  <a:lnTo>
                    <a:pt x="128155" y="255955"/>
                  </a:lnTo>
                  <a:lnTo>
                    <a:pt x="79104" y="246081"/>
                  </a:lnTo>
                  <a:lnTo>
                    <a:pt x="37574" y="218381"/>
                  </a:lnTo>
                  <a:lnTo>
                    <a:pt x="9724" y="176800"/>
                  </a:lnTo>
                  <a:lnTo>
                    <a:pt x="1080" y="144492"/>
                  </a:lnTo>
                  <a:lnTo>
                    <a:pt x="0" y="127800"/>
                  </a:lnTo>
                  <a:close/>
                </a:path>
              </a:pathLst>
            </a:custGeom>
            <a:ln w="12599">
              <a:solidFill>
                <a:srgbClr val="0D94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826418" y="2928507"/>
            <a:ext cx="11430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0" dirty="0">
                <a:solidFill>
                  <a:srgbClr val="FFFFFF"/>
                </a:solidFill>
                <a:latin typeface="Meiryo UI"/>
                <a:cs typeface="Meiryo UI"/>
              </a:rPr>
              <a:t>4</a:t>
            </a:r>
            <a:endParaRPr sz="1000">
              <a:latin typeface="Meiryo UI"/>
              <a:cs typeface="Meiryo U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748579" y="3413697"/>
            <a:ext cx="268605" cy="268605"/>
            <a:chOff x="4748579" y="3413697"/>
            <a:chExt cx="268605" cy="268605"/>
          </a:xfrm>
        </p:grpSpPr>
        <p:sp>
          <p:nvSpPr>
            <p:cNvPr id="21" name="object 21"/>
            <p:cNvSpPr/>
            <p:nvPr/>
          </p:nvSpPr>
          <p:spPr>
            <a:xfrm>
              <a:off x="4754879" y="3419997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39" h="256539">
                  <a:moveTo>
                    <a:pt x="128155" y="0"/>
                  </a:moveTo>
                  <a:lnTo>
                    <a:pt x="79104" y="9574"/>
                  </a:lnTo>
                  <a:lnTo>
                    <a:pt x="37574" y="37218"/>
                  </a:lnTo>
                  <a:lnTo>
                    <a:pt x="9724" y="78799"/>
                  </a:lnTo>
                  <a:lnTo>
                    <a:pt x="0" y="127800"/>
                  </a:lnTo>
                  <a:lnTo>
                    <a:pt x="1080" y="144498"/>
                  </a:lnTo>
                  <a:lnTo>
                    <a:pt x="17284" y="191884"/>
                  </a:lnTo>
                  <a:lnTo>
                    <a:pt x="50137" y="229396"/>
                  </a:lnTo>
                  <a:lnTo>
                    <a:pt x="94905" y="251512"/>
                  </a:lnTo>
                  <a:lnTo>
                    <a:pt x="128155" y="255968"/>
                  </a:lnTo>
                  <a:lnTo>
                    <a:pt x="144798" y="254837"/>
                  </a:lnTo>
                  <a:lnTo>
                    <a:pt x="191884" y="238683"/>
                  </a:lnTo>
                  <a:lnTo>
                    <a:pt x="229394" y="205829"/>
                  </a:lnTo>
                  <a:lnTo>
                    <a:pt x="251639" y="160923"/>
                  </a:lnTo>
                  <a:lnTo>
                    <a:pt x="255955" y="127800"/>
                  </a:lnTo>
                  <a:lnTo>
                    <a:pt x="254876" y="111107"/>
                  </a:lnTo>
                  <a:lnTo>
                    <a:pt x="238683" y="63728"/>
                  </a:lnTo>
                  <a:lnTo>
                    <a:pt x="205824" y="26211"/>
                  </a:lnTo>
                  <a:lnTo>
                    <a:pt x="161101" y="4278"/>
                  </a:lnTo>
                  <a:lnTo>
                    <a:pt x="128155" y="0"/>
                  </a:lnTo>
                  <a:close/>
                </a:path>
              </a:pathLst>
            </a:custGeom>
            <a:solidFill>
              <a:srgbClr val="0D94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754879" y="3419997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39" h="256539">
                  <a:moveTo>
                    <a:pt x="0" y="127800"/>
                  </a:moveTo>
                  <a:lnTo>
                    <a:pt x="1080" y="111107"/>
                  </a:lnTo>
                  <a:lnTo>
                    <a:pt x="4322" y="94683"/>
                  </a:lnTo>
                  <a:lnTo>
                    <a:pt x="26567" y="49781"/>
                  </a:lnTo>
                  <a:lnTo>
                    <a:pt x="64084" y="16929"/>
                  </a:lnTo>
                  <a:lnTo>
                    <a:pt x="111313" y="1075"/>
                  </a:lnTo>
                  <a:lnTo>
                    <a:pt x="128155" y="0"/>
                  </a:lnTo>
                  <a:lnTo>
                    <a:pt x="176863" y="9574"/>
                  </a:lnTo>
                  <a:lnTo>
                    <a:pt x="218384" y="37218"/>
                  </a:lnTo>
                  <a:lnTo>
                    <a:pt x="246242" y="78799"/>
                  </a:lnTo>
                  <a:lnTo>
                    <a:pt x="255955" y="127800"/>
                  </a:lnTo>
                  <a:lnTo>
                    <a:pt x="254876" y="144498"/>
                  </a:lnTo>
                  <a:lnTo>
                    <a:pt x="251639" y="160923"/>
                  </a:lnTo>
                  <a:lnTo>
                    <a:pt x="229394" y="205829"/>
                  </a:lnTo>
                  <a:lnTo>
                    <a:pt x="191884" y="238683"/>
                  </a:lnTo>
                  <a:lnTo>
                    <a:pt x="144798" y="254837"/>
                  </a:lnTo>
                  <a:lnTo>
                    <a:pt x="128155" y="255968"/>
                  </a:lnTo>
                  <a:lnTo>
                    <a:pt x="79104" y="246094"/>
                  </a:lnTo>
                  <a:lnTo>
                    <a:pt x="37574" y="218389"/>
                  </a:lnTo>
                  <a:lnTo>
                    <a:pt x="9724" y="176808"/>
                  </a:lnTo>
                  <a:lnTo>
                    <a:pt x="1080" y="144498"/>
                  </a:lnTo>
                  <a:lnTo>
                    <a:pt x="0" y="127800"/>
                  </a:lnTo>
                  <a:close/>
                </a:path>
              </a:pathLst>
            </a:custGeom>
            <a:ln w="12599">
              <a:solidFill>
                <a:srgbClr val="0D94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826418" y="3459151"/>
            <a:ext cx="11430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0" dirty="0">
                <a:solidFill>
                  <a:srgbClr val="FFFFFF"/>
                </a:solidFill>
                <a:latin typeface="Meiryo UI"/>
                <a:cs typeface="Meiryo UI"/>
              </a:rPr>
              <a:t>5</a:t>
            </a:r>
            <a:endParaRPr sz="1000">
              <a:latin typeface="Meiryo UI"/>
              <a:cs typeface="Meiryo U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741824" y="789027"/>
            <a:ext cx="3434079" cy="2872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E162A"/>
                </a:solidFill>
                <a:latin typeface="Meiryo UI"/>
                <a:cs typeface="Meiryo UI"/>
              </a:rPr>
              <a:t>Project</a:t>
            </a:r>
            <a:r>
              <a:rPr sz="1600" b="1" spc="320" dirty="0">
                <a:solidFill>
                  <a:srgbClr val="0E162A"/>
                </a:solidFill>
                <a:latin typeface="Meiryo UI"/>
                <a:cs typeface="Meiryo UI"/>
              </a:rPr>
              <a:t> </a:t>
            </a:r>
            <a:r>
              <a:rPr sz="1600" b="1" spc="45" dirty="0">
                <a:solidFill>
                  <a:srgbClr val="0E162A"/>
                </a:solidFill>
                <a:latin typeface="Meiryo UI"/>
                <a:cs typeface="Meiryo UI"/>
              </a:rPr>
              <a:t>Goals</a:t>
            </a:r>
            <a:endParaRPr sz="1600" dirty="0">
              <a:latin typeface="Meiryo UI"/>
              <a:cs typeface="Meiryo UI"/>
            </a:endParaRPr>
          </a:p>
          <a:p>
            <a:pPr marL="341630" marR="396240">
              <a:lnSpc>
                <a:spcPts val="4180"/>
              </a:lnSpc>
              <a:spcBef>
                <a:spcPts val="210"/>
              </a:spcBef>
            </a:pPr>
            <a:r>
              <a:rPr sz="1200" spc="-10" dirty="0">
                <a:solidFill>
                  <a:srgbClr val="1D283A"/>
                </a:solidFill>
                <a:latin typeface="Calibri"/>
                <a:cs typeface="Calibri"/>
              </a:rPr>
              <a:t>Implement</a:t>
            </a:r>
            <a:r>
              <a:rPr sz="120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D283A"/>
                </a:solidFill>
                <a:latin typeface="Calibri"/>
                <a:cs typeface="Calibri"/>
              </a:rPr>
              <a:t>&amp;</a:t>
            </a:r>
            <a:r>
              <a:rPr sz="120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D283A"/>
                </a:solidFill>
                <a:latin typeface="Calibri"/>
                <a:cs typeface="Calibri"/>
              </a:rPr>
              <a:t>tune</a:t>
            </a:r>
            <a:r>
              <a:rPr sz="120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D283A"/>
                </a:solidFill>
                <a:latin typeface="Calibri"/>
                <a:cs typeface="Calibri"/>
              </a:rPr>
              <a:t>GLS</a:t>
            </a:r>
            <a:r>
              <a:rPr sz="120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D283A"/>
                </a:solidFill>
                <a:latin typeface="Calibri"/>
                <a:cs typeface="Calibri"/>
              </a:rPr>
              <a:t>for</a:t>
            </a:r>
            <a:r>
              <a:rPr sz="120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D283A"/>
                </a:solidFill>
                <a:latin typeface="Calibri"/>
                <a:cs typeface="Calibri"/>
              </a:rPr>
              <a:t>intra-</a:t>
            </a:r>
            <a:r>
              <a:rPr sz="1200" dirty="0">
                <a:solidFill>
                  <a:srgbClr val="1D283A"/>
                </a:solidFill>
                <a:latin typeface="Calibri"/>
                <a:cs typeface="Calibri"/>
              </a:rPr>
              <a:t>cluster</a:t>
            </a:r>
            <a:r>
              <a:rPr sz="120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1D283A"/>
                </a:solidFill>
                <a:latin typeface="Calibri"/>
                <a:cs typeface="Calibri"/>
              </a:rPr>
              <a:t>TSP </a:t>
            </a:r>
            <a:r>
              <a:rPr sz="1200" spc="-10" dirty="0">
                <a:solidFill>
                  <a:srgbClr val="1D283A"/>
                </a:solidFill>
                <a:latin typeface="Calibri"/>
                <a:cs typeface="Calibri"/>
              </a:rPr>
              <a:t>Implement</a:t>
            </a:r>
            <a:r>
              <a:rPr sz="120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D283A"/>
                </a:solidFill>
                <a:latin typeface="Calibri"/>
                <a:cs typeface="Calibri"/>
              </a:rPr>
              <a:t>&amp;</a:t>
            </a:r>
            <a:r>
              <a:rPr sz="120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D283A"/>
                </a:solidFill>
                <a:latin typeface="Calibri"/>
                <a:cs typeface="Calibri"/>
              </a:rPr>
              <a:t>tune</a:t>
            </a:r>
            <a:r>
              <a:rPr sz="120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D283A"/>
                </a:solidFill>
                <a:latin typeface="Calibri"/>
                <a:cs typeface="Calibri"/>
              </a:rPr>
              <a:t>ACO</a:t>
            </a:r>
            <a:r>
              <a:rPr sz="120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D283A"/>
                </a:solidFill>
                <a:latin typeface="Calibri"/>
                <a:cs typeface="Calibri"/>
              </a:rPr>
              <a:t>for</a:t>
            </a:r>
            <a:r>
              <a:rPr sz="120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D283A"/>
                </a:solidFill>
                <a:latin typeface="Calibri"/>
                <a:cs typeface="Calibri"/>
              </a:rPr>
              <a:t>intra-</a:t>
            </a:r>
            <a:r>
              <a:rPr sz="1200" dirty="0">
                <a:solidFill>
                  <a:srgbClr val="1D283A"/>
                </a:solidFill>
                <a:latin typeface="Calibri"/>
                <a:cs typeface="Calibri"/>
              </a:rPr>
              <a:t>cluster</a:t>
            </a:r>
            <a:r>
              <a:rPr sz="120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1D283A"/>
                </a:solidFill>
                <a:latin typeface="Calibri"/>
                <a:cs typeface="Calibri"/>
              </a:rPr>
              <a:t>TSP</a:t>
            </a:r>
            <a:endParaRPr sz="1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1200" dirty="0">
              <a:latin typeface="Calibri"/>
              <a:cs typeface="Calibri"/>
            </a:endParaRPr>
          </a:p>
          <a:p>
            <a:pPr marL="341630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1D283A"/>
                </a:solidFill>
                <a:latin typeface="Calibri"/>
                <a:cs typeface="Calibri"/>
              </a:rPr>
              <a:t>Design</a:t>
            </a:r>
            <a:r>
              <a:rPr sz="120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D283A"/>
                </a:solidFill>
                <a:latin typeface="Calibri"/>
                <a:cs typeface="Calibri"/>
              </a:rPr>
              <a:t>an</a:t>
            </a:r>
            <a:r>
              <a:rPr sz="1200" spc="-1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1D283A"/>
                </a:solidFill>
                <a:latin typeface="Calibri"/>
                <a:cs typeface="Calibri"/>
              </a:rPr>
              <a:t>inter-</a:t>
            </a:r>
            <a:r>
              <a:rPr sz="1200" dirty="0">
                <a:solidFill>
                  <a:srgbClr val="1D283A"/>
                </a:solidFill>
                <a:latin typeface="Calibri"/>
                <a:cs typeface="Calibri"/>
              </a:rPr>
              <a:t>cluster</a:t>
            </a:r>
            <a:r>
              <a:rPr sz="120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D283A"/>
                </a:solidFill>
                <a:latin typeface="Calibri"/>
                <a:cs typeface="Calibri"/>
              </a:rPr>
              <a:t>stitching</a:t>
            </a:r>
            <a:r>
              <a:rPr sz="120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D283A"/>
                </a:solidFill>
                <a:latin typeface="Calibri"/>
                <a:cs typeface="Calibri"/>
              </a:rPr>
              <a:t>strategy</a:t>
            </a:r>
            <a:endParaRPr sz="1200" dirty="0">
              <a:latin typeface="Calibri"/>
              <a:cs typeface="Calibri"/>
            </a:endParaRPr>
          </a:p>
          <a:p>
            <a:pPr marL="341630" marR="5080">
              <a:lnSpc>
                <a:spcPct val="290000"/>
              </a:lnSpc>
            </a:pPr>
            <a:r>
              <a:rPr sz="1200" dirty="0">
                <a:solidFill>
                  <a:srgbClr val="1D283A"/>
                </a:solidFill>
                <a:latin typeface="Calibri"/>
                <a:cs typeface="Calibri"/>
              </a:rPr>
              <a:t>Compare</a:t>
            </a:r>
            <a:r>
              <a:rPr sz="1200" spc="-4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D283A"/>
                </a:solidFill>
                <a:latin typeface="Calibri"/>
                <a:cs typeface="Calibri"/>
              </a:rPr>
              <a:t>GLS</a:t>
            </a:r>
            <a:r>
              <a:rPr sz="1200" spc="-4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D283A"/>
                </a:solidFill>
                <a:latin typeface="Calibri"/>
                <a:cs typeface="Calibri"/>
              </a:rPr>
              <a:t>vs</a:t>
            </a:r>
            <a:r>
              <a:rPr sz="1200" spc="-4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D283A"/>
                </a:solidFill>
                <a:latin typeface="Calibri"/>
                <a:cs typeface="Calibri"/>
              </a:rPr>
              <a:t>ACO:</a:t>
            </a:r>
            <a:r>
              <a:rPr sz="1200" spc="-4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D283A"/>
                </a:solidFill>
                <a:latin typeface="Calibri"/>
                <a:cs typeface="Calibri"/>
              </a:rPr>
              <a:t>quality,</a:t>
            </a:r>
            <a:r>
              <a:rPr sz="1200" spc="-4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D283A"/>
                </a:solidFill>
                <a:latin typeface="Calibri"/>
                <a:cs typeface="Calibri"/>
              </a:rPr>
              <a:t>speed,</a:t>
            </a:r>
            <a:r>
              <a:rPr sz="1200" spc="-4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D283A"/>
                </a:solidFill>
                <a:latin typeface="Calibri"/>
                <a:cs typeface="Calibri"/>
              </a:rPr>
              <a:t>scalability Minimize</a:t>
            </a:r>
            <a:r>
              <a:rPr sz="120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D283A"/>
                </a:solidFill>
                <a:latin typeface="Calibri"/>
                <a:cs typeface="Calibri"/>
              </a:rPr>
              <a:t>end-to-</a:t>
            </a:r>
            <a:r>
              <a:rPr sz="1200" dirty="0">
                <a:solidFill>
                  <a:srgbClr val="1D283A"/>
                </a:solidFill>
                <a:latin typeface="Calibri"/>
                <a:cs typeface="Calibri"/>
              </a:rPr>
              <a:t>end</a:t>
            </a:r>
            <a:r>
              <a:rPr sz="120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D283A"/>
                </a:solidFill>
                <a:latin typeface="Calibri"/>
                <a:cs typeface="Calibri"/>
              </a:rPr>
              <a:t>tour</a:t>
            </a:r>
            <a:r>
              <a:rPr sz="120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D283A"/>
                </a:solidFill>
                <a:latin typeface="Calibri"/>
                <a:cs typeface="Calibri"/>
              </a:rPr>
              <a:t>length</a:t>
            </a:r>
            <a:r>
              <a:rPr sz="120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D283A"/>
                </a:solidFill>
                <a:latin typeface="Calibri"/>
                <a:cs typeface="Calibri"/>
              </a:rPr>
              <a:t>on</a:t>
            </a:r>
            <a:r>
              <a:rPr sz="120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D283A"/>
                </a:solidFill>
                <a:latin typeface="Calibri"/>
                <a:cs typeface="Calibri"/>
              </a:rPr>
              <a:t>all</a:t>
            </a:r>
            <a:r>
              <a:rPr sz="120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D283A"/>
                </a:solidFill>
                <a:latin typeface="Calibri"/>
                <a:cs typeface="Calibri"/>
              </a:rPr>
              <a:t>115k</a:t>
            </a:r>
            <a:r>
              <a:rPr sz="120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D283A"/>
                </a:solidFill>
                <a:latin typeface="Calibri"/>
                <a:cs typeface="Calibri"/>
              </a:rPr>
              <a:t>cities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11124" y="3931922"/>
            <a:ext cx="1920239" cy="749935"/>
          </a:xfrm>
          <a:custGeom>
            <a:avLst/>
            <a:gdLst/>
            <a:ahLst/>
            <a:cxnLst/>
            <a:rect l="l" t="t" r="r" b="b"/>
            <a:pathLst>
              <a:path w="1920239" h="749935">
                <a:moveTo>
                  <a:pt x="1919871" y="0"/>
                </a:moveTo>
                <a:lnTo>
                  <a:pt x="0" y="0"/>
                </a:lnTo>
                <a:lnTo>
                  <a:pt x="0" y="749515"/>
                </a:lnTo>
                <a:lnTo>
                  <a:pt x="960119" y="749515"/>
                </a:lnTo>
                <a:lnTo>
                  <a:pt x="1919871" y="749515"/>
                </a:lnTo>
                <a:lnTo>
                  <a:pt x="1919871" y="0"/>
                </a:lnTo>
                <a:close/>
              </a:path>
            </a:pathLst>
          </a:custGeom>
          <a:solidFill>
            <a:srgbClr val="0E16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411124" y="3931922"/>
            <a:ext cx="1920239" cy="749935"/>
          </a:xfrm>
          <a:prstGeom prst="rect">
            <a:avLst/>
          </a:prstGeom>
          <a:ln w="25559">
            <a:solidFill>
              <a:srgbClr val="0D9487"/>
            </a:solidFill>
          </a:ln>
        </p:spPr>
        <p:txBody>
          <a:bodyPr vert="horz" wrap="square" lIns="0" tIns="10922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860"/>
              </a:spcBef>
            </a:pPr>
            <a:r>
              <a:rPr sz="3000" b="1" spc="40" dirty="0">
                <a:solidFill>
                  <a:srgbClr val="13B8A6"/>
                </a:solidFill>
                <a:latin typeface="Meiryo UI"/>
                <a:cs typeface="Meiryo UI"/>
              </a:rPr>
              <a:t>115,475</a:t>
            </a:r>
            <a:endParaRPr sz="3000">
              <a:latin typeface="Meiryo UI"/>
              <a:cs typeface="Meiryo U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218857" y="4602151"/>
            <a:ext cx="30543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94A3B8"/>
                </a:solidFill>
                <a:latin typeface="Calibri"/>
                <a:cs typeface="Calibri"/>
              </a:rPr>
              <a:t>Cities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559964" y="3931922"/>
            <a:ext cx="1920239" cy="749935"/>
          </a:xfrm>
          <a:custGeom>
            <a:avLst/>
            <a:gdLst/>
            <a:ahLst/>
            <a:cxnLst/>
            <a:rect l="l" t="t" r="r" b="b"/>
            <a:pathLst>
              <a:path w="1920239" h="749935">
                <a:moveTo>
                  <a:pt x="1919871" y="0"/>
                </a:moveTo>
                <a:lnTo>
                  <a:pt x="0" y="0"/>
                </a:lnTo>
                <a:lnTo>
                  <a:pt x="0" y="749515"/>
                </a:lnTo>
                <a:lnTo>
                  <a:pt x="960120" y="749515"/>
                </a:lnTo>
                <a:lnTo>
                  <a:pt x="1919871" y="749515"/>
                </a:lnTo>
                <a:lnTo>
                  <a:pt x="1919871" y="0"/>
                </a:lnTo>
                <a:close/>
              </a:path>
            </a:pathLst>
          </a:custGeom>
          <a:solidFill>
            <a:srgbClr val="0E16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2559964" y="3931922"/>
            <a:ext cx="1920239" cy="749935"/>
          </a:xfrm>
          <a:prstGeom prst="rect">
            <a:avLst/>
          </a:prstGeom>
          <a:ln w="25559">
            <a:solidFill>
              <a:srgbClr val="0D9487"/>
            </a:solidFill>
          </a:ln>
        </p:spPr>
        <p:txBody>
          <a:bodyPr vert="horz" wrap="square" lIns="0" tIns="109220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860"/>
              </a:spcBef>
            </a:pPr>
            <a:r>
              <a:rPr sz="3000" b="1" spc="-10" dirty="0">
                <a:solidFill>
                  <a:srgbClr val="13B8A6"/>
                </a:solidFill>
                <a:latin typeface="Meiryo UI"/>
                <a:cs typeface="Meiryo UI"/>
              </a:rPr>
              <a:t>1,000</a:t>
            </a:r>
            <a:endParaRPr sz="3000">
              <a:latin typeface="Meiryo UI"/>
              <a:cs typeface="Meiryo U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222980" y="4602151"/>
            <a:ext cx="59499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94A3B8"/>
                </a:solidFill>
                <a:latin typeface="Calibri"/>
                <a:cs typeface="Calibri"/>
              </a:rPr>
              <a:t>Clusters </a:t>
            </a:r>
            <a:r>
              <a:rPr sz="1000" spc="-25" dirty="0">
                <a:solidFill>
                  <a:srgbClr val="94A3B8"/>
                </a:solidFill>
                <a:latin typeface="Calibri"/>
                <a:cs typeface="Calibri"/>
              </a:rPr>
              <a:t>(k)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708804" y="3931922"/>
            <a:ext cx="1920239" cy="749935"/>
          </a:xfrm>
          <a:custGeom>
            <a:avLst/>
            <a:gdLst/>
            <a:ahLst/>
            <a:cxnLst/>
            <a:rect l="l" t="t" r="r" b="b"/>
            <a:pathLst>
              <a:path w="1920240" h="749935">
                <a:moveTo>
                  <a:pt x="1919871" y="0"/>
                </a:moveTo>
                <a:lnTo>
                  <a:pt x="0" y="0"/>
                </a:lnTo>
                <a:lnTo>
                  <a:pt x="0" y="749515"/>
                </a:lnTo>
                <a:lnTo>
                  <a:pt x="960120" y="749515"/>
                </a:lnTo>
                <a:lnTo>
                  <a:pt x="1919871" y="749515"/>
                </a:lnTo>
                <a:lnTo>
                  <a:pt x="1919871" y="0"/>
                </a:lnTo>
                <a:close/>
              </a:path>
            </a:pathLst>
          </a:custGeom>
          <a:solidFill>
            <a:srgbClr val="0E16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4708804" y="3931922"/>
            <a:ext cx="1920239" cy="749935"/>
          </a:xfrm>
          <a:prstGeom prst="rect">
            <a:avLst/>
          </a:prstGeom>
          <a:ln w="25559">
            <a:solidFill>
              <a:srgbClr val="0D9487"/>
            </a:solidFill>
          </a:ln>
        </p:spPr>
        <p:txBody>
          <a:bodyPr vert="horz" wrap="square" lIns="0" tIns="109220" rIns="0" bIns="0" rtlCol="0">
            <a:spAutoFit/>
          </a:bodyPr>
          <a:lstStyle/>
          <a:p>
            <a:pPr marL="402590">
              <a:lnSpc>
                <a:spcPct val="100000"/>
              </a:lnSpc>
              <a:spcBef>
                <a:spcPts val="860"/>
              </a:spcBef>
            </a:pPr>
            <a:r>
              <a:rPr sz="3000" b="1" spc="-20" dirty="0">
                <a:solidFill>
                  <a:srgbClr val="13B8A6"/>
                </a:solidFill>
                <a:latin typeface="Meiryo UI"/>
                <a:cs typeface="Meiryo UI"/>
              </a:rPr>
              <a:t>~115</a:t>
            </a:r>
            <a:endParaRPr sz="3000">
              <a:latin typeface="Meiryo UI"/>
              <a:cs typeface="Meiryo U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268137" y="4602151"/>
            <a:ext cx="80264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94A3B8"/>
                </a:solidFill>
                <a:latin typeface="Calibri"/>
                <a:cs typeface="Calibri"/>
              </a:rPr>
              <a:t>Avg</a:t>
            </a:r>
            <a:r>
              <a:rPr sz="1000" spc="-2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94A3B8"/>
                </a:solidFill>
                <a:latin typeface="Calibri"/>
                <a:cs typeface="Calibri"/>
              </a:rPr>
              <a:t>cluster</a:t>
            </a:r>
            <a:r>
              <a:rPr sz="1000" spc="-2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000" spc="-20" dirty="0">
                <a:solidFill>
                  <a:srgbClr val="94A3B8"/>
                </a:solidFill>
                <a:latin typeface="Calibri"/>
                <a:cs typeface="Calibri"/>
              </a:rPr>
              <a:t>size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857644" y="3931922"/>
            <a:ext cx="1920239" cy="749935"/>
          </a:xfrm>
          <a:custGeom>
            <a:avLst/>
            <a:gdLst/>
            <a:ahLst/>
            <a:cxnLst/>
            <a:rect l="l" t="t" r="r" b="b"/>
            <a:pathLst>
              <a:path w="1920240" h="749935">
                <a:moveTo>
                  <a:pt x="1919871" y="0"/>
                </a:moveTo>
                <a:lnTo>
                  <a:pt x="0" y="0"/>
                </a:lnTo>
                <a:lnTo>
                  <a:pt x="0" y="749515"/>
                </a:lnTo>
                <a:lnTo>
                  <a:pt x="960120" y="749515"/>
                </a:lnTo>
                <a:lnTo>
                  <a:pt x="1919871" y="749515"/>
                </a:lnTo>
                <a:lnTo>
                  <a:pt x="1919871" y="0"/>
                </a:lnTo>
                <a:close/>
              </a:path>
            </a:pathLst>
          </a:custGeom>
          <a:solidFill>
            <a:srgbClr val="0E16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6857644" y="3931922"/>
            <a:ext cx="1920239" cy="749935"/>
          </a:xfrm>
          <a:prstGeom prst="rect">
            <a:avLst/>
          </a:prstGeom>
          <a:ln w="25559">
            <a:solidFill>
              <a:srgbClr val="0D9487"/>
            </a:solidFill>
          </a:ln>
        </p:spPr>
        <p:txBody>
          <a:bodyPr vert="horz" wrap="square" lIns="0" tIns="109220" rIns="0" bIns="0" rtlCol="0">
            <a:spAutoFit/>
          </a:bodyPr>
          <a:lstStyle/>
          <a:p>
            <a:pPr marL="167640">
              <a:lnSpc>
                <a:spcPct val="100000"/>
              </a:lnSpc>
              <a:spcBef>
                <a:spcPts val="860"/>
              </a:spcBef>
            </a:pPr>
            <a:r>
              <a:rPr sz="3000" b="1" spc="70" dirty="0">
                <a:solidFill>
                  <a:srgbClr val="13B8A6"/>
                </a:solidFill>
                <a:latin typeface="Meiryo UI"/>
                <a:cs typeface="Meiryo UI"/>
              </a:rPr>
              <a:t>213.9M</a:t>
            </a:r>
            <a:endParaRPr sz="3000">
              <a:latin typeface="Meiryo UI"/>
              <a:cs typeface="Meiryo U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317981" y="4602151"/>
            <a:ext cx="100076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94A3B8"/>
                </a:solidFill>
                <a:latin typeface="Calibri"/>
                <a:cs typeface="Calibri"/>
              </a:rPr>
              <a:t>Default</a:t>
            </a:r>
            <a:r>
              <a:rPr sz="1000" spc="-1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4A3B8"/>
                </a:solidFill>
                <a:latin typeface="Calibri"/>
                <a:cs typeface="Calibri"/>
              </a:rPr>
              <a:t>tour</a:t>
            </a:r>
            <a:r>
              <a:rPr sz="1000" spc="-10" dirty="0">
                <a:solidFill>
                  <a:srgbClr val="94A3B8"/>
                </a:solidFill>
                <a:latin typeface="Calibri"/>
                <a:cs typeface="Calibri"/>
              </a:rPr>
              <a:t> length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Two-</a:t>
            </a:r>
            <a:r>
              <a:rPr spc="100" dirty="0"/>
              <a:t>Level</a:t>
            </a:r>
            <a:r>
              <a:rPr spc="70" dirty="0"/>
              <a:t> </a:t>
            </a:r>
            <a:r>
              <a:rPr spc="90" dirty="0"/>
              <a:t>Optimization</a:t>
            </a:r>
            <a:r>
              <a:rPr spc="75" dirty="0"/>
              <a:t> </a:t>
            </a:r>
            <a:r>
              <a:rPr spc="100" dirty="0"/>
              <a:t>Pipeline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49605" y="1364896"/>
            <a:ext cx="1274445" cy="1018540"/>
            <a:chOff x="249605" y="1364896"/>
            <a:chExt cx="1274445" cy="1018540"/>
          </a:xfrm>
        </p:grpSpPr>
        <p:sp>
          <p:nvSpPr>
            <p:cNvPr id="4" name="object 4"/>
            <p:cNvSpPr/>
            <p:nvPr/>
          </p:nvSpPr>
          <p:spPr>
            <a:xfrm>
              <a:off x="255955" y="1371246"/>
              <a:ext cx="1261745" cy="1005840"/>
            </a:xfrm>
            <a:custGeom>
              <a:avLst/>
              <a:gdLst/>
              <a:ahLst/>
              <a:cxnLst/>
              <a:rect l="l" t="t" r="r" b="b"/>
              <a:pathLst>
                <a:path w="1261745" h="1005839">
                  <a:moveTo>
                    <a:pt x="1261440" y="0"/>
                  </a:moveTo>
                  <a:lnTo>
                    <a:pt x="0" y="0"/>
                  </a:lnTo>
                  <a:lnTo>
                    <a:pt x="0" y="1005471"/>
                  </a:lnTo>
                  <a:lnTo>
                    <a:pt x="630720" y="1005471"/>
                  </a:lnTo>
                  <a:lnTo>
                    <a:pt x="1261440" y="1005471"/>
                  </a:lnTo>
                  <a:lnTo>
                    <a:pt x="1261440" y="0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55955" y="1371246"/>
              <a:ext cx="1261745" cy="1005840"/>
            </a:xfrm>
            <a:custGeom>
              <a:avLst/>
              <a:gdLst/>
              <a:ahLst/>
              <a:cxnLst/>
              <a:rect l="l" t="t" r="r" b="b"/>
              <a:pathLst>
                <a:path w="1261745" h="1005839">
                  <a:moveTo>
                    <a:pt x="630720" y="1005471"/>
                  </a:moveTo>
                  <a:lnTo>
                    <a:pt x="0" y="1005471"/>
                  </a:lnTo>
                  <a:lnTo>
                    <a:pt x="0" y="0"/>
                  </a:lnTo>
                  <a:lnTo>
                    <a:pt x="1261440" y="0"/>
                  </a:lnTo>
                  <a:lnTo>
                    <a:pt x="1261440" y="1005471"/>
                  </a:lnTo>
                  <a:lnTo>
                    <a:pt x="630720" y="1005471"/>
                  </a:lnTo>
                  <a:close/>
                </a:path>
              </a:pathLst>
            </a:custGeom>
            <a:ln w="12599">
              <a:solidFill>
                <a:srgbClr val="0E16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28040" y="1618820"/>
            <a:ext cx="929640" cy="1897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50" b="1" dirty="0">
                <a:solidFill>
                  <a:srgbClr val="FFFFFF"/>
                </a:solidFill>
                <a:latin typeface="Meiryo UI"/>
                <a:cs typeface="Meiryo UI"/>
              </a:rPr>
              <a:t>115k</a:t>
            </a:r>
            <a:r>
              <a:rPr sz="1150" b="1" spc="114" dirty="0">
                <a:solidFill>
                  <a:srgbClr val="FFFFFF"/>
                </a:solidFill>
                <a:latin typeface="Meiryo UI"/>
                <a:cs typeface="Meiryo UI"/>
              </a:rPr>
              <a:t> </a:t>
            </a:r>
            <a:r>
              <a:rPr sz="1150" b="1" spc="-10" dirty="0">
                <a:solidFill>
                  <a:srgbClr val="FFFFFF"/>
                </a:solidFill>
                <a:latin typeface="Meiryo UI"/>
                <a:cs typeface="Meiryo UI"/>
              </a:rPr>
              <a:t>Cities</a:t>
            </a:r>
            <a:endParaRPr sz="1150" dirty="0">
              <a:latin typeface="Meiryo UI"/>
              <a:cs typeface="Meiryo U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0318" y="2105179"/>
            <a:ext cx="446405" cy="1590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94A3B8"/>
                </a:solidFill>
                <a:latin typeface="Calibri"/>
                <a:cs typeface="Calibri"/>
              </a:rPr>
              <a:t>cities.csv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517764" y="1874522"/>
            <a:ext cx="201295" cy="635"/>
          </a:xfrm>
          <a:custGeom>
            <a:avLst/>
            <a:gdLst/>
            <a:ahLst/>
            <a:cxnLst/>
            <a:rect l="l" t="t" r="r" b="b"/>
            <a:pathLst>
              <a:path w="201294" h="635">
                <a:moveTo>
                  <a:pt x="0" y="0"/>
                </a:moveTo>
                <a:lnTo>
                  <a:pt x="201231" y="355"/>
                </a:lnTo>
              </a:path>
            </a:pathLst>
          </a:custGeom>
          <a:ln w="19079">
            <a:solidFill>
              <a:srgbClr val="4654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614855" y="1802424"/>
            <a:ext cx="113664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90" dirty="0">
                <a:solidFill>
                  <a:srgbClr val="465469"/>
                </a:solidFill>
                <a:latin typeface="Adobe Clean SemiCondensed"/>
                <a:cs typeface="Adobe Clean SemiCondensed"/>
              </a:rPr>
              <a:t>▶</a:t>
            </a:r>
            <a:endParaRPr sz="900">
              <a:latin typeface="Adobe Clean SemiCondensed"/>
              <a:cs typeface="Adobe Clean SemiCondensed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718995" y="1371246"/>
            <a:ext cx="1261745" cy="1005840"/>
          </a:xfrm>
          <a:custGeom>
            <a:avLst/>
            <a:gdLst/>
            <a:ahLst/>
            <a:cxnLst/>
            <a:rect l="l" t="t" r="r" b="b"/>
            <a:pathLst>
              <a:path w="1261745" h="1005839">
                <a:moveTo>
                  <a:pt x="1261440" y="0"/>
                </a:moveTo>
                <a:lnTo>
                  <a:pt x="0" y="0"/>
                </a:lnTo>
                <a:lnTo>
                  <a:pt x="0" y="1005471"/>
                </a:lnTo>
                <a:lnTo>
                  <a:pt x="630720" y="1005471"/>
                </a:lnTo>
                <a:lnTo>
                  <a:pt x="1261440" y="1005471"/>
                </a:lnTo>
                <a:lnTo>
                  <a:pt x="1261440" y="0"/>
                </a:lnTo>
                <a:close/>
              </a:path>
            </a:pathLst>
          </a:custGeom>
          <a:solidFill>
            <a:srgbClr val="0D94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718995" y="1371246"/>
            <a:ext cx="1261745" cy="912429"/>
          </a:xfrm>
          <a:prstGeom prst="rect">
            <a:avLst/>
          </a:prstGeom>
          <a:ln w="12599">
            <a:solidFill>
              <a:srgbClr val="0D9487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1150" dirty="0">
              <a:latin typeface="Times New Roman"/>
              <a:cs typeface="Times New Roman"/>
            </a:endParaRPr>
          </a:p>
          <a:p>
            <a:pPr marL="205740" marR="198755" algn="ctr">
              <a:lnSpc>
                <a:spcPct val="100000"/>
              </a:lnSpc>
              <a:spcBef>
                <a:spcPts val="5"/>
              </a:spcBef>
            </a:pPr>
            <a:r>
              <a:rPr sz="1150" b="1" spc="-75" dirty="0">
                <a:solidFill>
                  <a:srgbClr val="FFFFFF"/>
                </a:solidFill>
                <a:latin typeface="Meiryo UI"/>
                <a:cs typeface="Meiryo UI"/>
              </a:rPr>
              <a:t>K-</a:t>
            </a:r>
            <a:r>
              <a:rPr sz="1150" b="1" spc="40" dirty="0">
                <a:solidFill>
                  <a:srgbClr val="FFFFFF"/>
                </a:solidFill>
                <a:latin typeface="Meiryo UI"/>
                <a:cs typeface="Meiryo UI"/>
              </a:rPr>
              <a:t>Means </a:t>
            </a:r>
            <a:r>
              <a:rPr sz="1150" b="1" spc="-10" dirty="0">
                <a:solidFill>
                  <a:srgbClr val="FFFFFF"/>
                </a:solidFill>
                <a:latin typeface="Meiryo UI"/>
                <a:cs typeface="Meiryo UI"/>
              </a:rPr>
              <a:t>Clustering</a:t>
            </a:r>
            <a:endParaRPr sz="1150" dirty="0">
              <a:latin typeface="Meiryo UI"/>
              <a:cs typeface="Meiryo UI"/>
            </a:endParaRPr>
          </a:p>
          <a:p>
            <a:pPr algn="ctr">
              <a:lnSpc>
                <a:spcPct val="100000"/>
              </a:lnSpc>
              <a:spcBef>
                <a:spcPts val="1755"/>
              </a:spcBef>
            </a:pPr>
            <a:r>
              <a:rPr sz="950" dirty="0">
                <a:solidFill>
                  <a:srgbClr val="CCFBF0"/>
                </a:solidFill>
                <a:latin typeface="Calibri"/>
                <a:cs typeface="Calibri"/>
              </a:rPr>
              <a:t>k</a:t>
            </a:r>
            <a:r>
              <a:rPr sz="950" spc="-15" dirty="0">
                <a:solidFill>
                  <a:srgbClr val="CCFB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CCFBF0"/>
                </a:solidFill>
                <a:latin typeface="Calibri"/>
                <a:cs typeface="Calibri"/>
              </a:rPr>
              <a:t>=</a:t>
            </a:r>
            <a:r>
              <a:rPr sz="950" spc="-10" dirty="0">
                <a:solidFill>
                  <a:srgbClr val="CCFBF0"/>
                </a:solidFill>
                <a:latin typeface="Calibri"/>
                <a:cs typeface="Calibri"/>
              </a:rPr>
              <a:t> 1,000</a:t>
            </a:r>
            <a:endParaRPr sz="950" dirty="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980804" y="1874522"/>
            <a:ext cx="201295" cy="635"/>
          </a:xfrm>
          <a:custGeom>
            <a:avLst/>
            <a:gdLst/>
            <a:ahLst/>
            <a:cxnLst/>
            <a:rect l="l" t="t" r="r" b="b"/>
            <a:pathLst>
              <a:path w="201294" h="635">
                <a:moveTo>
                  <a:pt x="0" y="0"/>
                </a:moveTo>
                <a:lnTo>
                  <a:pt x="201231" y="355"/>
                </a:lnTo>
              </a:path>
            </a:pathLst>
          </a:custGeom>
          <a:ln w="19079">
            <a:solidFill>
              <a:srgbClr val="4654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077895" y="1802424"/>
            <a:ext cx="113664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90" dirty="0">
                <a:solidFill>
                  <a:srgbClr val="465469"/>
                </a:solidFill>
                <a:latin typeface="Adobe Clean SemiCondensed"/>
                <a:cs typeface="Adobe Clean SemiCondensed"/>
              </a:rPr>
              <a:t>▶</a:t>
            </a:r>
            <a:endParaRPr sz="900">
              <a:latin typeface="Adobe Clean SemiCondensed"/>
              <a:cs typeface="Adobe Clean SemiCondensed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182035" y="1371246"/>
            <a:ext cx="1261745" cy="1005840"/>
          </a:xfrm>
          <a:custGeom>
            <a:avLst/>
            <a:gdLst/>
            <a:ahLst/>
            <a:cxnLst/>
            <a:rect l="l" t="t" r="r" b="b"/>
            <a:pathLst>
              <a:path w="1261745" h="1005839">
                <a:moveTo>
                  <a:pt x="1261440" y="0"/>
                </a:moveTo>
                <a:lnTo>
                  <a:pt x="0" y="0"/>
                </a:lnTo>
                <a:lnTo>
                  <a:pt x="0" y="1005471"/>
                </a:lnTo>
                <a:lnTo>
                  <a:pt x="630720" y="1005471"/>
                </a:lnTo>
                <a:lnTo>
                  <a:pt x="1261440" y="1005471"/>
                </a:lnTo>
                <a:lnTo>
                  <a:pt x="1261440" y="0"/>
                </a:lnTo>
                <a:close/>
              </a:path>
            </a:pathLst>
          </a:custGeom>
          <a:solidFill>
            <a:srgbClr val="0D94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182035" y="1371246"/>
            <a:ext cx="1261745" cy="912429"/>
          </a:xfrm>
          <a:prstGeom prst="rect">
            <a:avLst/>
          </a:prstGeom>
          <a:ln w="12599">
            <a:solidFill>
              <a:srgbClr val="0D9487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11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150" b="1" dirty="0">
                <a:solidFill>
                  <a:srgbClr val="FFFFFF"/>
                </a:solidFill>
                <a:latin typeface="Meiryo UI"/>
                <a:cs typeface="Meiryo UI"/>
              </a:rPr>
              <a:t>GLS</a:t>
            </a:r>
            <a:r>
              <a:rPr sz="1150" b="1" spc="80" dirty="0">
                <a:solidFill>
                  <a:srgbClr val="FFFFFF"/>
                </a:solidFill>
                <a:latin typeface="Meiryo UI"/>
                <a:cs typeface="Meiryo UI"/>
              </a:rPr>
              <a:t> </a:t>
            </a:r>
            <a:r>
              <a:rPr sz="1150" b="1" spc="-270" dirty="0">
                <a:solidFill>
                  <a:srgbClr val="FFFFFF"/>
                </a:solidFill>
                <a:latin typeface="Meiryo UI"/>
                <a:cs typeface="Meiryo UI"/>
              </a:rPr>
              <a:t>/</a:t>
            </a:r>
            <a:r>
              <a:rPr sz="1150" b="1" spc="80" dirty="0">
                <a:solidFill>
                  <a:srgbClr val="FFFFFF"/>
                </a:solidFill>
                <a:latin typeface="Meiryo UI"/>
                <a:cs typeface="Meiryo UI"/>
              </a:rPr>
              <a:t> </a:t>
            </a:r>
            <a:r>
              <a:rPr sz="1150" b="1" spc="-25" dirty="0">
                <a:solidFill>
                  <a:srgbClr val="FFFFFF"/>
                </a:solidFill>
                <a:latin typeface="Meiryo UI"/>
                <a:cs typeface="Meiryo UI"/>
              </a:rPr>
              <a:t>ACO</a:t>
            </a:r>
            <a:endParaRPr sz="1150">
              <a:latin typeface="Meiryo UI"/>
              <a:cs typeface="Meiryo UI"/>
            </a:endParaRPr>
          </a:p>
          <a:p>
            <a:pPr algn="ctr">
              <a:lnSpc>
                <a:spcPct val="100000"/>
              </a:lnSpc>
            </a:pPr>
            <a:r>
              <a:rPr sz="1150" b="1" dirty="0">
                <a:solidFill>
                  <a:srgbClr val="FFFFFF"/>
                </a:solidFill>
                <a:latin typeface="Meiryo UI"/>
                <a:cs typeface="Meiryo UI"/>
              </a:rPr>
              <a:t>Per</a:t>
            </a:r>
            <a:r>
              <a:rPr sz="1150" b="1" spc="155" dirty="0">
                <a:solidFill>
                  <a:srgbClr val="FFFFFF"/>
                </a:solidFill>
                <a:latin typeface="Meiryo UI"/>
                <a:cs typeface="Meiryo UI"/>
              </a:rPr>
              <a:t> </a:t>
            </a:r>
            <a:r>
              <a:rPr sz="1150" b="1" spc="-10" dirty="0">
                <a:solidFill>
                  <a:srgbClr val="FFFFFF"/>
                </a:solidFill>
                <a:latin typeface="Meiryo UI"/>
                <a:cs typeface="Meiryo UI"/>
              </a:rPr>
              <a:t>Cluster</a:t>
            </a:r>
            <a:endParaRPr sz="1150">
              <a:latin typeface="Meiryo UI"/>
              <a:cs typeface="Meiryo UI"/>
            </a:endParaRPr>
          </a:p>
          <a:p>
            <a:pPr algn="ctr">
              <a:lnSpc>
                <a:spcPct val="100000"/>
              </a:lnSpc>
              <a:spcBef>
                <a:spcPts val="1755"/>
              </a:spcBef>
            </a:pPr>
            <a:r>
              <a:rPr sz="950" spc="-10" dirty="0">
                <a:solidFill>
                  <a:srgbClr val="CCFBF0"/>
                </a:solidFill>
                <a:latin typeface="Calibri"/>
                <a:cs typeface="Calibri"/>
              </a:rPr>
              <a:t>~115</a:t>
            </a:r>
            <a:r>
              <a:rPr sz="950" spc="-20" dirty="0">
                <a:solidFill>
                  <a:srgbClr val="CCFB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CCFBF0"/>
                </a:solidFill>
                <a:latin typeface="Calibri"/>
                <a:cs typeface="Calibri"/>
              </a:rPr>
              <a:t>cities</a:t>
            </a:r>
            <a:r>
              <a:rPr sz="950" spc="-20" dirty="0">
                <a:solidFill>
                  <a:srgbClr val="CCFBF0"/>
                </a:solidFill>
                <a:latin typeface="Calibri"/>
                <a:cs typeface="Calibri"/>
              </a:rPr>
              <a:t> each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443844" y="1874522"/>
            <a:ext cx="201295" cy="635"/>
          </a:xfrm>
          <a:custGeom>
            <a:avLst/>
            <a:gdLst/>
            <a:ahLst/>
            <a:cxnLst/>
            <a:rect l="l" t="t" r="r" b="b"/>
            <a:pathLst>
              <a:path w="201295" h="635">
                <a:moveTo>
                  <a:pt x="0" y="0"/>
                </a:moveTo>
                <a:lnTo>
                  <a:pt x="201231" y="355"/>
                </a:lnTo>
              </a:path>
            </a:pathLst>
          </a:custGeom>
          <a:ln w="19079">
            <a:solidFill>
              <a:srgbClr val="4654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540935" y="1802424"/>
            <a:ext cx="113664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90" dirty="0">
                <a:solidFill>
                  <a:srgbClr val="465469"/>
                </a:solidFill>
                <a:latin typeface="Adobe Clean SemiCondensed"/>
                <a:cs typeface="Adobe Clean SemiCondensed"/>
              </a:rPr>
              <a:t>▶</a:t>
            </a:r>
            <a:endParaRPr sz="900">
              <a:latin typeface="Adobe Clean SemiCondensed"/>
              <a:cs typeface="Adobe Clean SemiCondensed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645075" y="1371246"/>
            <a:ext cx="1261745" cy="1005840"/>
          </a:xfrm>
          <a:custGeom>
            <a:avLst/>
            <a:gdLst/>
            <a:ahLst/>
            <a:cxnLst/>
            <a:rect l="l" t="t" r="r" b="b"/>
            <a:pathLst>
              <a:path w="1261745" h="1005839">
                <a:moveTo>
                  <a:pt x="1261440" y="0"/>
                </a:moveTo>
                <a:lnTo>
                  <a:pt x="0" y="0"/>
                </a:lnTo>
                <a:lnTo>
                  <a:pt x="0" y="1005471"/>
                </a:lnTo>
                <a:lnTo>
                  <a:pt x="630720" y="1005471"/>
                </a:lnTo>
                <a:lnTo>
                  <a:pt x="1261440" y="1005471"/>
                </a:lnTo>
                <a:lnTo>
                  <a:pt x="1261440" y="0"/>
                </a:lnTo>
                <a:close/>
              </a:path>
            </a:pathLst>
          </a:custGeom>
          <a:solidFill>
            <a:srgbClr val="1D4D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645075" y="1371246"/>
            <a:ext cx="1261745" cy="912429"/>
          </a:xfrm>
          <a:prstGeom prst="rect">
            <a:avLst/>
          </a:prstGeom>
          <a:ln w="12599">
            <a:solidFill>
              <a:srgbClr val="1D4DD7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1150" dirty="0">
              <a:latin typeface="Times New Roman"/>
              <a:cs typeface="Times New Roman"/>
            </a:endParaRPr>
          </a:p>
          <a:p>
            <a:pPr marL="233045" marR="225425" indent="-635" algn="ctr">
              <a:lnSpc>
                <a:spcPct val="100000"/>
              </a:lnSpc>
              <a:spcBef>
                <a:spcPts val="5"/>
              </a:spcBef>
            </a:pPr>
            <a:r>
              <a:rPr sz="1150" b="1" dirty="0">
                <a:solidFill>
                  <a:srgbClr val="FFFFFF"/>
                </a:solidFill>
                <a:latin typeface="Meiryo UI"/>
                <a:cs typeface="Meiryo UI"/>
              </a:rPr>
              <a:t>SA</a:t>
            </a:r>
            <a:r>
              <a:rPr sz="1150" b="1" spc="90" dirty="0">
                <a:solidFill>
                  <a:srgbClr val="FFFFFF"/>
                </a:solidFill>
                <a:latin typeface="Meiryo UI"/>
                <a:cs typeface="Meiryo UI"/>
              </a:rPr>
              <a:t> </a:t>
            </a:r>
            <a:r>
              <a:rPr sz="1150" b="1" spc="-35" dirty="0">
                <a:solidFill>
                  <a:srgbClr val="FFFFFF"/>
                </a:solidFill>
                <a:latin typeface="Meiryo UI"/>
                <a:cs typeface="Meiryo UI"/>
              </a:rPr>
              <a:t>on </a:t>
            </a:r>
            <a:r>
              <a:rPr sz="1150" b="1" spc="-10" dirty="0">
                <a:solidFill>
                  <a:srgbClr val="FFFFFF"/>
                </a:solidFill>
                <a:latin typeface="Meiryo UI"/>
                <a:cs typeface="Meiryo UI"/>
              </a:rPr>
              <a:t>Centroids</a:t>
            </a:r>
            <a:endParaRPr sz="1150" dirty="0">
              <a:latin typeface="Meiryo UI"/>
              <a:cs typeface="Meiryo UI"/>
            </a:endParaRPr>
          </a:p>
          <a:p>
            <a:pPr algn="ctr">
              <a:lnSpc>
                <a:spcPct val="100000"/>
              </a:lnSpc>
              <a:spcBef>
                <a:spcPts val="1755"/>
              </a:spcBef>
            </a:pPr>
            <a:r>
              <a:rPr sz="950" dirty="0">
                <a:solidFill>
                  <a:srgbClr val="CCFBF0"/>
                </a:solidFill>
                <a:latin typeface="Calibri"/>
                <a:cs typeface="Calibri"/>
              </a:rPr>
              <a:t>cluster</a:t>
            </a:r>
            <a:r>
              <a:rPr sz="950" spc="-55" dirty="0">
                <a:solidFill>
                  <a:srgbClr val="CCFBF0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CCFBF0"/>
                </a:solidFill>
                <a:latin typeface="Calibri"/>
                <a:cs typeface="Calibri"/>
              </a:rPr>
              <a:t>ordering</a:t>
            </a:r>
            <a:endParaRPr sz="950" dirty="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906884" y="1874522"/>
            <a:ext cx="201295" cy="635"/>
          </a:xfrm>
          <a:custGeom>
            <a:avLst/>
            <a:gdLst/>
            <a:ahLst/>
            <a:cxnLst/>
            <a:rect l="l" t="t" r="r" b="b"/>
            <a:pathLst>
              <a:path w="201295" h="635">
                <a:moveTo>
                  <a:pt x="0" y="0"/>
                </a:moveTo>
                <a:lnTo>
                  <a:pt x="201231" y="355"/>
                </a:lnTo>
              </a:path>
            </a:pathLst>
          </a:custGeom>
          <a:ln w="19079">
            <a:solidFill>
              <a:srgbClr val="4654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003975" y="1802424"/>
            <a:ext cx="113664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90" dirty="0">
                <a:solidFill>
                  <a:srgbClr val="465469"/>
                </a:solidFill>
                <a:latin typeface="Adobe Clean SemiCondensed"/>
                <a:cs typeface="Adobe Clean SemiCondensed"/>
              </a:rPr>
              <a:t>▶</a:t>
            </a:r>
            <a:endParaRPr sz="900">
              <a:latin typeface="Adobe Clean SemiCondensed"/>
              <a:cs typeface="Adobe Clean SemiCondensed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108115" y="1371246"/>
            <a:ext cx="1261745" cy="1005840"/>
          </a:xfrm>
          <a:custGeom>
            <a:avLst/>
            <a:gdLst/>
            <a:ahLst/>
            <a:cxnLst/>
            <a:rect l="l" t="t" r="r" b="b"/>
            <a:pathLst>
              <a:path w="1261745" h="1005839">
                <a:moveTo>
                  <a:pt x="1261440" y="0"/>
                </a:moveTo>
                <a:lnTo>
                  <a:pt x="0" y="0"/>
                </a:lnTo>
                <a:lnTo>
                  <a:pt x="0" y="1005471"/>
                </a:lnTo>
                <a:lnTo>
                  <a:pt x="630720" y="1005471"/>
                </a:lnTo>
                <a:lnTo>
                  <a:pt x="1261440" y="1005471"/>
                </a:lnTo>
                <a:lnTo>
                  <a:pt x="1261440" y="0"/>
                </a:lnTo>
                <a:close/>
              </a:path>
            </a:pathLst>
          </a:custGeom>
          <a:solidFill>
            <a:srgbClr val="7B3A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6108115" y="1371246"/>
            <a:ext cx="1261745" cy="912429"/>
          </a:xfrm>
          <a:prstGeom prst="rect">
            <a:avLst/>
          </a:prstGeom>
          <a:ln w="12599">
            <a:solidFill>
              <a:srgbClr val="7B3AEC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1150" dirty="0">
              <a:latin typeface="Times New Roman"/>
              <a:cs typeface="Times New Roman"/>
            </a:endParaRPr>
          </a:p>
          <a:p>
            <a:pPr marL="335280" marR="327660" algn="ctr">
              <a:lnSpc>
                <a:spcPct val="100000"/>
              </a:lnSpc>
              <a:spcBef>
                <a:spcPts val="5"/>
              </a:spcBef>
            </a:pPr>
            <a:r>
              <a:rPr sz="1150" b="1" spc="40" dirty="0">
                <a:solidFill>
                  <a:srgbClr val="FFFFFF"/>
                </a:solidFill>
                <a:latin typeface="Meiryo UI"/>
                <a:cs typeface="Meiryo UI"/>
              </a:rPr>
              <a:t>Greedy </a:t>
            </a:r>
            <a:r>
              <a:rPr sz="1150" b="1" spc="-10" dirty="0">
                <a:solidFill>
                  <a:srgbClr val="FFFFFF"/>
                </a:solidFill>
                <a:latin typeface="Meiryo UI"/>
                <a:cs typeface="Meiryo UI"/>
              </a:rPr>
              <a:t>Stitch</a:t>
            </a:r>
            <a:endParaRPr sz="1150" dirty="0">
              <a:latin typeface="Meiryo UI"/>
              <a:cs typeface="Meiryo UI"/>
            </a:endParaRPr>
          </a:p>
          <a:p>
            <a:pPr algn="ctr">
              <a:lnSpc>
                <a:spcPct val="100000"/>
              </a:lnSpc>
              <a:spcBef>
                <a:spcPts val="1755"/>
              </a:spcBef>
            </a:pPr>
            <a:r>
              <a:rPr sz="950" dirty="0">
                <a:solidFill>
                  <a:srgbClr val="CCFBF0"/>
                </a:solidFill>
                <a:latin typeface="Calibri"/>
                <a:cs typeface="Calibri"/>
              </a:rPr>
              <a:t>boundary</a:t>
            </a:r>
            <a:r>
              <a:rPr sz="950" spc="-25" dirty="0">
                <a:solidFill>
                  <a:srgbClr val="CCFBF0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CCFBF0"/>
                </a:solidFill>
                <a:latin typeface="Calibri"/>
                <a:cs typeface="Calibri"/>
              </a:rPr>
              <a:t>cities</a:t>
            </a:r>
            <a:endParaRPr sz="950" dirty="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369924" y="1874522"/>
            <a:ext cx="201295" cy="635"/>
          </a:xfrm>
          <a:custGeom>
            <a:avLst/>
            <a:gdLst/>
            <a:ahLst/>
            <a:cxnLst/>
            <a:rect l="l" t="t" r="r" b="b"/>
            <a:pathLst>
              <a:path w="201295" h="635">
                <a:moveTo>
                  <a:pt x="0" y="0"/>
                </a:moveTo>
                <a:lnTo>
                  <a:pt x="201231" y="355"/>
                </a:lnTo>
              </a:path>
            </a:pathLst>
          </a:custGeom>
          <a:ln w="19079">
            <a:solidFill>
              <a:srgbClr val="4654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7467015" y="1802424"/>
            <a:ext cx="113664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90" dirty="0">
                <a:solidFill>
                  <a:srgbClr val="465469"/>
                </a:solidFill>
                <a:latin typeface="Adobe Clean SemiCondensed"/>
                <a:cs typeface="Adobe Clean SemiCondensed"/>
              </a:rPr>
              <a:t>▶</a:t>
            </a:r>
            <a:endParaRPr sz="900">
              <a:latin typeface="Adobe Clean SemiCondensed"/>
              <a:cs typeface="Adobe Clean SemiCondensed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571155" y="1371246"/>
            <a:ext cx="1261745" cy="1005840"/>
          </a:xfrm>
          <a:custGeom>
            <a:avLst/>
            <a:gdLst/>
            <a:ahLst/>
            <a:cxnLst/>
            <a:rect l="l" t="t" r="r" b="b"/>
            <a:pathLst>
              <a:path w="1261745" h="1005839">
                <a:moveTo>
                  <a:pt x="1261440" y="0"/>
                </a:moveTo>
                <a:lnTo>
                  <a:pt x="0" y="0"/>
                </a:lnTo>
                <a:lnTo>
                  <a:pt x="0" y="1005471"/>
                </a:lnTo>
                <a:lnTo>
                  <a:pt x="630720" y="1005471"/>
                </a:lnTo>
                <a:lnTo>
                  <a:pt x="1261440" y="1005471"/>
                </a:lnTo>
                <a:lnTo>
                  <a:pt x="1261440" y="0"/>
                </a:lnTo>
                <a:close/>
              </a:path>
            </a:pathLst>
          </a:custGeom>
          <a:solidFill>
            <a:srgbClr val="0FB9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571155" y="1371246"/>
            <a:ext cx="1261745" cy="912429"/>
          </a:xfrm>
          <a:prstGeom prst="rect">
            <a:avLst/>
          </a:prstGeom>
          <a:ln w="12599">
            <a:solidFill>
              <a:srgbClr val="0FB98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1150" dirty="0">
              <a:latin typeface="Times New Roman"/>
              <a:cs typeface="Times New Roman"/>
            </a:endParaRPr>
          </a:p>
          <a:p>
            <a:pPr marL="278130" marR="270510" algn="ctr">
              <a:lnSpc>
                <a:spcPct val="100000"/>
              </a:lnSpc>
              <a:spcBef>
                <a:spcPts val="5"/>
              </a:spcBef>
            </a:pPr>
            <a:r>
              <a:rPr lang="en-US" sz="1150" b="1" dirty="0">
                <a:solidFill>
                  <a:srgbClr val="FFFFFF"/>
                </a:solidFill>
                <a:latin typeface="Meiryo UI"/>
                <a:cs typeface="Meiryo UI"/>
              </a:rPr>
              <a:t>Full</a:t>
            </a:r>
            <a:r>
              <a:rPr lang="en-US" sz="1150" b="1" spc="140" dirty="0">
                <a:solidFill>
                  <a:srgbClr val="FFFFFF"/>
                </a:solidFill>
                <a:latin typeface="Meiryo UI"/>
                <a:cs typeface="Meiryo UI"/>
              </a:rPr>
              <a:t> </a:t>
            </a:r>
            <a:r>
              <a:rPr lang="en-US" sz="1150" b="1" spc="-20" dirty="0">
                <a:solidFill>
                  <a:srgbClr val="FFFFFF"/>
                </a:solidFill>
                <a:latin typeface="Meiryo UI"/>
                <a:cs typeface="Meiryo UI"/>
              </a:rPr>
              <a:t>Tour </a:t>
            </a:r>
            <a:r>
              <a:rPr lang="en-US" sz="1150" b="1" spc="-10" dirty="0">
                <a:solidFill>
                  <a:srgbClr val="FFFFFF"/>
                </a:solidFill>
                <a:latin typeface="Meiryo UI"/>
                <a:cs typeface="Meiryo UI"/>
              </a:rPr>
              <a:t>17.6M</a:t>
            </a:r>
            <a:endParaRPr sz="1150" dirty="0">
              <a:latin typeface="Meiryo UI"/>
              <a:cs typeface="Meiryo UI"/>
            </a:endParaRPr>
          </a:p>
          <a:p>
            <a:pPr algn="ctr">
              <a:lnSpc>
                <a:spcPct val="100000"/>
              </a:lnSpc>
              <a:spcBef>
                <a:spcPts val="1755"/>
              </a:spcBef>
            </a:pPr>
            <a:r>
              <a:rPr sz="950" dirty="0">
                <a:solidFill>
                  <a:srgbClr val="CCFBF0"/>
                </a:solidFill>
                <a:latin typeface="Calibri"/>
                <a:cs typeface="Calibri"/>
              </a:rPr>
              <a:t>91.8%</a:t>
            </a:r>
            <a:r>
              <a:rPr sz="950" spc="-35" dirty="0">
                <a:solidFill>
                  <a:srgbClr val="CCFB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CCFBF0"/>
                </a:solidFill>
                <a:latin typeface="Calibri"/>
                <a:cs typeface="Calibri"/>
              </a:rPr>
              <a:t>vs</a:t>
            </a:r>
            <a:r>
              <a:rPr sz="950" spc="-35" dirty="0">
                <a:solidFill>
                  <a:srgbClr val="CCFBF0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CCFBF0"/>
                </a:solidFill>
                <a:latin typeface="Calibri"/>
                <a:cs typeface="Calibri"/>
              </a:rPr>
              <a:t>default</a:t>
            </a:r>
            <a:endParaRPr sz="950" dirty="0">
              <a:latin typeface="Calibri"/>
              <a:cs typeface="Calibri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484555" y="4302303"/>
            <a:ext cx="8321040" cy="960119"/>
          </a:xfrm>
          <a:custGeom>
            <a:avLst/>
            <a:gdLst/>
            <a:ahLst/>
            <a:cxnLst/>
            <a:rect l="l" t="t" r="r" b="b"/>
            <a:pathLst>
              <a:path w="8321040" h="960120">
                <a:moveTo>
                  <a:pt x="8320671" y="0"/>
                </a:moveTo>
                <a:lnTo>
                  <a:pt x="0" y="0"/>
                </a:lnTo>
                <a:lnTo>
                  <a:pt x="0" y="959764"/>
                </a:lnTo>
                <a:lnTo>
                  <a:pt x="4160519" y="959764"/>
                </a:lnTo>
                <a:lnTo>
                  <a:pt x="8320671" y="959764"/>
                </a:lnTo>
                <a:lnTo>
                  <a:pt x="8320671" y="0"/>
                </a:lnTo>
                <a:close/>
              </a:path>
            </a:pathLst>
          </a:custGeom>
          <a:solidFill>
            <a:srgbClr val="0E16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553935" y="4282797"/>
            <a:ext cx="8321040" cy="879087"/>
          </a:xfrm>
          <a:prstGeom prst="rect">
            <a:avLst/>
          </a:prstGeom>
          <a:ln w="19079">
            <a:solidFill>
              <a:srgbClr val="0D9487"/>
            </a:solidFill>
          </a:ln>
        </p:spPr>
        <p:txBody>
          <a:bodyPr vert="horz" wrap="square" lIns="0" tIns="781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15"/>
              </a:spcBef>
            </a:pPr>
            <a:endParaRPr sz="1300" dirty="0">
              <a:latin typeface="Times New Roman"/>
              <a:cs typeface="Times New Roman"/>
            </a:endParaRPr>
          </a:p>
          <a:p>
            <a:pPr marL="182245"/>
            <a:r>
              <a:rPr sz="1300" b="1" dirty="0">
                <a:solidFill>
                  <a:srgbClr val="13B8A6"/>
                </a:solidFill>
                <a:latin typeface="Calibri"/>
                <a:cs typeface="Calibri"/>
              </a:rPr>
              <a:t>Why</a:t>
            </a:r>
            <a:r>
              <a:rPr sz="1300" b="1" spc="-35" dirty="0">
                <a:solidFill>
                  <a:srgbClr val="13B8A6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13B8A6"/>
                </a:solidFill>
                <a:latin typeface="Calibri"/>
                <a:cs typeface="Calibri"/>
              </a:rPr>
              <a:t>cluster</a:t>
            </a:r>
            <a:r>
              <a:rPr sz="1300" b="1" spc="-35" dirty="0">
                <a:solidFill>
                  <a:srgbClr val="13B8A6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13B8A6"/>
                </a:solidFill>
                <a:latin typeface="Calibri"/>
                <a:cs typeface="Calibri"/>
              </a:rPr>
              <a:t>first?</a:t>
            </a:r>
            <a:r>
              <a:rPr sz="1300" b="1" spc="-35" dirty="0">
                <a:solidFill>
                  <a:srgbClr val="13B8A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Running</a:t>
            </a:r>
            <a:r>
              <a:rPr sz="13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GLS</a:t>
            </a:r>
            <a:r>
              <a:rPr sz="13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13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ACO</a:t>
            </a:r>
            <a:r>
              <a:rPr sz="13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13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3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115k</a:t>
            </a:r>
            <a:r>
              <a:rPr sz="13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citie</a:t>
            </a:r>
            <a:r>
              <a:rPr lang="en-US" sz="1300" dirty="0">
                <a:solidFill>
                  <a:srgbClr val="FFFFFF"/>
                </a:solidFill>
                <a:latin typeface="Calibri"/>
                <a:cs typeface="Calibri"/>
              </a:rPr>
              <a:t>~115</a:t>
            </a:r>
            <a:r>
              <a:rPr lang="en-US" sz="13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300" dirty="0">
                <a:solidFill>
                  <a:srgbClr val="FFFFFF"/>
                </a:solidFill>
                <a:latin typeface="Calibri"/>
                <a:cs typeface="Calibri"/>
              </a:rPr>
              <a:t>cities</a:t>
            </a:r>
            <a:r>
              <a:rPr lang="en-US" sz="13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300" dirty="0">
                <a:solidFill>
                  <a:srgbClr val="FFFFFF"/>
                </a:solidFill>
                <a:latin typeface="Calibri"/>
                <a:cs typeface="Calibri"/>
              </a:rPr>
              <a:t>where</a:t>
            </a:r>
            <a:r>
              <a:rPr lang="en-US" sz="13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300" spc="-20" dirty="0">
                <a:solidFill>
                  <a:srgbClr val="FFFFFF"/>
                </a:solidFill>
                <a:latin typeface="Calibri"/>
                <a:cs typeface="Calibri"/>
              </a:rPr>
              <a:t>meta-</a:t>
            </a:r>
            <a:r>
              <a:rPr lang="en-US" sz="1300" spc="-10" dirty="0">
                <a:solidFill>
                  <a:srgbClr val="FFFFFF"/>
                </a:solidFill>
                <a:latin typeface="Calibri"/>
                <a:cs typeface="Calibri"/>
              </a:rPr>
              <a:t>heuristics</a:t>
            </a:r>
            <a:r>
              <a:rPr lang="en-US" sz="13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300" spc="-10" dirty="0">
                <a:solidFill>
                  <a:srgbClr val="FFFFFF"/>
                </a:solidFill>
                <a:latin typeface="Calibri"/>
                <a:cs typeface="Calibri"/>
              </a:rPr>
              <a:t>converge</a:t>
            </a:r>
            <a:r>
              <a:rPr lang="en-US" sz="13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300" dirty="0">
                <a:solidFill>
                  <a:srgbClr val="FFFFFF"/>
                </a:solidFill>
                <a:latin typeface="Calibri"/>
                <a:cs typeface="Calibri"/>
              </a:rPr>
              <a:t>quickly</a:t>
            </a:r>
            <a:r>
              <a:rPr lang="en-US" sz="13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3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lang="en-US" sz="13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3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lang="en-US" sz="13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300" dirty="0">
                <a:solidFill>
                  <a:srgbClr val="FFFFFF"/>
                </a:solidFill>
                <a:latin typeface="Calibri"/>
                <a:cs typeface="Calibri"/>
              </a:rPr>
              <a:t>high</a:t>
            </a:r>
            <a:r>
              <a:rPr lang="en-US" sz="13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300" dirty="0">
                <a:solidFill>
                  <a:srgbClr val="FFFFFF"/>
                </a:solidFill>
                <a:latin typeface="Calibri"/>
                <a:cs typeface="Calibri"/>
              </a:rPr>
              <a:t>quality</a:t>
            </a:r>
            <a:r>
              <a:rPr lang="en-US" sz="13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300" dirty="0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lang="en-US" sz="13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300" dirty="0">
                <a:solidFill>
                  <a:srgbClr val="FFFFFF"/>
                </a:solidFill>
                <a:latin typeface="Calibri"/>
                <a:cs typeface="Calibri"/>
              </a:rPr>
              <a:t>then</a:t>
            </a:r>
            <a:r>
              <a:rPr lang="en-US" sz="13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300" dirty="0">
                <a:solidFill>
                  <a:srgbClr val="FFFFFF"/>
                </a:solidFill>
                <a:latin typeface="Calibri"/>
                <a:cs typeface="Calibri"/>
              </a:rPr>
              <a:t>we</a:t>
            </a:r>
            <a:r>
              <a:rPr lang="en-US" sz="13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300" spc="-10" dirty="0">
                <a:solidFill>
                  <a:srgbClr val="FFFFFF"/>
                </a:solidFill>
                <a:latin typeface="Calibri"/>
                <a:cs typeface="Calibri"/>
              </a:rPr>
              <a:t>assemble</a:t>
            </a:r>
            <a:r>
              <a:rPr lang="en-US" sz="13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3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lang="en-US" sz="13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300" spc="-10" dirty="0">
                <a:solidFill>
                  <a:srgbClr val="FFFFFF"/>
                </a:solidFill>
                <a:latin typeface="Calibri"/>
                <a:cs typeface="Calibri"/>
              </a:rPr>
              <a:t>pieces.</a:t>
            </a:r>
            <a:endParaRPr lang="en-US" sz="1300" dirty="0">
              <a:latin typeface="Calibri"/>
              <a:cs typeface="Calibri"/>
            </a:endParaRPr>
          </a:p>
          <a:p>
            <a:pPr marL="182245">
              <a:lnSpc>
                <a:spcPct val="100000"/>
              </a:lnSpc>
            </a:pP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3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at</a:t>
            </a:r>
            <a:r>
              <a:rPr sz="13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once</a:t>
            </a:r>
            <a:r>
              <a:rPr sz="13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3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infeasible.</a:t>
            </a:r>
            <a:r>
              <a:rPr sz="13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Clustering</a:t>
            </a:r>
            <a:r>
              <a:rPr sz="13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reduces</a:t>
            </a:r>
            <a:r>
              <a:rPr sz="13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each</a:t>
            </a:r>
            <a:r>
              <a:rPr sz="13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Calibri"/>
                <a:cs typeface="Calibri"/>
              </a:rPr>
              <a:t>sub-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problem</a:t>
            </a:r>
            <a:r>
              <a:rPr sz="13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34" name="object 27">
            <a:extLst>
              <a:ext uri="{FF2B5EF4-FFF2-40B4-BE49-F238E27FC236}">
                <a16:creationId xmlns:a16="http://schemas.microsoft.com/office/drawing/2014/main" id="{4AB70049-C4E3-F343-479F-E456D3BC8804}"/>
              </a:ext>
            </a:extLst>
          </p:cNvPr>
          <p:cNvSpPr txBox="1"/>
          <p:nvPr/>
        </p:nvSpPr>
        <p:spPr>
          <a:xfrm>
            <a:off x="7078909" y="2600733"/>
            <a:ext cx="1261745" cy="912429"/>
          </a:xfrm>
          <a:prstGeom prst="rect">
            <a:avLst/>
          </a:prstGeom>
          <a:ln w="12599">
            <a:solidFill>
              <a:srgbClr val="0FB98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1150" dirty="0">
              <a:latin typeface="Times New Roman"/>
              <a:cs typeface="Times New Roman"/>
            </a:endParaRPr>
          </a:p>
          <a:p>
            <a:pPr marL="278130" marR="270510" algn="ctr">
              <a:lnSpc>
                <a:spcPct val="100000"/>
              </a:lnSpc>
              <a:spcBef>
                <a:spcPts val="5"/>
              </a:spcBef>
            </a:pPr>
            <a:r>
              <a:rPr lang="en-US" sz="1150" b="1" dirty="0">
                <a:solidFill>
                  <a:srgbClr val="FFFFFF"/>
                </a:solidFill>
                <a:latin typeface="Meiryo UI"/>
                <a:cs typeface="Meiryo UI"/>
              </a:rPr>
              <a:t>Full</a:t>
            </a:r>
            <a:r>
              <a:rPr lang="en-US" sz="1150" b="1" spc="140" dirty="0">
                <a:solidFill>
                  <a:srgbClr val="FFFFFF"/>
                </a:solidFill>
                <a:latin typeface="Meiryo UI"/>
                <a:cs typeface="Meiryo UI"/>
              </a:rPr>
              <a:t> </a:t>
            </a:r>
            <a:r>
              <a:rPr lang="en-US" sz="1150" b="1" spc="-20" dirty="0">
                <a:solidFill>
                  <a:srgbClr val="FFFFFF"/>
                </a:solidFill>
                <a:latin typeface="Meiryo UI"/>
                <a:cs typeface="Meiryo UI"/>
              </a:rPr>
              <a:t>Tour </a:t>
            </a:r>
            <a:r>
              <a:rPr lang="en-US" sz="1150" b="1" spc="-10" dirty="0">
                <a:solidFill>
                  <a:srgbClr val="FFFFFF"/>
                </a:solidFill>
                <a:latin typeface="Meiryo UI"/>
                <a:cs typeface="Meiryo UI"/>
              </a:rPr>
              <a:t>17.6M</a:t>
            </a:r>
            <a:endParaRPr sz="1150" dirty="0">
              <a:latin typeface="Meiryo UI"/>
              <a:cs typeface="Meiryo UI"/>
            </a:endParaRPr>
          </a:p>
          <a:p>
            <a:pPr algn="ctr">
              <a:lnSpc>
                <a:spcPct val="100000"/>
              </a:lnSpc>
              <a:spcBef>
                <a:spcPts val="1755"/>
              </a:spcBef>
            </a:pPr>
            <a:r>
              <a:rPr sz="950" dirty="0">
                <a:solidFill>
                  <a:srgbClr val="CCFBF0"/>
                </a:solidFill>
                <a:latin typeface="Calibri"/>
                <a:cs typeface="Calibri"/>
              </a:rPr>
              <a:t>91.8%</a:t>
            </a:r>
            <a:r>
              <a:rPr sz="950" spc="-35" dirty="0">
                <a:solidFill>
                  <a:srgbClr val="CCFBF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CCFBF0"/>
                </a:solidFill>
                <a:latin typeface="Calibri"/>
                <a:cs typeface="Calibri"/>
              </a:rPr>
              <a:t>vs</a:t>
            </a:r>
            <a:r>
              <a:rPr sz="950" spc="-35" dirty="0">
                <a:solidFill>
                  <a:srgbClr val="CCFBF0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CCFBF0"/>
                </a:solidFill>
                <a:latin typeface="Calibri"/>
                <a:cs typeface="Calibri"/>
              </a:rPr>
              <a:t>default</a:t>
            </a:r>
            <a:endParaRPr sz="950" dirty="0">
              <a:latin typeface="Calibri"/>
              <a:cs typeface="Calibri"/>
            </a:endParaRPr>
          </a:p>
        </p:txBody>
      </p:sp>
      <p:sp>
        <p:nvSpPr>
          <p:cNvPr id="35" name="object 26">
            <a:extLst>
              <a:ext uri="{FF2B5EF4-FFF2-40B4-BE49-F238E27FC236}">
                <a16:creationId xmlns:a16="http://schemas.microsoft.com/office/drawing/2014/main" id="{00D21F72-ACEC-80D7-5D8B-5FB5201B8067}"/>
              </a:ext>
            </a:extLst>
          </p:cNvPr>
          <p:cNvSpPr/>
          <p:nvPr/>
        </p:nvSpPr>
        <p:spPr>
          <a:xfrm>
            <a:off x="5493401" y="2868439"/>
            <a:ext cx="1261745" cy="1005840"/>
          </a:xfrm>
          <a:custGeom>
            <a:avLst/>
            <a:gdLst/>
            <a:ahLst/>
            <a:cxnLst/>
            <a:rect l="l" t="t" r="r" b="b"/>
            <a:pathLst>
              <a:path w="1261745" h="1005839">
                <a:moveTo>
                  <a:pt x="1261440" y="0"/>
                </a:moveTo>
                <a:lnTo>
                  <a:pt x="0" y="0"/>
                </a:lnTo>
                <a:lnTo>
                  <a:pt x="0" y="1005471"/>
                </a:lnTo>
                <a:lnTo>
                  <a:pt x="630720" y="1005471"/>
                </a:lnTo>
                <a:lnTo>
                  <a:pt x="1261440" y="1005471"/>
                </a:lnTo>
                <a:lnTo>
                  <a:pt x="1261440" y="0"/>
                </a:lnTo>
                <a:close/>
              </a:path>
            </a:pathLst>
          </a:custGeom>
          <a:solidFill>
            <a:srgbClr val="0FB980"/>
          </a:solidFill>
        </p:spPr>
        <p:txBody>
          <a:bodyPr wrap="square" lIns="0" tIns="0" rIns="0" bIns="0" rtlCol="0"/>
          <a:lstStyle/>
          <a:p>
            <a:pPr marL="278130" marR="270510" algn="ctr">
              <a:lnSpc>
                <a:spcPct val="100000"/>
              </a:lnSpc>
              <a:spcBef>
                <a:spcPts val="5"/>
              </a:spcBef>
            </a:pPr>
            <a:r>
              <a:rPr lang="en-US" sz="2800" b="1" dirty="0">
                <a:solidFill>
                  <a:srgbClr val="FFFFFF"/>
                </a:solidFill>
                <a:latin typeface="Meiryo UI"/>
                <a:cs typeface="Meiryo UI"/>
              </a:rPr>
              <a:t>Full</a:t>
            </a:r>
            <a:r>
              <a:rPr lang="en-US" sz="2800" b="1" spc="140" dirty="0">
                <a:solidFill>
                  <a:srgbClr val="FFFFFF"/>
                </a:solidFill>
                <a:latin typeface="Meiryo UI"/>
                <a:cs typeface="Meiryo UI"/>
              </a:rPr>
              <a:t> </a:t>
            </a:r>
            <a:r>
              <a:rPr lang="en-US" sz="2800" b="1" spc="-20" dirty="0">
                <a:solidFill>
                  <a:srgbClr val="FFFFFF"/>
                </a:solidFill>
                <a:latin typeface="Meiryo UI"/>
                <a:cs typeface="Meiryo UI"/>
              </a:rPr>
              <a:t>Tour </a:t>
            </a:r>
            <a:r>
              <a:rPr lang="en-US" sz="2800" b="1" spc="-10" dirty="0">
                <a:solidFill>
                  <a:srgbClr val="FFFFFF"/>
                </a:solidFill>
                <a:latin typeface="Meiryo UI"/>
                <a:cs typeface="Meiryo UI"/>
              </a:rPr>
              <a:t>17.6M</a:t>
            </a:r>
            <a:endParaRPr lang="en-US" sz="2800" dirty="0">
              <a:latin typeface="Meiryo UI"/>
              <a:cs typeface="Meiryo UI"/>
            </a:endParaRPr>
          </a:p>
          <a:p>
            <a:pPr algn="ctr">
              <a:lnSpc>
                <a:spcPct val="100000"/>
              </a:lnSpc>
              <a:spcBef>
                <a:spcPts val="1755"/>
              </a:spcBef>
            </a:pPr>
            <a:r>
              <a:rPr lang="en-US" sz="1800" dirty="0">
                <a:solidFill>
                  <a:srgbClr val="CCFBF0"/>
                </a:solidFill>
                <a:latin typeface="Calibri"/>
                <a:cs typeface="Calibri"/>
              </a:rPr>
              <a:t>91.8%</a:t>
            </a:r>
            <a:r>
              <a:rPr lang="en-US" sz="1800" spc="-35" dirty="0">
                <a:solidFill>
                  <a:srgbClr val="CCFBF0"/>
                </a:solidFill>
                <a:latin typeface="Calibri"/>
                <a:cs typeface="Calibri"/>
              </a:rPr>
              <a:t> </a:t>
            </a:r>
            <a:r>
              <a:rPr lang="en-US" sz="1800" dirty="0">
                <a:solidFill>
                  <a:srgbClr val="CCFBF0"/>
                </a:solidFill>
                <a:latin typeface="Calibri"/>
                <a:cs typeface="Calibri"/>
              </a:rPr>
              <a:t>vs</a:t>
            </a:r>
            <a:r>
              <a:rPr lang="en-US" sz="1800" spc="-35" dirty="0">
                <a:solidFill>
                  <a:srgbClr val="CCFBF0"/>
                </a:solidFill>
                <a:latin typeface="Calibri"/>
                <a:cs typeface="Calibri"/>
              </a:rPr>
              <a:t> </a:t>
            </a:r>
            <a:r>
              <a:rPr lang="en-US" sz="1800" spc="-10" dirty="0">
                <a:solidFill>
                  <a:srgbClr val="CCFBF0"/>
                </a:solidFill>
                <a:latin typeface="Calibri"/>
                <a:cs typeface="Calibri"/>
              </a:rPr>
              <a:t>default</a:t>
            </a:r>
            <a:endParaRPr lang="en-US" sz="1800" dirty="0">
              <a:latin typeface="Calibri"/>
              <a:cs typeface="Calibri"/>
            </a:endParaRPr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0" dirty="0"/>
              <a:t>Step</a:t>
            </a:r>
            <a:r>
              <a:rPr spc="55" dirty="0"/>
              <a:t> </a:t>
            </a:r>
            <a:r>
              <a:rPr dirty="0"/>
              <a:t>1:</a:t>
            </a:r>
            <a:r>
              <a:rPr spc="55" dirty="0"/>
              <a:t> </a:t>
            </a:r>
            <a:r>
              <a:rPr spc="-165" dirty="0"/>
              <a:t>K-</a:t>
            </a:r>
            <a:r>
              <a:rPr spc="130" dirty="0"/>
              <a:t>Means</a:t>
            </a:r>
            <a:r>
              <a:rPr spc="55" dirty="0"/>
              <a:t> </a:t>
            </a:r>
            <a:r>
              <a:rPr spc="90" dirty="0"/>
              <a:t>Clustering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8424" y="845187"/>
            <a:ext cx="13303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0E162A"/>
                </a:solidFill>
                <a:latin typeface="Meiryo UI"/>
                <a:cs typeface="Meiryo UI"/>
              </a:rPr>
              <a:t>How</a:t>
            </a:r>
            <a:r>
              <a:rPr sz="1400" b="1" spc="90" dirty="0">
                <a:solidFill>
                  <a:srgbClr val="0E162A"/>
                </a:solidFill>
                <a:latin typeface="Meiryo UI"/>
                <a:cs typeface="Meiryo UI"/>
              </a:rPr>
              <a:t> </a:t>
            </a:r>
            <a:r>
              <a:rPr sz="1400" b="1" spc="55" dirty="0">
                <a:solidFill>
                  <a:srgbClr val="0E162A"/>
                </a:solidFill>
                <a:latin typeface="Meiryo UI"/>
                <a:cs typeface="Meiryo UI"/>
              </a:rPr>
              <a:t>it</a:t>
            </a:r>
            <a:r>
              <a:rPr sz="1400" b="1" spc="85" dirty="0">
                <a:solidFill>
                  <a:srgbClr val="0E162A"/>
                </a:solidFill>
                <a:latin typeface="Meiryo UI"/>
                <a:cs typeface="Meiryo UI"/>
              </a:rPr>
              <a:t> </a:t>
            </a:r>
            <a:r>
              <a:rPr sz="1400" b="1" spc="-20" dirty="0">
                <a:solidFill>
                  <a:srgbClr val="0E162A"/>
                </a:solidFill>
                <a:latin typeface="Meiryo UI"/>
                <a:cs typeface="Meiryo UI"/>
              </a:rPr>
              <a:t>works</a:t>
            </a:r>
            <a:endParaRPr sz="1400">
              <a:latin typeface="Meiryo UI"/>
              <a:cs typeface="Meiryo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8424" y="1437743"/>
            <a:ext cx="3857625" cy="621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0" indent="-158750">
              <a:lnSpc>
                <a:spcPct val="100000"/>
              </a:lnSpc>
              <a:spcBef>
                <a:spcPts val="100"/>
              </a:spcBef>
              <a:buAutoNum type="arabicPlain"/>
              <a:tabLst>
                <a:tab pos="171450" algn="l"/>
              </a:tabLst>
            </a:pPr>
            <a:r>
              <a:rPr sz="1300" b="1" spc="-10" dirty="0">
                <a:solidFill>
                  <a:srgbClr val="0D9487"/>
                </a:solidFill>
                <a:latin typeface="Calibri"/>
                <a:cs typeface="Calibri"/>
              </a:rPr>
              <a:t>Initialize</a:t>
            </a:r>
            <a:r>
              <a:rPr sz="1300" b="1" spc="-25" dirty="0">
                <a:solidFill>
                  <a:srgbClr val="0D9487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D283A"/>
                </a:solidFill>
                <a:latin typeface="Calibri"/>
                <a:cs typeface="Calibri"/>
              </a:rPr>
              <a:t>k</a:t>
            </a:r>
            <a:r>
              <a:rPr sz="130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1D283A"/>
                </a:solidFill>
                <a:latin typeface="Calibri"/>
                <a:cs typeface="Calibri"/>
              </a:rPr>
              <a:t>centroids</a:t>
            </a:r>
            <a:r>
              <a:rPr sz="130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D283A"/>
                </a:solidFill>
                <a:latin typeface="Calibri"/>
                <a:cs typeface="Calibri"/>
              </a:rPr>
              <a:t>from</a:t>
            </a:r>
            <a:r>
              <a:rPr sz="130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1D283A"/>
                </a:solidFill>
                <a:latin typeface="Calibri"/>
                <a:cs typeface="Calibri"/>
              </a:rPr>
              <a:t>random</a:t>
            </a:r>
            <a:r>
              <a:rPr sz="130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1D283A"/>
                </a:solidFill>
                <a:latin typeface="Calibri"/>
                <a:cs typeface="Calibri"/>
              </a:rPr>
              <a:t>cities</a:t>
            </a:r>
            <a:endParaRPr sz="1300">
              <a:latin typeface="Calibri"/>
              <a:cs typeface="Calibri"/>
            </a:endParaRPr>
          </a:p>
          <a:p>
            <a:pPr marL="171450" indent="-158750">
              <a:lnSpc>
                <a:spcPct val="100000"/>
              </a:lnSpc>
              <a:buAutoNum type="arabicPlain"/>
              <a:tabLst>
                <a:tab pos="171450" algn="l"/>
              </a:tabLst>
            </a:pPr>
            <a:r>
              <a:rPr sz="1300" b="1" dirty="0">
                <a:solidFill>
                  <a:srgbClr val="0D9487"/>
                </a:solidFill>
                <a:latin typeface="Calibri"/>
                <a:cs typeface="Calibri"/>
              </a:rPr>
              <a:t>Assign</a:t>
            </a:r>
            <a:r>
              <a:rPr sz="1300" b="1" spc="-35" dirty="0">
                <a:solidFill>
                  <a:srgbClr val="0D9487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D283A"/>
                </a:solidFill>
                <a:latin typeface="Calibri"/>
                <a:cs typeface="Calibri"/>
              </a:rPr>
              <a:t>each</a:t>
            </a:r>
            <a:r>
              <a:rPr sz="130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D283A"/>
                </a:solidFill>
                <a:latin typeface="Calibri"/>
                <a:cs typeface="Calibri"/>
              </a:rPr>
              <a:t>city</a:t>
            </a:r>
            <a:r>
              <a:rPr sz="1300" spc="-3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D283A"/>
                </a:solidFill>
                <a:latin typeface="Calibri"/>
                <a:cs typeface="Calibri"/>
              </a:rPr>
              <a:t>to</a:t>
            </a:r>
            <a:r>
              <a:rPr sz="130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D283A"/>
                </a:solidFill>
                <a:latin typeface="Calibri"/>
                <a:cs typeface="Calibri"/>
              </a:rPr>
              <a:t>its</a:t>
            </a:r>
            <a:r>
              <a:rPr sz="1300" spc="-3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1D283A"/>
                </a:solidFill>
                <a:latin typeface="Calibri"/>
                <a:cs typeface="Calibri"/>
              </a:rPr>
              <a:t>nearest</a:t>
            </a:r>
            <a:r>
              <a:rPr sz="130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1D283A"/>
                </a:solidFill>
                <a:latin typeface="Calibri"/>
                <a:cs typeface="Calibri"/>
              </a:rPr>
              <a:t>centroid</a:t>
            </a:r>
            <a:endParaRPr sz="1300">
              <a:latin typeface="Calibri"/>
              <a:cs typeface="Calibri"/>
            </a:endParaRPr>
          </a:p>
          <a:p>
            <a:pPr marL="171450" indent="-158750">
              <a:lnSpc>
                <a:spcPct val="100000"/>
              </a:lnSpc>
              <a:spcBef>
                <a:spcPts val="5"/>
              </a:spcBef>
              <a:buAutoNum type="arabicPlain"/>
              <a:tabLst>
                <a:tab pos="171450" algn="l"/>
              </a:tabLst>
            </a:pPr>
            <a:r>
              <a:rPr sz="1300" b="1" spc="-10" dirty="0">
                <a:solidFill>
                  <a:srgbClr val="0D9487"/>
                </a:solidFill>
                <a:latin typeface="Calibri"/>
                <a:cs typeface="Calibri"/>
              </a:rPr>
              <a:t>Update</a:t>
            </a:r>
            <a:r>
              <a:rPr sz="1300" b="1" spc="-30" dirty="0">
                <a:solidFill>
                  <a:srgbClr val="0D9487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D283A"/>
                </a:solidFill>
                <a:latin typeface="Calibri"/>
                <a:cs typeface="Calibri"/>
              </a:rPr>
              <a:t>each</a:t>
            </a:r>
            <a:r>
              <a:rPr sz="130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1D283A"/>
                </a:solidFill>
                <a:latin typeface="Calibri"/>
                <a:cs typeface="Calibri"/>
              </a:rPr>
              <a:t>centroid</a:t>
            </a:r>
            <a:r>
              <a:rPr sz="130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D283A"/>
                </a:solidFill>
                <a:latin typeface="Calibri"/>
                <a:cs typeface="Calibri"/>
              </a:rPr>
              <a:t>to</a:t>
            </a:r>
            <a:r>
              <a:rPr sz="130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D283A"/>
                </a:solidFill>
                <a:latin typeface="Calibri"/>
                <a:cs typeface="Calibri"/>
              </a:rPr>
              <a:t>the</a:t>
            </a:r>
            <a:r>
              <a:rPr sz="130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D283A"/>
                </a:solidFill>
                <a:latin typeface="Calibri"/>
                <a:cs typeface="Calibri"/>
              </a:rPr>
              <a:t>mean</a:t>
            </a:r>
            <a:r>
              <a:rPr sz="130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D283A"/>
                </a:solidFill>
                <a:latin typeface="Calibri"/>
                <a:cs typeface="Calibri"/>
              </a:rPr>
              <a:t>of</a:t>
            </a:r>
            <a:r>
              <a:rPr sz="130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D283A"/>
                </a:solidFill>
                <a:latin typeface="Calibri"/>
                <a:cs typeface="Calibri"/>
              </a:rPr>
              <a:t>its</a:t>
            </a:r>
            <a:r>
              <a:rPr sz="130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1D283A"/>
                </a:solidFill>
                <a:latin typeface="Calibri"/>
                <a:cs typeface="Calibri"/>
              </a:rPr>
              <a:t>assigned</a:t>
            </a:r>
            <a:r>
              <a:rPr sz="130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1D283A"/>
                </a:solidFill>
                <a:latin typeface="Calibri"/>
                <a:cs typeface="Calibri"/>
              </a:rPr>
              <a:t>cities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8424" y="2141907"/>
            <a:ext cx="255587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0D9487"/>
                </a:solidFill>
                <a:latin typeface="Calibri"/>
                <a:cs typeface="Calibri"/>
              </a:rPr>
              <a:t>4</a:t>
            </a:r>
            <a:r>
              <a:rPr sz="1300" b="1" spc="254" dirty="0">
                <a:solidFill>
                  <a:srgbClr val="0D9487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D9487"/>
                </a:solidFill>
                <a:latin typeface="Calibri"/>
                <a:cs typeface="Calibri"/>
              </a:rPr>
              <a:t>Repeat</a:t>
            </a:r>
            <a:r>
              <a:rPr sz="1300" b="1" spc="-25" dirty="0">
                <a:solidFill>
                  <a:srgbClr val="0D9487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D283A"/>
                </a:solidFill>
                <a:latin typeface="Calibri"/>
                <a:cs typeface="Calibri"/>
              </a:rPr>
              <a:t>until</a:t>
            </a:r>
            <a:r>
              <a:rPr sz="130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D283A"/>
                </a:solidFill>
                <a:latin typeface="Calibri"/>
                <a:cs typeface="Calibri"/>
              </a:rPr>
              <a:t>no</a:t>
            </a:r>
            <a:r>
              <a:rPr sz="130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D283A"/>
                </a:solidFill>
                <a:latin typeface="Calibri"/>
                <a:cs typeface="Calibri"/>
              </a:rPr>
              <a:t>city</a:t>
            </a:r>
            <a:r>
              <a:rPr sz="130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1D283A"/>
                </a:solidFill>
                <a:latin typeface="Calibri"/>
                <a:cs typeface="Calibri"/>
              </a:rPr>
              <a:t>changes</a:t>
            </a:r>
            <a:r>
              <a:rPr sz="130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1D283A"/>
                </a:solidFill>
                <a:latin typeface="Calibri"/>
                <a:cs typeface="Calibri"/>
              </a:rPr>
              <a:t>cluster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8424" y="2765426"/>
            <a:ext cx="23634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0E162A"/>
                </a:solidFill>
                <a:latin typeface="Meiryo UI"/>
                <a:cs typeface="Meiryo UI"/>
              </a:rPr>
              <a:t>Implementation</a:t>
            </a:r>
            <a:r>
              <a:rPr sz="1400" b="1" spc="490" dirty="0">
                <a:solidFill>
                  <a:srgbClr val="0E162A"/>
                </a:solidFill>
                <a:latin typeface="Meiryo UI"/>
                <a:cs typeface="Meiryo UI"/>
              </a:rPr>
              <a:t> </a:t>
            </a:r>
            <a:r>
              <a:rPr sz="1400" b="1" spc="45" dirty="0">
                <a:solidFill>
                  <a:srgbClr val="0E162A"/>
                </a:solidFill>
                <a:latin typeface="Meiryo UI"/>
                <a:cs typeface="Meiryo UI"/>
              </a:rPr>
              <a:t>details</a:t>
            </a:r>
            <a:endParaRPr sz="1400">
              <a:latin typeface="Meiryo UI"/>
              <a:cs typeface="Meiryo U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8424" y="3325941"/>
            <a:ext cx="3400425" cy="1129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635" indent="-114935">
              <a:lnSpc>
                <a:spcPct val="100000"/>
              </a:lnSpc>
              <a:spcBef>
                <a:spcPts val="100"/>
              </a:spcBef>
              <a:buChar char="•"/>
              <a:tabLst>
                <a:tab pos="127635" algn="l"/>
              </a:tabLst>
            </a:pPr>
            <a:r>
              <a:rPr sz="1250" dirty="0">
                <a:solidFill>
                  <a:srgbClr val="1D283A"/>
                </a:solidFill>
                <a:latin typeface="Calibri"/>
                <a:cs typeface="Calibri"/>
              </a:rPr>
              <a:t>k</a:t>
            </a:r>
            <a:r>
              <a:rPr sz="1250" spc="-4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D283A"/>
                </a:solidFill>
                <a:latin typeface="Calibri"/>
                <a:cs typeface="Calibri"/>
              </a:rPr>
              <a:t>=</a:t>
            </a:r>
            <a:r>
              <a:rPr sz="1250" spc="-4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D283A"/>
                </a:solidFill>
                <a:latin typeface="Calibri"/>
                <a:cs typeface="Calibri"/>
              </a:rPr>
              <a:t>1,000</a:t>
            </a:r>
            <a:r>
              <a:rPr sz="1250" spc="-4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D283A"/>
                </a:solidFill>
                <a:latin typeface="Calibri"/>
                <a:cs typeface="Calibri"/>
              </a:rPr>
              <a:t>clusters</a:t>
            </a:r>
            <a:r>
              <a:rPr sz="1250" spc="21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D283A"/>
                </a:solidFill>
                <a:latin typeface="Calibri"/>
                <a:cs typeface="Calibri"/>
              </a:rPr>
              <a:t>(avg</a:t>
            </a:r>
            <a:r>
              <a:rPr sz="1250" spc="-4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D283A"/>
                </a:solidFill>
                <a:latin typeface="Calibri"/>
                <a:cs typeface="Calibri"/>
              </a:rPr>
              <a:t>~115</a:t>
            </a:r>
            <a:r>
              <a:rPr sz="1250" spc="-4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D283A"/>
                </a:solidFill>
                <a:latin typeface="Calibri"/>
                <a:cs typeface="Calibri"/>
              </a:rPr>
              <a:t>cities</a:t>
            </a:r>
            <a:r>
              <a:rPr sz="1250" spc="-4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50" spc="-20" dirty="0">
                <a:solidFill>
                  <a:srgbClr val="1D283A"/>
                </a:solidFill>
                <a:latin typeface="Calibri"/>
                <a:cs typeface="Calibri"/>
              </a:rPr>
              <a:t>each)</a:t>
            </a:r>
            <a:endParaRPr sz="1250">
              <a:latin typeface="Calibri"/>
              <a:cs typeface="Calibri"/>
            </a:endParaRPr>
          </a:p>
          <a:p>
            <a:pPr marL="127635" indent="-114935">
              <a:lnSpc>
                <a:spcPct val="100000"/>
              </a:lnSpc>
              <a:buChar char="•"/>
              <a:tabLst>
                <a:tab pos="127635" algn="l"/>
              </a:tabLst>
            </a:pPr>
            <a:r>
              <a:rPr sz="1250" spc="-20" dirty="0">
                <a:solidFill>
                  <a:srgbClr val="1D283A"/>
                </a:solidFill>
                <a:latin typeface="Calibri"/>
                <a:cs typeface="Calibri"/>
              </a:rPr>
              <a:t>Vectorized</a:t>
            </a:r>
            <a:r>
              <a:rPr sz="12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D283A"/>
                </a:solidFill>
                <a:latin typeface="Calibri"/>
                <a:cs typeface="Calibri"/>
              </a:rPr>
              <a:t>with</a:t>
            </a:r>
            <a:r>
              <a:rPr sz="12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D283A"/>
                </a:solidFill>
                <a:latin typeface="Calibri"/>
                <a:cs typeface="Calibri"/>
              </a:rPr>
              <a:t>NumPy</a:t>
            </a:r>
            <a:r>
              <a:rPr sz="12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D283A"/>
                </a:solidFill>
                <a:latin typeface="Calibri"/>
                <a:cs typeface="Calibri"/>
              </a:rPr>
              <a:t>batched</a:t>
            </a:r>
            <a:r>
              <a:rPr sz="12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D283A"/>
                </a:solidFill>
                <a:latin typeface="Calibri"/>
                <a:cs typeface="Calibri"/>
              </a:rPr>
              <a:t>broadcasting</a:t>
            </a:r>
            <a:endParaRPr sz="1250">
              <a:latin typeface="Calibri"/>
              <a:cs typeface="Calibri"/>
            </a:endParaRPr>
          </a:p>
          <a:p>
            <a:pPr marL="127635" indent="-114935">
              <a:lnSpc>
                <a:spcPct val="100000"/>
              </a:lnSpc>
              <a:buChar char="•"/>
              <a:tabLst>
                <a:tab pos="127635" algn="l"/>
              </a:tabLst>
            </a:pPr>
            <a:r>
              <a:rPr sz="1250" dirty="0">
                <a:solidFill>
                  <a:srgbClr val="1D283A"/>
                </a:solidFill>
                <a:latin typeface="Calibri"/>
                <a:cs typeface="Calibri"/>
              </a:rPr>
              <a:t>3</a:t>
            </a:r>
            <a:r>
              <a:rPr sz="1250" spc="-3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D283A"/>
                </a:solidFill>
                <a:latin typeface="Calibri"/>
                <a:cs typeface="Calibri"/>
              </a:rPr>
              <a:t>iterations</a:t>
            </a:r>
            <a:r>
              <a:rPr sz="1250" spc="-3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D283A"/>
                </a:solidFill>
                <a:latin typeface="Calibri"/>
                <a:cs typeface="Calibri"/>
              </a:rPr>
              <a:t>converge</a:t>
            </a:r>
            <a:r>
              <a:rPr sz="1250" spc="-3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D283A"/>
                </a:solidFill>
                <a:latin typeface="Calibri"/>
                <a:cs typeface="Calibri"/>
              </a:rPr>
              <a:t>in</a:t>
            </a:r>
            <a:r>
              <a:rPr sz="125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D9487"/>
                </a:solidFill>
                <a:latin typeface="Calibri"/>
                <a:cs typeface="Calibri"/>
              </a:rPr>
              <a:t>7.1</a:t>
            </a:r>
            <a:r>
              <a:rPr sz="1250" b="1" spc="-35" dirty="0">
                <a:solidFill>
                  <a:srgbClr val="0D9487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D9487"/>
                </a:solidFill>
                <a:latin typeface="Calibri"/>
                <a:cs typeface="Calibri"/>
              </a:rPr>
              <a:t>seconds</a:t>
            </a:r>
            <a:r>
              <a:rPr sz="1250" b="1" spc="-25" dirty="0">
                <a:solidFill>
                  <a:srgbClr val="0D9487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D283A"/>
                </a:solidFill>
                <a:latin typeface="Calibri"/>
                <a:cs typeface="Calibri"/>
              </a:rPr>
              <a:t>on</a:t>
            </a:r>
            <a:r>
              <a:rPr sz="1250" spc="-3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D283A"/>
                </a:solidFill>
                <a:latin typeface="Calibri"/>
                <a:cs typeface="Calibri"/>
              </a:rPr>
              <a:t>full</a:t>
            </a:r>
            <a:r>
              <a:rPr sz="1250" spc="-3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D283A"/>
                </a:solidFill>
                <a:latin typeface="Calibri"/>
                <a:cs typeface="Calibri"/>
              </a:rPr>
              <a:t>dataset</a:t>
            </a:r>
            <a:endParaRPr sz="1250">
              <a:latin typeface="Calibri"/>
              <a:cs typeface="Calibri"/>
            </a:endParaRPr>
          </a:p>
          <a:p>
            <a:pPr marL="127635" indent="-114935">
              <a:lnSpc>
                <a:spcPct val="100000"/>
              </a:lnSpc>
              <a:spcBef>
                <a:spcPts val="595"/>
              </a:spcBef>
              <a:buChar char="•"/>
              <a:tabLst>
                <a:tab pos="127635" algn="l"/>
              </a:tabLst>
            </a:pPr>
            <a:r>
              <a:rPr sz="1250" dirty="0">
                <a:solidFill>
                  <a:srgbClr val="1D283A"/>
                </a:solidFill>
                <a:latin typeface="Calibri"/>
                <a:cs typeface="Calibri"/>
              </a:rPr>
              <a:t>Loss</a:t>
            </a:r>
            <a:r>
              <a:rPr sz="1250" spc="-10" dirty="0">
                <a:solidFill>
                  <a:srgbClr val="1D283A"/>
                </a:solidFill>
                <a:latin typeface="Calibri"/>
                <a:cs typeface="Calibri"/>
              </a:rPr>
              <a:t> (weighted </a:t>
            </a:r>
            <a:r>
              <a:rPr sz="1250" spc="-20" dirty="0">
                <a:solidFill>
                  <a:srgbClr val="1D283A"/>
                </a:solidFill>
                <a:latin typeface="Calibri"/>
                <a:cs typeface="Calibri"/>
              </a:rPr>
              <a:t>intra-</a:t>
            </a:r>
            <a:r>
              <a:rPr sz="1250" spc="-10" dirty="0">
                <a:solidFill>
                  <a:srgbClr val="1D283A"/>
                </a:solidFill>
                <a:latin typeface="Calibri"/>
                <a:cs typeface="Calibri"/>
              </a:rPr>
              <a:t>cluster</a:t>
            </a:r>
            <a:r>
              <a:rPr sz="1250" spc="-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D283A"/>
                </a:solidFill>
                <a:latin typeface="Calibri"/>
                <a:cs typeface="Calibri"/>
              </a:rPr>
              <a:t>variance):</a:t>
            </a:r>
            <a:endParaRPr sz="1250">
              <a:latin typeface="Calibri"/>
              <a:cs typeface="Calibri"/>
            </a:endParaRPr>
          </a:p>
          <a:p>
            <a:pPr marL="83820">
              <a:lnSpc>
                <a:spcPct val="100000"/>
              </a:lnSpc>
              <a:spcBef>
                <a:spcPts val="600"/>
              </a:spcBef>
            </a:pPr>
            <a:r>
              <a:rPr sz="1250" spc="-10" dirty="0">
                <a:solidFill>
                  <a:srgbClr val="1D283A"/>
                </a:solidFill>
                <a:latin typeface="Calibri"/>
                <a:cs typeface="Calibri"/>
              </a:rPr>
              <a:t>2.18×10¹⁰ </a:t>
            </a:r>
            <a:r>
              <a:rPr sz="1250" dirty="0">
                <a:solidFill>
                  <a:srgbClr val="1D283A"/>
                </a:solidFill>
                <a:latin typeface="Calibri"/>
                <a:cs typeface="Calibri"/>
              </a:rPr>
              <a:t>→</a:t>
            </a:r>
            <a:r>
              <a:rPr sz="1250" spc="-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D283A"/>
                </a:solidFill>
                <a:latin typeface="Calibri"/>
                <a:cs typeface="Calibri"/>
              </a:rPr>
              <a:t>1.76×10¹⁰</a:t>
            </a:r>
            <a:r>
              <a:rPr sz="1250" spc="-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D283A"/>
                </a:solidFill>
                <a:latin typeface="Calibri"/>
                <a:cs typeface="Calibri"/>
              </a:rPr>
              <a:t>→</a:t>
            </a:r>
            <a:r>
              <a:rPr sz="1250" spc="-10" dirty="0">
                <a:solidFill>
                  <a:srgbClr val="1D283A"/>
                </a:solidFill>
                <a:latin typeface="Calibri"/>
                <a:cs typeface="Calibri"/>
              </a:rPr>
              <a:t> 1.62×10¹⁰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663440" y="776886"/>
            <a:ext cx="4069079" cy="2011680"/>
          </a:xfrm>
          <a:custGeom>
            <a:avLst/>
            <a:gdLst/>
            <a:ahLst/>
            <a:cxnLst/>
            <a:rect l="l" t="t" r="r" b="b"/>
            <a:pathLst>
              <a:path w="4069079" h="2011680">
                <a:moveTo>
                  <a:pt x="4068724" y="0"/>
                </a:moveTo>
                <a:lnTo>
                  <a:pt x="0" y="0"/>
                </a:lnTo>
                <a:lnTo>
                  <a:pt x="0" y="2011311"/>
                </a:lnTo>
                <a:lnTo>
                  <a:pt x="2034362" y="2011311"/>
                </a:lnTo>
                <a:lnTo>
                  <a:pt x="4068724" y="2011311"/>
                </a:lnTo>
                <a:lnTo>
                  <a:pt x="4068724" y="0"/>
                </a:lnTo>
                <a:close/>
              </a:path>
            </a:pathLst>
          </a:custGeom>
          <a:solidFill>
            <a:srgbClr val="1D28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663440" y="776886"/>
            <a:ext cx="4069079" cy="2011680"/>
          </a:xfrm>
          <a:prstGeom prst="rect">
            <a:avLst/>
          </a:prstGeom>
          <a:ln w="12599">
            <a:solidFill>
              <a:srgbClr val="0D9487"/>
            </a:solidFill>
          </a:ln>
        </p:spPr>
        <p:txBody>
          <a:bodyPr vert="horz" wrap="square" lIns="0" tIns="106680" rIns="0" bIns="0" rtlCol="0">
            <a:spAutoFit/>
          </a:bodyPr>
          <a:lstStyle/>
          <a:p>
            <a:pPr marL="268605" marR="929005" indent="-159385">
              <a:lnSpc>
                <a:spcPct val="124900"/>
              </a:lnSpc>
              <a:spcBef>
                <a:spcPts val="840"/>
              </a:spcBef>
            </a:pPr>
            <a:r>
              <a:rPr sz="1050" spc="80" dirty="0">
                <a:solidFill>
                  <a:srgbClr val="13B8A6"/>
                </a:solidFill>
                <a:latin typeface="Lucida Sans Unicode"/>
                <a:cs typeface="Lucida Sans Unicode"/>
              </a:rPr>
              <a:t>KMEANS(cities,</a:t>
            </a:r>
            <a:r>
              <a:rPr sz="1050" spc="310" dirty="0">
                <a:solidFill>
                  <a:srgbClr val="13B8A6"/>
                </a:solidFill>
                <a:latin typeface="Lucida Sans Unicode"/>
                <a:cs typeface="Lucida Sans Unicode"/>
              </a:rPr>
              <a:t> </a:t>
            </a:r>
            <a:r>
              <a:rPr sz="1050" spc="145" dirty="0">
                <a:solidFill>
                  <a:srgbClr val="13B8A6"/>
                </a:solidFill>
                <a:latin typeface="Lucida Sans Unicode"/>
                <a:cs typeface="Lucida Sans Unicode"/>
              </a:rPr>
              <a:t>k,</a:t>
            </a:r>
            <a:r>
              <a:rPr sz="1050" spc="315" dirty="0">
                <a:solidFill>
                  <a:srgbClr val="13B8A6"/>
                </a:solidFill>
                <a:latin typeface="Lucida Sans Unicode"/>
                <a:cs typeface="Lucida Sans Unicode"/>
              </a:rPr>
              <a:t> </a:t>
            </a:r>
            <a:r>
              <a:rPr sz="1050" spc="95" dirty="0">
                <a:solidFill>
                  <a:srgbClr val="13B8A6"/>
                </a:solidFill>
                <a:latin typeface="Lucida Sans Unicode"/>
                <a:cs typeface="Lucida Sans Unicode"/>
              </a:rPr>
              <a:t>max_iters):</a:t>
            </a:r>
            <a:r>
              <a:rPr sz="1050" spc="500" dirty="0">
                <a:solidFill>
                  <a:srgbClr val="13B8A6"/>
                </a:solidFill>
                <a:latin typeface="Lucida Sans Unicode"/>
                <a:cs typeface="Lucida Sans Unicode"/>
              </a:rPr>
              <a:t> </a:t>
            </a:r>
            <a:r>
              <a:rPr sz="1050" spc="95" dirty="0">
                <a:solidFill>
                  <a:srgbClr val="E1E8F0"/>
                </a:solidFill>
                <a:latin typeface="Lucida Sans Unicode"/>
                <a:cs typeface="Lucida Sans Unicode"/>
              </a:rPr>
              <a:t>centroids</a:t>
            </a:r>
            <a:r>
              <a:rPr sz="1050" spc="315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1050" spc="-370" dirty="0">
                <a:solidFill>
                  <a:srgbClr val="E1E8F0"/>
                </a:solidFill>
                <a:latin typeface="Lucida Sans Unicode"/>
                <a:cs typeface="Lucida Sans Unicode"/>
              </a:rPr>
              <a:t>←</a:t>
            </a:r>
            <a:r>
              <a:rPr sz="1050" spc="320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1050" spc="75" dirty="0">
                <a:solidFill>
                  <a:srgbClr val="E1E8F0"/>
                </a:solidFill>
                <a:latin typeface="Lucida Sans Unicode"/>
                <a:cs typeface="Lucida Sans Unicode"/>
              </a:rPr>
              <a:t>random_sample(cities,</a:t>
            </a:r>
            <a:r>
              <a:rPr sz="1050" spc="320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1050" spc="120" dirty="0">
                <a:solidFill>
                  <a:srgbClr val="E1E8F0"/>
                </a:solidFill>
                <a:latin typeface="Lucida Sans Unicode"/>
                <a:cs typeface="Lucida Sans Unicode"/>
              </a:rPr>
              <a:t>k) </a:t>
            </a:r>
            <a:r>
              <a:rPr sz="1050" spc="135" dirty="0">
                <a:solidFill>
                  <a:srgbClr val="E1E8F0"/>
                </a:solidFill>
                <a:latin typeface="Lucida Sans Unicode"/>
                <a:cs typeface="Lucida Sans Unicode"/>
              </a:rPr>
              <a:t>for</a:t>
            </a:r>
            <a:r>
              <a:rPr sz="1050" spc="295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1050" spc="195" dirty="0">
                <a:solidFill>
                  <a:srgbClr val="E1E8F0"/>
                </a:solidFill>
                <a:latin typeface="Lucida Sans Unicode"/>
                <a:cs typeface="Lucida Sans Unicode"/>
              </a:rPr>
              <a:t>iter</a:t>
            </a:r>
            <a:r>
              <a:rPr sz="1050" spc="300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1050" spc="145" dirty="0">
                <a:solidFill>
                  <a:srgbClr val="E1E8F0"/>
                </a:solidFill>
                <a:latin typeface="Lucida Sans Unicode"/>
                <a:cs typeface="Lucida Sans Unicode"/>
              </a:rPr>
              <a:t>in</a:t>
            </a:r>
            <a:r>
              <a:rPr sz="1050" spc="300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1050" spc="100" dirty="0">
                <a:solidFill>
                  <a:srgbClr val="E1E8F0"/>
                </a:solidFill>
                <a:latin typeface="Lucida Sans Unicode"/>
                <a:cs typeface="Lucida Sans Unicode"/>
              </a:rPr>
              <a:t>1..max_iters:</a:t>
            </a:r>
            <a:endParaRPr sz="1050">
              <a:latin typeface="Lucida Sans Unicode"/>
              <a:cs typeface="Lucida Sans Unicode"/>
            </a:endParaRPr>
          </a:p>
          <a:p>
            <a:pPr marL="427355">
              <a:lnSpc>
                <a:spcPct val="100000"/>
              </a:lnSpc>
              <a:spcBef>
                <a:spcPts val="315"/>
              </a:spcBef>
            </a:pPr>
            <a:r>
              <a:rPr sz="1050" spc="135" dirty="0">
                <a:solidFill>
                  <a:srgbClr val="E1E8F0"/>
                </a:solidFill>
                <a:latin typeface="Lucida Sans Unicode"/>
                <a:cs typeface="Lucida Sans Unicode"/>
              </a:rPr>
              <a:t>for</a:t>
            </a:r>
            <a:r>
              <a:rPr sz="1050" spc="335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1050" dirty="0">
                <a:solidFill>
                  <a:srgbClr val="E1E8F0"/>
                </a:solidFill>
                <a:latin typeface="Lucida Sans Unicode"/>
                <a:cs typeface="Lucida Sans Unicode"/>
              </a:rPr>
              <a:t>each</a:t>
            </a:r>
            <a:r>
              <a:rPr sz="1050" spc="340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1050" spc="180" dirty="0">
                <a:solidFill>
                  <a:srgbClr val="E1E8F0"/>
                </a:solidFill>
                <a:latin typeface="Lucida Sans Unicode"/>
                <a:cs typeface="Lucida Sans Unicode"/>
              </a:rPr>
              <a:t>city</a:t>
            </a:r>
            <a:r>
              <a:rPr sz="1050" spc="340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1050" spc="160" dirty="0">
                <a:solidFill>
                  <a:srgbClr val="E1E8F0"/>
                </a:solidFill>
                <a:latin typeface="Lucida Sans Unicode"/>
                <a:cs typeface="Lucida Sans Unicode"/>
              </a:rPr>
              <a:t>c:</a:t>
            </a:r>
            <a:endParaRPr sz="1050">
              <a:latin typeface="Lucida Sans Unicode"/>
              <a:cs typeface="Lucida Sans Unicode"/>
            </a:endParaRPr>
          </a:p>
          <a:p>
            <a:pPr marL="427355" marR="133350" indent="158750">
              <a:lnSpc>
                <a:spcPct val="124900"/>
              </a:lnSpc>
            </a:pPr>
            <a:r>
              <a:rPr sz="1050" spc="125" dirty="0">
                <a:solidFill>
                  <a:srgbClr val="E1E8F0"/>
                </a:solidFill>
                <a:latin typeface="Lucida Sans Unicode"/>
                <a:cs typeface="Lucida Sans Unicode"/>
              </a:rPr>
              <a:t>assign[c]</a:t>
            </a:r>
            <a:r>
              <a:rPr sz="1050" spc="254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1050" spc="-370" dirty="0">
                <a:solidFill>
                  <a:srgbClr val="E1E8F0"/>
                </a:solidFill>
                <a:latin typeface="Lucida Sans Unicode"/>
                <a:cs typeface="Lucida Sans Unicode"/>
              </a:rPr>
              <a:t>←</a:t>
            </a:r>
            <a:r>
              <a:rPr sz="1050" spc="285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1050" dirty="0">
                <a:solidFill>
                  <a:srgbClr val="E1E8F0"/>
                </a:solidFill>
                <a:latin typeface="Lucida Sans Unicode"/>
                <a:cs typeface="Lucida Sans Unicode"/>
              </a:rPr>
              <a:t>argmin_m</a:t>
            </a:r>
            <a:r>
              <a:rPr sz="1050" spc="270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1050" spc="180" dirty="0">
                <a:solidFill>
                  <a:srgbClr val="E1E8F0"/>
                </a:solidFill>
                <a:latin typeface="Lucida Sans Unicode"/>
                <a:cs typeface="Lucida Sans Unicode"/>
              </a:rPr>
              <a:t>dist(c,</a:t>
            </a:r>
            <a:r>
              <a:rPr sz="1050" spc="270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1050" spc="95" dirty="0">
                <a:solidFill>
                  <a:srgbClr val="E1E8F0"/>
                </a:solidFill>
                <a:latin typeface="Lucida Sans Unicode"/>
                <a:cs typeface="Lucida Sans Unicode"/>
              </a:rPr>
              <a:t>centroids[m]) </a:t>
            </a:r>
            <a:r>
              <a:rPr sz="1050" spc="135" dirty="0">
                <a:solidFill>
                  <a:srgbClr val="E1E8F0"/>
                </a:solidFill>
                <a:latin typeface="Lucida Sans Unicode"/>
                <a:cs typeface="Lucida Sans Unicode"/>
              </a:rPr>
              <a:t>for</a:t>
            </a:r>
            <a:r>
              <a:rPr sz="1050" spc="345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1050" dirty="0">
                <a:solidFill>
                  <a:srgbClr val="E1E8F0"/>
                </a:solidFill>
                <a:latin typeface="Lucida Sans Unicode"/>
                <a:cs typeface="Lucida Sans Unicode"/>
              </a:rPr>
              <a:t>each</a:t>
            </a:r>
            <a:r>
              <a:rPr sz="1050" spc="350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1050" spc="130" dirty="0">
                <a:solidFill>
                  <a:srgbClr val="E1E8F0"/>
                </a:solidFill>
                <a:latin typeface="Lucida Sans Unicode"/>
                <a:cs typeface="Lucida Sans Unicode"/>
              </a:rPr>
              <a:t>cluster</a:t>
            </a:r>
            <a:r>
              <a:rPr sz="1050" spc="350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1050" spc="-25" dirty="0">
                <a:solidFill>
                  <a:srgbClr val="E1E8F0"/>
                </a:solidFill>
                <a:latin typeface="Lucida Sans Unicode"/>
                <a:cs typeface="Lucida Sans Unicode"/>
              </a:rPr>
              <a:t>m:</a:t>
            </a:r>
            <a:endParaRPr sz="1050">
              <a:latin typeface="Lucida Sans Unicode"/>
              <a:cs typeface="Lucida Sans Unicode"/>
            </a:endParaRPr>
          </a:p>
          <a:p>
            <a:pPr marL="427355" marR="292735" indent="158750">
              <a:lnSpc>
                <a:spcPct val="124900"/>
              </a:lnSpc>
            </a:pPr>
            <a:r>
              <a:rPr sz="1050" spc="90" dirty="0">
                <a:solidFill>
                  <a:srgbClr val="E1E8F0"/>
                </a:solidFill>
                <a:latin typeface="Lucida Sans Unicode"/>
                <a:cs typeface="Lucida Sans Unicode"/>
              </a:rPr>
              <a:t>centroids[m]</a:t>
            </a:r>
            <a:r>
              <a:rPr sz="1050" spc="215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1050" spc="-370" dirty="0">
                <a:solidFill>
                  <a:srgbClr val="E1E8F0"/>
                </a:solidFill>
                <a:latin typeface="Lucida Sans Unicode"/>
                <a:cs typeface="Lucida Sans Unicode"/>
              </a:rPr>
              <a:t>←</a:t>
            </a:r>
            <a:r>
              <a:rPr sz="1050" spc="285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1050" spc="100" dirty="0">
                <a:solidFill>
                  <a:srgbClr val="E1E8F0"/>
                </a:solidFill>
                <a:latin typeface="Lucida Sans Unicode"/>
                <a:cs typeface="Lucida Sans Unicode"/>
              </a:rPr>
              <a:t>mean(cities[assign</a:t>
            </a:r>
            <a:r>
              <a:rPr sz="1050" spc="250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1050" spc="-110" dirty="0">
                <a:solidFill>
                  <a:srgbClr val="E1E8F0"/>
                </a:solidFill>
                <a:latin typeface="Lucida Sans Unicode"/>
                <a:cs typeface="Lucida Sans Unicode"/>
              </a:rPr>
              <a:t>==</a:t>
            </a:r>
            <a:r>
              <a:rPr sz="1050" spc="250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1050" spc="45" dirty="0">
                <a:solidFill>
                  <a:srgbClr val="E1E8F0"/>
                </a:solidFill>
                <a:latin typeface="Lucida Sans Unicode"/>
                <a:cs typeface="Lucida Sans Unicode"/>
              </a:rPr>
              <a:t>m]) </a:t>
            </a:r>
            <a:r>
              <a:rPr sz="1050" spc="280" dirty="0">
                <a:solidFill>
                  <a:srgbClr val="E1E8F0"/>
                </a:solidFill>
                <a:latin typeface="Lucida Sans Unicode"/>
                <a:cs typeface="Lucida Sans Unicode"/>
              </a:rPr>
              <a:t>if</a:t>
            </a:r>
            <a:r>
              <a:rPr sz="1050" spc="450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1050" dirty="0">
                <a:solidFill>
                  <a:srgbClr val="E1E8F0"/>
                </a:solidFill>
                <a:latin typeface="Lucida Sans Unicode"/>
                <a:cs typeface="Lucida Sans Unicode"/>
              </a:rPr>
              <a:t>no</a:t>
            </a:r>
            <a:r>
              <a:rPr sz="1050" spc="450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1050" dirty="0">
                <a:solidFill>
                  <a:srgbClr val="E1E8F0"/>
                </a:solidFill>
                <a:latin typeface="Lucida Sans Unicode"/>
                <a:cs typeface="Lucida Sans Unicode"/>
              </a:rPr>
              <a:t>assignment</a:t>
            </a:r>
            <a:r>
              <a:rPr sz="1050" spc="450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1050" dirty="0">
                <a:solidFill>
                  <a:srgbClr val="E1E8F0"/>
                </a:solidFill>
                <a:latin typeface="Lucida Sans Unicode"/>
                <a:cs typeface="Lucida Sans Unicode"/>
              </a:rPr>
              <a:t>changed:</a:t>
            </a:r>
            <a:r>
              <a:rPr sz="1050" spc="450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1050" spc="30" dirty="0">
                <a:solidFill>
                  <a:srgbClr val="E1E8F0"/>
                </a:solidFill>
                <a:latin typeface="Lucida Sans Unicode"/>
                <a:cs typeface="Lucida Sans Unicode"/>
              </a:rPr>
              <a:t>break</a:t>
            </a:r>
            <a:endParaRPr sz="1050">
              <a:latin typeface="Lucida Sans Unicode"/>
              <a:cs typeface="Lucida Sans Unicode"/>
            </a:endParaRPr>
          </a:p>
          <a:p>
            <a:pPr marL="268605">
              <a:lnSpc>
                <a:spcPct val="100000"/>
              </a:lnSpc>
              <a:spcBef>
                <a:spcPts val="310"/>
              </a:spcBef>
            </a:pPr>
            <a:r>
              <a:rPr sz="1050" spc="100" dirty="0">
                <a:solidFill>
                  <a:srgbClr val="E1E8F0"/>
                </a:solidFill>
                <a:latin typeface="Lucida Sans Unicode"/>
                <a:cs typeface="Lucida Sans Unicode"/>
              </a:rPr>
              <a:t>return</a:t>
            </a:r>
            <a:r>
              <a:rPr sz="1050" spc="295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1050" spc="114" dirty="0">
                <a:solidFill>
                  <a:srgbClr val="E1E8F0"/>
                </a:solidFill>
                <a:latin typeface="Lucida Sans Unicode"/>
                <a:cs typeface="Lucida Sans Unicode"/>
              </a:rPr>
              <a:t>centroids,</a:t>
            </a:r>
            <a:r>
              <a:rPr sz="1050" spc="300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1050" spc="70" dirty="0">
                <a:solidFill>
                  <a:srgbClr val="E1E8F0"/>
                </a:solidFill>
                <a:latin typeface="Lucida Sans Unicode"/>
                <a:cs typeface="Lucida Sans Unicode"/>
              </a:rPr>
              <a:t>assign</a:t>
            </a:r>
            <a:endParaRPr sz="1050">
              <a:latin typeface="Lucida Sans Unicode"/>
              <a:cs typeface="Lucida Sans Unicode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663440" y="2926082"/>
            <a:ext cx="4069079" cy="1938655"/>
            <a:chOff x="4663440" y="2926082"/>
            <a:chExt cx="4069079" cy="1938655"/>
          </a:xfrm>
        </p:grpSpPr>
        <p:sp>
          <p:nvSpPr>
            <p:cNvPr id="11" name="object 11"/>
            <p:cNvSpPr/>
            <p:nvPr/>
          </p:nvSpPr>
          <p:spPr>
            <a:xfrm>
              <a:off x="4663440" y="2926082"/>
              <a:ext cx="4069079" cy="1938655"/>
            </a:xfrm>
            <a:custGeom>
              <a:avLst/>
              <a:gdLst/>
              <a:ahLst/>
              <a:cxnLst/>
              <a:rect l="l" t="t" r="r" b="b"/>
              <a:pathLst>
                <a:path w="4069079" h="1938654">
                  <a:moveTo>
                    <a:pt x="4068724" y="0"/>
                  </a:moveTo>
                  <a:lnTo>
                    <a:pt x="0" y="0"/>
                  </a:lnTo>
                  <a:lnTo>
                    <a:pt x="0" y="1938235"/>
                  </a:lnTo>
                  <a:lnTo>
                    <a:pt x="2034362" y="1938235"/>
                  </a:lnTo>
                  <a:lnTo>
                    <a:pt x="4068724" y="1938235"/>
                  </a:lnTo>
                  <a:lnTo>
                    <a:pt x="4068724" y="0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919764" y="3352319"/>
              <a:ext cx="3731260" cy="1221740"/>
            </a:xfrm>
            <a:custGeom>
              <a:avLst/>
              <a:gdLst/>
              <a:ahLst/>
              <a:cxnLst/>
              <a:rect l="l" t="t" r="r" b="b"/>
              <a:pathLst>
                <a:path w="3731259" h="1221739">
                  <a:moveTo>
                    <a:pt x="3731031" y="1221117"/>
                  </a:moveTo>
                  <a:lnTo>
                    <a:pt x="0" y="1221117"/>
                  </a:lnTo>
                </a:path>
                <a:path w="3731259" h="1221739">
                  <a:moveTo>
                    <a:pt x="3731031" y="1068120"/>
                  </a:moveTo>
                  <a:lnTo>
                    <a:pt x="0" y="1068120"/>
                  </a:lnTo>
                </a:path>
                <a:path w="3731259" h="1221739">
                  <a:moveTo>
                    <a:pt x="3731031" y="915479"/>
                  </a:moveTo>
                  <a:lnTo>
                    <a:pt x="0" y="915479"/>
                  </a:lnTo>
                </a:path>
                <a:path w="3731259" h="1221739">
                  <a:moveTo>
                    <a:pt x="3731031" y="762838"/>
                  </a:moveTo>
                  <a:lnTo>
                    <a:pt x="0" y="762838"/>
                  </a:lnTo>
                </a:path>
                <a:path w="3731259" h="1221739">
                  <a:moveTo>
                    <a:pt x="3731031" y="610196"/>
                  </a:moveTo>
                  <a:lnTo>
                    <a:pt x="0" y="610196"/>
                  </a:lnTo>
                </a:path>
                <a:path w="3731259" h="1221739">
                  <a:moveTo>
                    <a:pt x="3731031" y="457923"/>
                  </a:moveTo>
                  <a:lnTo>
                    <a:pt x="0" y="457923"/>
                  </a:lnTo>
                </a:path>
                <a:path w="3731259" h="1221739">
                  <a:moveTo>
                    <a:pt x="3731031" y="305282"/>
                  </a:moveTo>
                  <a:lnTo>
                    <a:pt x="0" y="305282"/>
                  </a:lnTo>
                </a:path>
                <a:path w="3731259" h="1221739">
                  <a:moveTo>
                    <a:pt x="3731031" y="152641"/>
                  </a:moveTo>
                  <a:lnTo>
                    <a:pt x="0" y="152641"/>
                  </a:lnTo>
                </a:path>
                <a:path w="3731259" h="1221739">
                  <a:moveTo>
                    <a:pt x="3731031" y="0"/>
                  </a:moveTo>
                  <a:lnTo>
                    <a:pt x="0" y="0"/>
                  </a:lnTo>
                </a:path>
              </a:pathLst>
            </a:custGeom>
            <a:ln w="6479">
              <a:solidFill>
                <a:srgbClr val="E1E8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865763" y="3352319"/>
              <a:ext cx="3785235" cy="1275715"/>
            </a:xfrm>
            <a:custGeom>
              <a:avLst/>
              <a:gdLst/>
              <a:ahLst/>
              <a:cxnLst/>
              <a:rect l="l" t="t" r="r" b="b"/>
              <a:pathLst>
                <a:path w="3785234" h="1275714">
                  <a:moveTo>
                    <a:pt x="54000" y="1275118"/>
                  </a:moveTo>
                  <a:lnTo>
                    <a:pt x="54000" y="1221117"/>
                  </a:lnTo>
                </a:path>
                <a:path w="3785234" h="1275714">
                  <a:moveTo>
                    <a:pt x="986751" y="1275118"/>
                  </a:moveTo>
                  <a:lnTo>
                    <a:pt x="986751" y="1221117"/>
                  </a:lnTo>
                </a:path>
                <a:path w="3785234" h="1275714">
                  <a:moveTo>
                    <a:pt x="1919160" y="1275118"/>
                  </a:moveTo>
                  <a:lnTo>
                    <a:pt x="1919160" y="1221117"/>
                  </a:lnTo>
                </a:path>
                <a:path w="3785234" h="1275714">
                  <a:moveTo>
                    <a:pt x="2851912" y="1275118"/>
                  </a:moveTo>
                  <a:lnTo>
                    <a:pt x="2851912" y="1221117"/>
                  </a:lnTo>
                </a:path>
                <a:path w="3785234" h="1275714">
                  <a:moveTo>
                    <a:pt x="3785031" y="1275118"/>
                  </a:moveTo>
                  <a:lnTo>
                    <a:pt x="3785031" y="1221117"/>
                  </a:lnTo>
                </a:path>
                <a:path w="3785234" h="1275714">
                  <a:moveTo>
                    <a:pt x="54000" y="1221117"/>
                  </a:moveTo>
                  <a:lnTo>
                    <a:pt x="3785031" y="1221117"/>
                  </a:lnTo>
                </a:path>
                <a:path w="3785234" h="1275714">
                  <a:moveTo>
                    <a:pt x="0" y="1221117"/>
                  </a:moveTo>
                  <a:lnTo>
                    <a:pt x="54000" y="1221117"/>
                  </a:lnTo>
                </a:path>
                <a:path w="3785234" h="1275714">
                  <a:moveTo>
                    <a:pt x="0" y="1068120"/>
                  </a:moveTo>
                  <a:lnTo>
                    <a:pt x="54000" y="1068120"/>
                  </a:lnTo>
                </a:path>
                <a:path w="3785234" h="1275714">
                  <a:moveTo>
                    <a:pt x="0" y="915479"/>
                  </a:moveTo>
                  <a:lnTo>
                    <a:pt x="54000" y="915479"/>
                  </a:lnTo>
                </a:path>
                <a:path w="3785234" h="1275714">
                  <a:moveTo>
                    <a:pt x="0" y="762838"/>
                  </a:moveTo>
                  <a:lnTo>
                    <a:pt x="54000" y="762838"/>
                  </a:lnTo>
                </a:path>
                <a:path w="3785234" h="1275714">
                  <a:moveTo>
                    <a:pt x="0" y="610196"/>
                  </a:moveTo>
                  <a:lnTo>
                    <a:pt x="54000" y="610196"/>
                  </a:lnTo>
                </a:path>
                <a:path w="3785234" h="1275714">
                  <a:moveTo>
                    <a:pt x="0" y="457923"/>
                  </a:moveTo>
                  <a:lnTo>
                    <a:pt x="54000" y="457923"/>
                  </a:lnTo>
                </a:path>
                <a:path w="3785234" h="1275714">
                  <a:moveTo>
                    <a:pt x="0" y="305282"/>
                  </a:moveTo>
                  <a:lnTo>
                    <a:pt x="54000" y="305282"/>
                  </a:lnTo>
                </a:path>
                <a:path w="3785234" h="1275714">
                  <a:moveTo>
                    <a:pt x="0" y="152641"/>
                  </a:moveTo>
                  <a:lnTo>
                    <a:pt x="54000" y="152641"/>
                  </a:lnTo>
                </a:path>
                <a:path w="3785234" h="1275714">
                  <a:moveTo>
                    <a:pt x="0" y="0"/>
                  </a:moveTo>
                  <a:lnTo>
                    <a:pt x="54000" y="0"/>
                  </a:lnTo>
                </a:path>
                <a:path w="3785234" h="1275714">
                  <a:moveTo>
                    <a:pt x="54000" y="1221117"/>
                  </a:moveTo>
                  <a:lnTo>
                    <a:pt x="54000" y="0"/>
                  </a:lnTo>
                </a:path>
              </a:pathLst>
            </a:custGeom>
            <a:ln w="12598">
              <a:solidFill>
                <a:srgbClr val="8787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47805" y="3393365"/>
              <a:ext cx="2874594" cy="723239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5212600" y="4631882"/>
            <a:ext cx="34671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465469"/>
                </a:solidFill>
                <a:latin typeface="Arial"/>
                <a:cs typeface="Arial"/>
              </a:rPr>
              <a:t>Start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32321" y="4631882"/>
            <a:ext cx="37211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465469"/>
                </a:solidFill>
                <a:latin typeface="Arial"/>
                <a:cs typeface="Arial"/>
              </a:rPr>
              <a:t>Iter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465469"/>
                </a:solidFill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065353" y="4631882"/>
            <a:ext cx="37211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465469"/>
                </a:solidFill>
                <a:latin typeface="Arial"/>
                <a:cs typeface="Arial"/>
              </a:rPr>
              <a:t>Iter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465469"/>
                </a:solidFill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998028" y="4631882"/>
            <a:ext cx="37211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465469"/>
                </a:solidFill>
                <a:latin typeface="Arial"/>
                <a:cs typeface="Arial"/>
              </a:rPr>
              <a:t>Iter</a:t>
            </a:r>
            <a:r>
              <a:rPr sz="1200" spc="-3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465469"/>
                </a:solidFill>
                <a:latin typeface="Arial"/>
                <a:cs typeface="Arial"/>
              </a:rPr>
              <a:t>3</a:t>
            </a:r>
            <a:endParaRPr sz="12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732401" y="3239657"/>
            <a:ext cx="110489" cy="14293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50" dirty="0">
                <a:solidFill>
                  <a:srgbClr val="465469"/>
                </a:solidFill>
                <a:latin typeface="Arial"/>
                <a:cs typeface="Arial"/>
              </a:rPr>
              <a:t>4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1200" spc="-50" dirty="0">
                <a:solidFill>
                  <a:srgbClr val="465469"/>
                </a:solidFill>
                <a:latin typeface="Arial"/>
                <a:cs typeface="Arial"/>
              </a:rPr>
              <a:t>3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1200" spc="-50" dirty="0">
                <a:solidFill>
                  <a:srgbClr val="465469"/>
                </a:solidFill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200" spc="-50" dirty="0">
                <a:solidFill>
                  <a:srgbClr val="465469"/>
                </a:solidFill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70"/>
              </a:spcBef>
            </a:pPr>
            <a:r>
              <a:rPr sz="1200" spc="-50" dirty="0">
                <a:solidFill>
                  <a:srgbClr val="465469"/>
                </a:solidFill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640603" y="3026577"/>
            <a:ext cx="211518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0E162A"/>
                </a:solidFill>
                <a:latin typeface="Arial"/>
                <a:cs typeface="Arial"/>
              </a:rPr>
              <a:t>K-</a:t>
            </a:r>
            <a:r>
              <a:rPr sz="1000" spc="-10" dirty="0">
                <a:solidFill>
                  <a:srgbClr val="0E162A"/>
                </a:solidFill>
                <a:latin typeface="Arial"/>
                <a:cs typeface="Arial"/>
              </a:rPr>
              <a:t>Means</a:t>
            </a:r>
            <a:r>
              <a:rPr sz="1000" spc="-15" dirty="0">
                <a:solidFill>
                  <a:srgbClr val="0E162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E162A"/>
                </a:solidFill>
                <a:latin typeface="Arial"/>
                <a:cs typeface="Arial"/>
              </a:rPr>
              <a:t>Loss</a:t>
            </a:r>
            <a:r>
              <a:rPr sz="1000" spc="-10" dirty="0">
                <a:solidFill>
                  <a:srgbClr val="0E162A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0E162A"/>
                </a:solidFill>
                <a:latin typeface="Arial"/>
                <a:cs typeface="Arial"/>
              </a:rPr>
              <a:t>Convergence</a:t>
            </a:r>
            <a:r>
              <a:rPr sz="1000" spc="-15" dirty="0">
                <a:solidFill>
                  <a:srgbClr val="0E162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0E162A"/>
                </a:solidFill>
                <a:latin typeface="Arial"/>
                <a:cs typeface="Arial"/>
              </a:rPr>
              <a:t>(k=1000)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53935" y="7456"/>
            <a:ext cx="8139430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120" dirty="0"/>
              <a:t>Step</a:t>
            </a:r>
            <a:r>
              <a:rPr spc="85" dirty="0"/>
              <a:t> </a:t>
            </a:r>
            <a:r>
              <a:rPr dirty="0"/>
              <a:t>2a:</a:t>
            </a:r>
            <a:r>
              <a:rPr spc="80" dirty="0"/>
              <a:t> </a:t>
            </a:r>
            <a:r>
              <a:rPr spc="120" dirty="0"/>
              <a:t>Guided</a:t>
            </a:r>
            <a:r>
              <a:rPr spc="85" dirty="0"/>
              <a:t> </a:t>
            </a:r>
            <a:r>
              <a:rPr spc="95" dirty="0"/>
              <a:t>Local</a:t>
            </a:r>
            <a:r>
              <a:rPr spc="80" dirty="0"/>
              <a:t> </a:t>
            </a:r>
            <a:r>
              <a:rPr spc="100" dirty="0"/>
              <a:t>Search</a:t>
            </a:r>
            <a:r>
              <a:rPr spc="85" dirty="0"/>
              <a:t> </a:t>
            </a:r>
            <a:r>
              <a:rPr dirty="0"/>
              <a:t>(GLS)</a:t>
            </a:r>
            <a:r>
              <a:rPr spc="85" dirty="0"/>
              <a:t> </a:t>
            </a:r>
            <a:r>
              <a:rPr dirty="0"/>
              <a:t>—</a:t>
            </a:r>
            <a:r>
              <a:rPr spc="85" dirty="0"/>
              <a:t> </a:t>
            </a:r>
            <a:r>
              <a:rPr spc="100" dirty="0"/>
              <a:t>Deep </a:t>
            </a:r>
            <a:r>
              <a:rPr spc="90" dirty="0"/>
              <a:t>Dive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8424" y="709540"/>
            <a:ext cx="8176895" cy="520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9800"/>
              </a:lnSpc>
              <a:spcBef>
                <a:spcPts val="100"/>
              </a:spcBef>
            </a:pPr>
            <a:r>
              <a:rPr sz="1250" spc="-10" dirty="0">
                <a:solidFill>
                  <a:srgbClr val="1D283A"/>
                </a:solidFill>
                <a:latin typeface="Calibri"/>
                <a:cs typeface="Calibri"/>
              </a:rPr>
              <a:t>Standard</a:t>
            </a:r>
            <a:r>
              <a:rPr sz="12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D283A"/>
                </a:solidFill>
                <a:latin typeface="Calibri"/>
                <a:cs typeface="Calibri"/>
              </a:rPr>
              <a:t>local</a:t>
            </a:r>
            <a:r>
              <a:rPr sz="12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D283A"/>
                </a:solidFill>
                <a:latin typeface="Calibri"/>
                <a:cs typeface="Calibri"/>
              </a:rPr>
              <a:t>search</a:t>
            </a:r>
            <a:r>
              <a:rPr sz="12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D283A"/>
                </a:solidFill>
                <a:latin typeface="Calibri"/>
                <a:cs typeface="Calibri"/>
              </a:rPr>
              <a:t>gets</a:t>
            </a:r>
            <a:r>
              <a:rPr sz="12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D283A"/>
                </a:solidFill>
                <a:latin typeface="Calibri"/>
                <a:cs typeface="Calibri"/>
              </a:rPr>
              <a:t>trapped</a:t>
            </a:r>
            <a:r>
              <a:rPr sz="12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D283A"/>
                </a:solidFill>
                <a:latin typeface="Calibri"/>
                <a:cs typeface="Calibri"/>
              </a:rPr>
              <a:t>in</a:t>
            </a:r>
            <a:r>
              <a:rPr sz="12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D283A"/>
                </a:solidFill>
                <a:latin typeface="Calibri"/>
                <a:cs typeface="Calibri"/>
              </a:rPr>
              <a:t>local</a:t>
            </a:r>
            <a:r>
              <a:rPr sz="12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D283A"/>
                </a:solidFill>
                <a:latin typeface="Calibri"/>
                <a:cs typeface="Calibri"/>
              </a:rPr>
              <a:t>optima.</a:t>
            </a:r>
            <a:r>
              <a:rPr sz="12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D283A"/>
                </a:solidFill>
                <a:latin typeface="Calibri"/>
                <a:cs typeface="Calibri"/>
              </a:rPr>
              <a:t>GLS</a:t>
            </a:r>
            <a:r>
              <a:rPr sz="12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D283A"/>
                </a:solidFill>
                <a:latin typeface="Calibri"/>
                <a:cs typeface="Calibri"/>
              </a:rPr>
              <a:t>escapes</a:t>
            </a:r>
            <a:r>
              <a:rPr sz="12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D283A"/>
                </a:solidFill>
                <a:latin typeface="Calibri"/>
                <a:cs typeface="Calibri"/>
              </a:rPr>
              <a:t>by</a:t>
            </a:r>
            <a:r>
              <a:rPr sz="12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D283A"/>
                </a:solidFill>
                <a:latin typeface="Calibri"/>
                <a:cs typeface="Calibri"/>
              </a:rPr>
              <a:t>augmenting</a:t>
            </a:r>
            <a:r>
              <a:rPr sz="12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D283A"/>
                </a:solidFill>
                <a:latin typeface="Calibri"/>
                <a:cs typeface="Calibri"/>
              </a:rPr>
              <a:t>the</a:t>
            </a:r>
            <a:r>
              <a:rPr sz="12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D283A"/>
                </a:solidFill>
                <a:latin typeface="Calibri"/>
                <a:cs typeface="Calibri"/>
              </a:rPr>
              <a:t>objective</a:t>
            </a:r>
            <a:r>
              <a:rPr sz="12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D283A"/>
                </a:solidFill>
                <a:latin typeface="Calibri"/>
                <a:cs typeface="Calibri"/>
              </a:rPr>
              <a:t>with</a:t>
            </a:r>
            <a:r>
              <a:rPr sz="12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D283A"/>
                </a:solidFill>
                <a:latin typeface="Calibri"/>
                <a:cs typeface="Calibri"/>
              </a:rPr>
              <a:t>penalties</a:t>
            </a:r>
            <a:r>
              <a:rPr sz="12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D283A"/>
                </a:solidFill>
                <a:latin typeface="Calibri"/>
                <a:cs typeface="Calibri"/>
              </a:rPr>
              <a:t>on</a:t>
            </a:r>
            <a:r>
              <a:rPr sz="12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D283A"/>
                </a:solidFill>
                <a:latin typeface="Calibri"/>
                <a:cs typeface="Calibri"/>
              </a:rPr>
              <a:t>overused</a:t>
            </a:r>
            <a:r>
              <a:rPr sz="125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D283A"/>
                </a:solidFill>
                <a:latin typeface="Calibri"/>
                <a:cs typeface="Calibri"/>
              </a:rPr>
              <a:t>edges, forcing</a:t>
            </a:r>
            <a:r>
              <a:rPr sz="12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D283A"/>
                </a:solidFill>
                <a:latin typeface="Calibri"/>
                <a:cs typeface="Calibri"/>
              </a:rPr>
              <a:t>exploration</a:t>
            </a:r>
            <a:r>
              <a:rPr sz="1250" spc="-2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D283A"/>
                </a:solidFill>
                <a:latin typeface="Calibri"/>
                <a:cs typeface="Calibri"/>
              </a:rPr>
              <a:t>of</a:t>
            </a:r>
            <a:r>
              <a:rPr sz="12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D283A"/>
                </a:solidFill>
                <a:latin typeface="Calibri"/>
                <a:cs typeface="Calibri"/>
              </a:rPr>
              <a:t>structurally</a:t>
            </a:r>
            <a:r>
              <a:rPr sz="1250" spc="-20" dirty="0">
                <a:solidFill>
                  <a:srgbClr val="1D283A"/>
                </a:solidFill>
                <a:latin typeface="Calibri"/>
                <a:cs typeface="Calibri"/>
              </a:rPr>
              <a:t> different</a:t>
            </a:r>
            <a:r>
              <a:rPr sz="125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D283A"/>
                </a:solidFill>
                <a:latin typeface="Calibri"/>
                <a:cs typeface="Calibri"/>
              </a:rPr>
              <a:t>tours.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11480" y="1243077"/>
            <a:ext cx="4160520" cy="585470"/>
          </a:xfrm>
          <a:custGeom>
            <a:avLst/>
            <a:gdLst/>
            <a:ahLst/>
            <a:cxnLst/>
            <a:rect l="l" t="t" r="r" b="b"/>
            <a:pathLst>
              <a:path w="4160520" h="585469">
                <a:moveTo>
                  <a:pt x="4160164" y="0"/>
                </a:moveTo>
                <a:lnTo>
                  <a:pt x="0" y="0"/>
                </a:lnTo>
                <a:lnTo>
                  <a:pt x="0" y="585000"/>
                </a:lnTo>
                <a:lnTo>
                  <a:pt x="2080082" y="585000"/>
                </a:lnTo>
                <a:lnTo>
                  <a:pt x="4160164" y="585000"/>
                </a:lnTo>
                <a:lnTo>
                  <a:pt x="4160164" y="0"/>
                </a:lnTo>
                <a:close/>
              </a:path>
            </a:pathLst>
          </a:custGeom>
          <a:solidFill>
            <a:srgbClr val="0E16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11480" y="1243077"/>
            <a:ext cx="4160520" cy="585470"/>
          </a:xfrm>
          <a:prstGeom prst="rect">
            <a:avLst/>
          </a:prstGeom>
          <a:ln w="19079">
            <a:solidFill>
              <a:srgbClr val="0D9487"/>
            </a:solidFill>
          </a:ln>
        </p:spPr>
        <p:txBody>
          <a:bodyPr vert="horz" wrap="square" lIns="0" tIns="180340" rIns="0" bIns="0" rtlCol="0">
            <a:spAutoFit/>
          </a:bodyPr>
          <a:lstStyle/>
          <a:p>
            <a:pPr marL="118110">
              <a:lnSpc>
                <a:spcPct val="100000"/>
              </a:lnSpc>
              <a:spcBef>
                <a:spcPts val="1420"/>
              </a:spcBef>
            </a:pPr>
            <a:r>
              <a:rPr sz="13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cost</a:t>
            </a:r>
            <a:r>
              <a:rPr sz="450" spc="70" dirty="0">
                <a:solidFill>
                  <a:srgbClr val="13B8A6"/>
                </a:solidFill>
                <a:latin typeface="Lucida Sans Unicode"/>
                <a:cs typeface="Lucida Sans Unicode"/>
              </a:rPr>
              <a:t>aug</a:t>
            </a:r>
            <a:r>
              <a:rPr sz="450" spc="235" dirty="0">
                <a:solidFill>
                  <a:srgbClr val="13B8A6"/>
                </a:solidFill>
                <a:latin typeface="Lucida Sans Unicode"/>
                <a:cs typeface="Lucida Sans Unicode"/>
              </a:rPr>
              <a:t>  </a:t>
            </a:r>
            <a:r>
              <a:rPr sz="1300" spc="-260" dirty="0">
                <a:solidFill>
                  <a:srgbClr val="FFFFFF"/>
                </a:solidFill>
                <a:latin typeface="Lucida Sans Unicode"/>
                <a:cs typeface="Lucida Sans Unicode"/>
              </a:rPr>
              <a:t>=</a:t>
            </a:r>
            <a:r>
              <a:rPr sz="1300" spc="3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FFFFFF"/>
                </a:solidFill>
                <a:latin typeface="Lucida Sans Unicode"/>
                <a:cs typeface="Lucida Sans Unicode"/>
              </a:rPr>
              <a:t>Σ</a:t>
            </a:r>
            <a:r>
              <a:rPr sz="1300" spc="3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00" spc="350" dirty="0">
                <a:solidFill>
                  <a:srgbClr val="FFFFFF"/>
                </a:solidFill>
                <a:latin typeface="Lucida Sans Unicode"/>
                <a:cs typeface="Lucida Sans Unicode"/>
              </a:rPr>
              <a:t>[</a:t>
            </a:r>
            <a:r>
              <a:rPr sz="1300" spc="3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00" spc="215" dirty="0">
                <a:solidFill>
                  <a:srgbClr val="FFFFFF"/>
                </a:solidFill>
                <a:latin typeface="Lucida Sans Unicode"/>
                <a:cs typeface="Lucida Sans Unicode"/>
              </a:rPr>
              <a:t>dist(e)</a:t>
            </a:r>
            <a:r>
              <a:rPr sz="1300" spc="3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00" spc="-260" dirty="0">
                <a:solidFill>
                  <a:srgbClr val="FFFFFF"/>
                </a:solidFill>
                <a:latin typeface="Lucida Sans Unicode"/>
                <a:cs typeface="Lucida Sans Unicode"/>
              </a:rPr>
              <a:t>+</a:t>
            </a:r>
            <a:r>
              <a:rPr sz="1300" spc="3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FFFFFF"/>
                </a:solidFill>
                <a:latin typeface="Lucida Sans Unicode"/>
                <a:cs typeface="Lucida Sans Unicode"/>
              </a:rPr>
              <a:t>λ</a:t>
            </a:r>
            <a:r>
              <a:rPr sz="1300" spc="3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FFFFFF"/>
                </a:solidFill>
                <a:latin typeface="Lucida Sans Unicode"/>
                <a:cs typeface="Lucida Sans Unicode"/>
              </a:rPr>
              <a:t>·</a:t>
            </a:r>
            <a:r>
              <a:rPr sz="1300" spc="3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00" spc="155" dirty="0">
                <a:solidFill>
                  <a:srgbClr val="FFFFFF"/>
                </a:solidFill>
                <a:latin typeface="Lucida Sans Unicode"/>
                <a:cs typeface="Lucida Sans Unicode"/>
              </a:rPr>
              <a:t>penalty(e)</a:t>
            </a:r>
            <a:r>
              <a:rPr sz="1300" spc="3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00" spc="300" dirty="0">
                <a:solidFill>
                  <a:srgbClr val="FFFFFF"/>
                </a:solidFill>
                <a:latin typeface="Lucida Sans Unicode"/>
                <a:cs typeface="Lucida Sans Unicode"/>
              </a:rPr>
              <a:t>]</a:t>
            </a:r>
            <a:endParaRPr sz="13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708804" y="1243077"/>
            <a:ext cx="4023360" cy="585470"/>
          </a:xfrm>
          <a:custGeom>
            <a:avLst/>
            <a:gdLst/>
            <a:ahLst/>
            <a:cxnLst/>
            <a:rect l="l" t="t" r="r" b="b"/>
            <a:pathLst>
              <a:path w="4023359" h="585469">
                <a:moveTo>
                  <a:pt x="4022991" y="0"/>
                </a:moveTo>
                <a:lnTo>
                  <a:pt x="0" y="0"/>
                </a:lnTo>
                <a:lnTo>
                  <a:pt x="0" y="585000"/>
                </a:lnTo>
                <a:lnTo>
                  <a:pt x="2011680" y="585000"/>
                </a:lnTo>
                <a:lnTo>
                  <a:pt x="4022991" y="585000"/>
                </a:lnTo>
                <a:lnTo>
                  <a:pt x="4022991" y="0"/>
                </a:lnTo>
                <a:close/>
              </a:path>
            </a:pathLst>
          </a:custGeom>
          <a:solidFill>
            <a:srgbClr val="0E16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708804" y="1243077"/>
            <a:ext cx="4023360" cy="585470"/>
          </a:xfrm>
          <a:prstGeom prst="rect">
            <a:avLst/>
          </a:prstGeom>
          <a:ln w="19079">
            <a:solidFill>
              <a:srgbClr val="F49D0A"/>
            </a:solidFill>
          </a:ln>
        </p:spPr>
        <p:txBody>
          <a:bodyPr vert="horz" wrap="square" lIns="0" tIns="81280" rIns="0" bIns="0" rtlCol="0">
            <a:spAutoFit/>
          </a:bodyPr>
          <a:lstStyle/>
          <a:p>
            <a:pPr marL="118745" marR="1227455">
              <a:lnSpc>
                <a:spcPct val="100000"/>
              </a:lnSpc>
              <a:spcBef>
                <a:spcPts val="640"/>
              </a:spcBef>
            </a:pPr>
            <a:r>
              <a:rPr sz="1300" spc="254" dirty="0">
                <a:solidFill>
                  <a:srgbClr val="F49D0A"/>
                </a:solidFill>
                <a:latin typeface="Lucida Sans Unicode"/>
                <a:cs typeface="Lucida Sans Unicode"/>
              </a:rPr>
              <a:t>utility(e)</a:t>
            </a:r>
            <a:r>
              <a:rPr sz="1300" spc="375" dirty="0">
                <a:solidFill>
                  <a:srgbClr val="F49D0A"/>
                </a:solidFill>
                <a:latin typeface="Lucida Sans Unicode"/>
                <a:cs typeface="Lucida Sans Unicode"/>
              </a:rPr>
              <a:t> </a:t>
            </a:r>
            <a:r>
              <a:rPr sz="1300" spc="-260" dirty="0">
                <a:solidFill>
                  <a:srgbClr val="F49D0A"/>
                </a:solidFill>
                <a:latin typeface="Lucida Sans Unicode"/>
                <a:cs typeface="Lucida Sans Unicode"/>
              </a:rPr>
              <a:t>=</a:t>
            </a:r>
            <a:r>
              <a:rPr sz="1300" spc="375" dirty="0">
                <a:solidFill>
                  <a:srgbClr val="F49D0A"/>
                </a:solidFill>
                <a:latin typeface="Lucida Sans Unicode"/>
                <a:cs typeface="Lucida Sans Unicode"/>
              </a:rPr>
              <a:t> </a:t>
            </a:r>
            <a:r>
              <a:rPr sz="1300" spc="210" dirty="0">
                <a:solidFill>
                  <a:srgbClr val="F49D0A"/>
                </a:solidFill>
                <a:latin typeface="Lucida Sans Unicode"/>
                <a:cs typeface="Lucida Sans Unicode"/>
              </a:rPr>
              <a:t>dist(e)</a:t>
            </a:r>
            <a:r>
              <a:rPr sz="1300" spc="375" dirty="0">
                <a:solidFill>
                  <a:srgbClr val="F49D0A"/>
                </a:solidFill>
                <a:latin typeface="Lucida Sans Unicode"/>
                <a:cs typeface="Lucida Sans Unicode"/>
              </a:rPr>
              <a:t> </a:t>
            </a:r>
            <a:r>
              <a:rPr sz="1300" spc="85" dirty="0">
                <a:solidFill>
                  <a:srgbClr val="F49D0A"/>
                </a:solidFill>
                <a:latin typeface="Lucida Sans Unicode"/>
                <a:cs typeface="Lucida Sans Unicode"/>
              </a:rPr>
              <a:t>/</a:t>
            </a:r>
            <a:r>
              <a:rPr sz="1300" spc="375" dirty="0">
                <a:solidFill>
                  <a:srgbClr val="F49D0A"/>
                </a:solidFill>
                <a:latin typeface="Lucida Sans Unicode"/>
                <a:cs typeface="Lucida Sans Unicode"/>
              </a:rPr>
              <a:t> </a:t>
            </a:r>
            <a:r>
              <a:rPr sz="1300" spc="145" dirty="0">
                <a:solidFill>
                  <a:srgbClr val="F49D0A"/>
                </a:solidFill>
                <a:latin typeface="Lucida Sans Unicode"/>
                <a:cs typeface="Lucida Sans Unicode"/>
              </a:rPr>
              <a:t>(1</a:t>
            </a:r>
            <a:r>
              <a:rPr sz="1300" spc="375" dirty="0">
                <a:solidFill>
                  <a:srgbClr val="F49D0A"/>
                </a:solidFill>
                <a:latin typeface="Lucida Sans Unicode"/>
                <a:cs typeface="Lucida Sans Unicode"/>
              </a:rPr>
              <a:t> </a:t>
            </a:r>
            <a:r>
              <a:rPr sz="1300" spc="-310" dirty="0">
                <a:solidFill>
                  <a:srgbClr val="F49D0A"/>
                </a:solidFill>
                <a:latin typeface="Lucida Sans Unicode"/>
                <a:cs typeface="Lucida Sans Unicode"/>
              </a:rPr>
              <a:t>+</a:t>
            </a:r>
            <a:r>
              <a:rPr sz="1300" spc="160" dirty="0">
                <a:solidFill>
                  <a:srgbClr val="F49D0A"/>
                </a:solidFill>
                <a:latin typeface="Lucida Sans Unicode"/>
                <a:cs typeface="Lucida Sans Unicode"/>
              </a:rPr>
              <a:t> penalty(e))</a:t>
            </a:r>
            <a:endParaRPr sz="1300">
              <a:latin typeface="Lucida Sans Unicode"/>
              <a:cs typeface="Lucida Sans Unicode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04824" y="1913942"/>
            <a:ext cx="5041900" cy="2957195"/>
            <a:chOff x="404824" y="1913942"/>
            <a:chExt cx="5041900" cy="2957195"/>
          </a:xfrm>
        </p:grpSpPr>
        <p:sp>
          <p:nvSpPr>
            <p:cNvPr id="9" name="object 9"/>
            <p:cNvSpPr/>
            <p:nvPr/>
          </p:nvSpPr>
          <p:spPr>
            <a:xfrm>
              <a:off x="411124" y="1920241"/>
              <a:ext cx="5029200" cy="2944495"/>
            </a:xfrm>
            <a:custGeom>
              <a:avLst/>
              <a:gdLst/>
              <a:ahLst/>
              <a:cxnLst/>
              <a:rect l="l" t="t" r="r" b="b"/>
              <a:pathLst>
                <a:path w="5029200" h="2944495">
                  <a:moveTo>
                    <a:pt x="5028831" y="0"/>
                  </a:moveTo>
                  <a:lnTo>
                    <a:pt x="0" y="0"/>
                  </a:lnTo>
                  <a:lnTo>
                    <a:pt x="0" y="2944075"/>
                  </a:lnTo>
                  <a:lnTo>
                    <a:pt x="2514600" y="2944075"/>
                  </a:lnTo>
                  <a:lnTo>
                    <a:pt x="5028831" y="2944075"/>
                  </a:lnTo>
                  <a:lnTo>
                    <a:pt x="5028831" y="0"/>
                  </a:lnTo>
                  <a:close/>
                </a:path>
              </a:pathLst>
            </a:custGeom>
            <a:solidFill>
              <a:srgbClr val="1D28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11124" y="1920241"/>
              <a:ext cx="5029200" cy="2944495"/>
            </a:xfrm>
            <a:custGeom>
              <a:avLst/>
              <a:gdLst/>
              <a:ahLst/>
              <a:cxnLst/>
              <a:rect l="l" t="t" r="r" b="b"/>
              <a:pathLst>
                <a:path w="5029200" h="2944495">
                  <a:moveTo>
                    <a:pt x="2514600" y="2944075"/>
                  </a:moveTo>
                  <a:lnTo>
                    <a:pt x="0" y="2944075"/>
                  </a:lnTo>
                  <a:lnTo>
                    <a:pt x="0" y="0"/>
                  </a:lnTo>
                  <a:lnTo>
                    <a:pt x="5028831" y="0"/>
                  </a:lnTo>
                  <a:lnTo>
                    <a:pt x="5028831" y="2944075"/>
                  </a:lnTo>
                  <a:lnTo>
                    <a:pt x="2514600" y="2944075"/>
                  </a:lnTo>
                  <a:close/>
                </a:path>
              </a:pathLst>
            </a:custGeom>
            <a:ln w="12599">
              <a:solidFill>
                <a:srgbClr val="0D94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08215" y="1980625"/>
            <a:ext cx="3524885" cy="624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0" marR="5080" indent="-159385">
              <a:lnSpc>
                <a:spcPct val="124900"/>
              </a:lnSpc>
              <a:spcBef>
                <a:spcPts val="100"/>
              </a:spcBef>
              <a:tabLst>
                <a:tab pos="2557145" algn="l"/>
              </a:tabLst>
            </a:pPr>
            <a:r>
              <a:rPr sz="1050" spc="145" dirty="0">
                <a:solidFill>
                  <a:srgbClr val="13B8A6"/>
                </a:solidFill>
                <a:latin typeface="Lucida Sans Unicode"/>
                <a:cs typeface="Lucida Sans Unicode"/>
              </a:rPr>
              <a:t>GLS(cities,</a:t>
            </a:r>
            <a:r>
              <a:rPr sz="1050" spc="310" dirty="0">
                <a:solidFill>
                  <a:srgbClr val="13B8A6"/>
                </a:solidFill>
                <a:latin typeface="Lucida Sans Unicode"/>
                <a:cs typeface="Lucida Sans Unicode"/>
              </a:rPr>
              <a:t> </a:t>
            </a:r>
            <a:r>
              <a:rPr sz="1050" spc="55" dirty="0">
                <a:solidFill>
                  <a:srgbClr val="13B8A6"/>
                </a:solidFill>
                <a:latin typeface="Lucida Sans Unicode"/>
                <a:cs typeface="Lucida Sans Unicode"/>
              </a:rPr>
              <a:t>n_rounds,</a:t>
            </a:r>
            <a:r>
              <a:rPr sz="1050" spc="315" dirty="0">
                <a:solidFill>
                  <a:srgbClr val="13B8A6"/>
                </a:solidFill>
                <a:latin typeface="Lucida Sans Unicode"/>
                <a:cs typeface="Lucida Sans Unicode"/>
              </a:rPr>
              <a:t> </a:t>
            </a:r>
            <a:r>
              <a:rPr sz="1050" spc="45" dirty="0">
                <a:solidFill>
                  <a:srgbClr val="13B8A6"/>
                </a:solidFill>
                <a:latin typeface="Lucida Sans Unicode"/>
                <a:cs typeface="Lucida Sans Unicode"/>
              </a:rPr>
              <a:t>swaps_per_round,</a:t>
            </a:r>
            <a:r>
              <a:rPr sz="1050" spc="310" dirty="0">
                <a:solidFill>
                  <a:srgbClr val="13B8A6"/>
                </a:solidFill>
                <a:latin typeface="Lucida Sans Unicode"/>
                <a:cs typeface="Lucida Sans Unicode"/>
              </a:rPr>
              <a:t> </a:t>
            </a:r>
            <a:r>
              <a:rPr sz="1050" spc="165" dirty="0">
                <a:solidFill>
                  <a:srgbClr val="13B8A6"/>
                </a:solidFill>
                <a:latin typeface="Lucida Sans Unicode"/>
                <a:cs typeface="Lucida Sans Unicode"/>
              </a:rPr>
              <a:t>λ):  </a:t>
            </a:r>
            <a:r>
              <a:rPr sz="1050" dirty="0">
                <a:solidFill>
                  <a:srgbClr val="E1E8F0"/>
                </a:solidFill>
                <a:latin typeface="Lucida Sans Unicode"/>
                <a:cs typeface="Lucida Sans Unicode"/>
              </a:rPr>
              <a:t>D</a:t>
            </a:r>
            <a:r>
              <a:rPr sz="1050" spc="240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1050" spc="-370" dirty="0">
                <a:solidFill>
                  <a:srgbClr val="E1E8F0"/>
                </a:solidFill>
                <a:latin typeface="Lucida Sans Unicode"/>
                <a:cs typeface="Lucida Sans Unicode"/>
              </a:rPr>
              <a:t>←</a:t>
            </a:r>
            <a:r>
              <a:rPr sz="1050" spc="285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1050" spc="95" dirty="0">
                <a:solidFill>
                  <a:srgbClr val="E1E8F0"/>
                </a:solidFill>
                <a:latin typeface="Lucida Sans Unicode"/>
                <a:cs typeface="Lucida Sans Unicode"/>
              </a:rPr>
              <a:t>pairwise</a:t>
            </a:r>
            <a:r>
              <a:rPr sz="1050" spc="265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1050" spc="90" dirty="0">
                <a:solidFill>
                  <a:srgbClr val="E1E8F0"/>
                </a:solidFill>
                <a:latin typeface="Lucida Sans Unicode"/>
                <a:cs typeface="Lucida Sans Unicode"/>
              </a:rPr>
              <a:t>distance</a:t>
            </a:r>
            <a:r>
              <a:rPr sz="1050" spc="265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1050" spc="60" dirty="0">
                <a:solidFill>
                  <a:srgbClr val="E1E8F0"/>
                </a:solidFill>
                <a:latin typeface="Lucida Sans Unicode"/>
                <a:cs typeface="Lucida Sans Unicode"/>
              </a:rPr>
              <a:t>matrix</a:t>
            </a:r>
            <a:r>
              <a:rPr sz="1050" dirty="0">
                <a:solidFill>
                  <a:srgbClr val="E1E8F0"/>
                </a:solidFill>
                <a:latin typeface="Lucida Sans Unicode"/>
                <a:cs typeface="Lucida Sans Unicode"/>
              </a:rPr>
              <a:t>	#</a:t>
            </a:r>
            <a:r>
              <a:rPr sz="1050" spc="275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1050" spc="105" dirty="0">
                <a:solidFill>
                  <a:srgbClr val="E1E8F0"/>
                </a:solidFill>
                <a:latin typeface="Lucida Sans Unicode"/>
                <a:cs typeface="Lucida Sans Unicode"/>
              </a:rPr>
              <a:t>O(n²)</a:t>
            </a:r>
            <a:r>
              <a:rPr sz="1050" spc="280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1050" spc="-20" dirty="0">
                <a:solidFill>
                  <a:srgbClr val="E1E8F0"/>
                </a:solidFill>
                <a:latin typeface="Lucida Sans Unicode"/>
                <a:cs typeface="Lucida Sans Unicode"/>
              </a:rPr>
              <a:t>once </a:t>
            </a:r>
            <a:r>
              <a:rPr sz="1050" spc="180" dirty="0">
                <a:solidFill>
                  <a:srgbClr val="E1E8F0"/>
                </a:solidFill>
                <a:latin typeface="Lucida Sans Unicode"/>
                <a:cs typeface="Lucida Sans Unicode"/>
              </a:rPr>
              <a:t>pen[i,j]</a:t>
            </a:r>
            <a:r>
              <a:rPr sz="1050" spc="285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1050" spc="-370" dirty="0">
                <a:solidFill>
                  <a:srgbClr val="E1E8F0"/>
                </a:solidFill>
                <a:latin typeface="Lucida Sans Unicode"/>
                <a:cs typeface="Lucida Sans Unicode"/>
              </a:rPr>
              <a:t>←</a:t>
            </a:r>
            <a:r>
              <a:rPr sz="1050" spc="290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1050" dirty="0">
                <a:solidFill>
                  <a:srgbClr val="E1E8F0"/>
                </a:solidFill>
                <a:latin typeface="Lucida Sans Unicode"/>
                <a:cs typeface="Lucida Sans Unicode"/>
              </a:rPr>
              <a:t>0</a:t>
            </a:r>
            <a:r>
              <a:rPr sz="1050" spc="285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1050" spc="135" dirty="0">
                <a:solidFill>
                  <a:srgbClr val="E1E8F0"/>
                </a:solidFill>
                <a:latin typeface="Lucida Sans Unicode"/>
                <a:cs typeface="Lucida Sans Unicode"/>
              </a:rPr>
              <a:t>for</a:t>
            </a:r>
            <a:r>
              <a:rPr sz="1050" spc="290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1050" spc="229" dirty="0">
                <a:solidFill>
                  <a:srgbClr val="E1E8F0"/>
                </a:solidFill>
                <a:latin typeface="Lucida Sans Unicode"/>
                <a:cs typeface="Lucida Sans Unicode"/>
              </a:rPr>
              <a:t>all</a:t>
            </a:r>
            <a:r>
              <a:rPr sz="1050" spc="285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1050" spc="-20" dirty="0">
                <a:solidFill>
                  <a:srgbClr val="E1E8F0"/>
                </a:solidFill>
                <a:latin typeface="Lucida Sans Unicode"/>
                <a:cs typeface="Lucida Sans Unicode"/>
              </a:rPr>
              <a:t>edges</a:t>
            </a:r>
            <a:endParaRPr sz="105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67253" y="2580027"/>
            <a:ext cx="3684270" cy="1624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81965">
              <a:lnSpc>
                <a:spcPct val="124900"/>
              </a:lnSpc>
              <a:spcBef>
                <a:spcPts val="100"/>
              </a:spcBef>
            </a:pPr>
            <a:r>
              <a:rPr sz="1050" spc="90" dirty="0">
                <a:solidFill>
                  <a:srgbClr val="E1E8F0"/>
                </a:solidFill>
                <a:latin typeface="Lucida Sans Unicode"/>
                <a:cs typeface="Lucida Sans Unicode"/>
              </a:rPr>
              <a:t>tour</a:t>
            </a:r>
            <a:r>
              <a:rPr sz="1050" spc="300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1050" spc="-370" dirty="0">
                <a:solidFill>
                  <a:srgbClr val="E1E8F0"/>
                </a:solidFill>
                <a:latin typeface="Lucida Sans Unicode"/>
                <a:cs typeface="Lucida Sans Unicode"/>
              </a:rPr>
              <a:t>←</a:t>
            </a:r>
            <a:r>
              <a:rPr sz="1050" spc="300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1050" spc="70" dirty="0">
                <a:solidFill>
                  <a:srgbClr val="E1E8F0"/>
                </a:solidFill>
                <a:latin typeface="Lucida Sans Unicode"/>
                <a:cs typeface="Lucida Sans Unicode"/>
              </a:rPr>
              <a:t>nearest_neighbor_tour(D) </a:t>
            </a:r>
            <a:r>
              <a:rPr sz="1050" spc="105" dirty="0">
                <a:solidFill>
                  <a:srgbClr val="E1E8F0"/>
                </a:solidFill>
                <a:latin typeface="Lucida Sans Unicode"/>
                <a:cs typeface="Lucida Sans Unicode"/>
              </a:rPr>
              <a:t>best_tour,</a:t>
            </a:r>
            <a:r>
              <a:rPr sz="1050" spc="305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1050" spc="90" dirty="0">
                <a:solidFill>
                  <a:srgbClr val="E1E8F0"/>
                </a:solidFill>
                <a:latin typeface="Lucida Sans Unicode"/>
                <a:cs typeface="Lucida Sans Unicode"/>
              </a:rPr>
              <a:t>best_len</a:t>
            </a:r>
            <a:r>
              <a:rPr sz="1050" spc="310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1050" spc="-370" dirty="0">
                <a:solidFill>
                  <a:srgbClr val="E1E8F0"/>
                </a:solidFill>
                <a:latin typeface="Lucida Sans Unicode"/>
                <a:cs typeface="Lucida Sans Unicode"/>
              </a:rPr>
              <a:t>←</a:t>
            </a:r>
            <a:r>
              <a:rPr sz="1050" spc="305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1050" spc="130" dirty="0">
                <a:solidFill>
                  <a:srgbClr val="E1E8F0"/>
                </a:solidFill>
                <a:latin typeface="Lucida Sans Unicode"/>
                <a:cs typeface="Lucida Sans Unicode"/>
              </a:rPr>
              <a:t>tour,</a:t>
            </a:r>
            <a:r>
              <a:rPr sz="1050" spc="310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1050" spc="110" dirty="0">
                <a:solidFill>
                  <a:srgbClr val="E1E8F0"/>
                </a:solidFill>
                <a:latin typeface="Lucida Sans Unicode"/>
                <a:cs typeface="Lucida Sans Unicode"/>
              </a:rPr>
              <a:t>length(tour) </a:t>
            </a:r>
            <a:r>
              <a:rPr sz="1050" spc="135" dirty="0">
                <a:solidFill>
                  <a:srgbClr val="E1E8F0"/>
                </a:solidFill>
                <a:latin typeface="Lucida Sans Unicode"/>
                <a:cs typeface="Lucida Sans Unicode"/>
              </a:rPr>
              <a:t>for</a:t>
            </a:r>
            <a:r>
              <a:rPr sz="1050" spc="290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1050" spc="200" dirty="0">
                <a:solidFill>
                  <a:srgbClr val="E1E8F0"/>
                </a:solidFill>
                <a:latin typeface="Lucida Sans Unicode"/>
                <a:cs typeface="Lucida Sans Unicode"/>
              </a:rPr>
              <a:t>r</a:t>
            </a:r>
            <a:r>
              <a:rPr sz="1050" spc="295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1050" spc="145" dirty="0">
                <a:solidFill>
                  <a:srgbClr val="E1E8F0"/>
                </a:solidFill>
                <a:latin typeface="Lucida Sans Unicode"/>
                <a:cs typeface="Lucida Sans Unicode"/>
              </a:rPr>
              <a:t>in</a:t>
            </a:r>
            <a:r>
              <a:rPr sz="1050" spc="295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1050" spc="75" dirty="0">
                <a:solidFill>
                  <a:srgbClr val="E1E8F0"/>
                </a:solidFill>
                <a:latin typeface="Lucida Sans Unicode"/>
                <a:cs typeface="Lucida Sans Unicode"/>
              </a:rPr>
              <a:t>1..n_rounds:</a:t>
            </a:r>
            <a:endParaRPr sz="1050">
              <a:latin typeface="Lucida Sans Unicode"/>
              <a:cs typeface="Lucida Sans Unicode"/>
            </a:endParaRPr>
          </a:p>
          <a:p>
            <a:pPr marL="330200" marR="1276985" indent="-159385">
              <a:lnSpc>
                <a:spcPct val="124900"/>
              </a:lnSpc>
            </a:pPr>
            <a:r>
              <a:rPr sz="1050" spc="135" dirty="0">
                <a:solidFill>
                  <a:srgbClr val="E1E8F0"/>
                </a:solidFill>
                <a:latin typeface="Lucida Sans Unicode"/>
                <a:cs typeface="Lucida Sans Unicode"/>
              </a:rPr>
              <a:t>for</a:t>
            </a:r>
            <a:r>
              <a:rPr sz="1050" spc="290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1050" spc="95" dirty="0">
                <a:solidFill>
                  <a:srgbClr val="E1E8F0"/>
                </a:solidFill>
                <a:latin typeface="Lucida Sans Unicode"/>
                <a:cs typeface="Lucida Sans Unicode"/>
              </a:rPr>
              <a:t>_</a:t>
            </a:r>
            <a:r>
              <a:rPr sz="1050" spc="295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1050" spc="145" dirty="0">
                <a:solidFill>
                  <a:srgbClr val="E1E8F0"/>
                </a:solidFill>
                <a:latin typeface="Lucida Sans Unicode"/>
                <a:cs typeface="Lucida Sans Unicode"/>
              </a:rPr>
              <a:t>in</a:t>
            </a:r>
            <a:r>
              <a:rPr sz="1050" spc="295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1050" spc="55" dirty="0">
                <a:solidFill>
                  <a:srgbClr val="E1E8F0"/>
                </a:solidFill>
                <a:latin typeface="Lucida Sans Unicode"/>
                <a:cs typeface="Lucida Sans Unicode"/>
              </a:rPr>
              <a:t>1..swaps_per_round: </a:t>
            </a:r>
            <a:r>
              <a:rPr sz="1050" spc="295" dirty="0">
                <a:solidFill>
                  <a:srgbClr val="E1E8F0"/>
                </a:solidFill>
                <a:latin typeface="Lucida Sans Unicode"/>
                <a:cs typeface="Lucida Sans Unicode"/>
              </a:rPr>
              <a:t>(i,j)</a:t>
            </a:r>
            <a:r>
              <a:rPr sz="1050" spc="290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1050" spc="-370" dirty="0">
                <a:solidFill>
                  <a:srgbClr val="E1E8F0"/>
                </a:solidFill>
                <a:latin typeface="Lucida Sans Unicode"/>
                <a:cs typeface="Lucida Sans Unicode"/>
              </a:rPr>
              <a:t>←</a:t>
            </a:r>
            <a:r>
              <a:rPr sz="1050" spc="295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1050" spc="65" dirty="0">
                <a:solidFill>
                  <a:srgbClr val="E1E8F0"/>
                </a:solidFill>
                <a:latin typeface="Lucida Sans Unicode"/>
                <a:cs typeface="Lucida Sans Unicode"/>
              </a:rPr>
              <a:t>random_pair()</a:t>
            </a:r>
            <a:endParaRPr sz="1050">
              <a:latin typeface="Lucida Sans Unicode"/>
              <a:cs typeface="Lucida Sans Unicode"/>
            </a:endParaRPr>
          </a:p>
          <a:p>
            <a:pPr marL="330200" marR="5080">
              <a:lnSpc>
                <a:spcPct val="124900"/>
              </a:lnSpc>
            </a:pPr>
            <a:r>
              <a:rPr sz="1050" dirty="0">
                <a:solidFill>
                  <a:srgbClr val="E1E8F0"/>
                </a:solidFill>
                <a:latin typeface="Lucida Sans Unicode"/>
                <a:cs typeface="Lucida Sans Unicode"/>
              </a:rPr>
              <a:t>Δaug</a:t>
            </a:r>
            <a:r>
              <a:rPr sz="1050" spc="225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1050" spc="-370" dirty="0">
                <a:solidFill>
                  <a:srgbClr val="E1E8F0"/>
                </a:solidFill>
                <a:latin typeface="Lucida Sans Unicode"/>
                <a:cs typeface="Lucida Sans Unicode"/>
              </a:rPr>
              <a:t>←</a:t>
            </a:r>
            <a:r>
              <a:rPr sz="1050" spc="290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1050" spc="120" dirty="0">
                <a:solidFill>
                  <a:srgbClr val="E1E8F0"/>
                </a:solidFill>
                <a:latin typeface="Lucida Sans Unicode"/>
                <a:cs typeface="Lucida Sans Unicode"/>
              </a:rPr>
              <a:t>swap_delta(D,pen,tour,i,j,λ)</a:t>
            </a:r>
            <a:r>
              <a:rPr sz="1050" spc="254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1050" dirty="0">
                <a:solidFill>
                  <a:srgbClr val="E1E8F0"/>
                </a:solidFill>
                <a:latin typeface="Lucida Sans Unicode"/>
                <a:cs typeface="Lucida Sans Unicode"/>
              </a:rPr>
              <a:t>#</a:t>
            </a:r>
            <a:r>
              <a:rPr sz="1050" spc="260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1050" spc="65" dirty="0">
                <a:solidFill>
                  <a:srgbClr val="E1E8F0"/>
                </a:solidFill>
                <a:latin typeface="Lucida Sans Unicode"/>
                <a:cs typeface="Lucida Sans Unicode"/>
              </a:rPr>
              <a:t>O(1) </a:t>
            </a:r>
            <a:r>
              <a:rPr sz="1050" spc="280" dirty="0">
                <a:solidFill>
                  <a:srgbClr val="E1E8F0"/>
                </a:solidFill>
                <a:latin typeface="Lucida Sans Unicode"/>
                <a:cs typeface="Lucida Sans Unicode"/>
              </a:rPr>
              <a:t>if</a:t>
            </a:r>
            <a:r>
              <a:rPr sz="1050" spc="225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1050" dirty="0">
                <a:solidFill>
                  <a:srgbClr val="E1E8F0"/>
                </a:solidFill>
                <a:latin typeface="Lucida Sans Unicode"/>
                <a:cs typeface="Lucida Sans Unicode"/>
              </a:rPr>
              <a:t>Δaug</a:t>
            </a:r>
            <a:r>
              <a:rPr sz="1050" spc="229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1050" dirty="0">
                <a:solidFill>
                  <a:srgbClr val="E1E8F0"/>
                </a:solidFill>
                <a:latin typeface="Lucida Sans Unicode"/>
                <a:cs typeface="Lucida Sans Unicode"/>
              </a:rPr>
              <a:t>&lt;</a:t>
            </a:r>
            <a:r>
              <a:rPr sz="1050" spc="225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1050" spc="125" dirty="0">
                <a:solidFill>
                  <a:srgbClr val="E1E8F0"/>
                </a:solidFill>
                <a:latin typeface="Lucida Sans Unicode"/>
                <a:cs typeface="Lucida Sans Unicode"/>
              </a:rPr>
              <a:t>0:</a:t>
            </a:r>
            <a:r>
              <a:rPr sz="1050" spc="229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1050" spc="70" dirty="0">
                <a:solidFill>
                  <a:srgbClr val="E1E8F0"/>
                </a:solidFill>
                <a:latin typeface="Lucida Sans Unicode"/>
                <a:cs typeface="Lucida Sans Unicode"/>
              </a:rPr>
              <a:t>apply</a:t>
            </a:r>
            <a:r>
              <a:rPr sz="1050" spc="225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1050" spc="-20" dirty="0">
                <a:solidFill>
                  <a:srgbClr val="E1E8F0"/>
                </a:solidFill>
                <a:latin typeface="Lucida Sans Unicode"/>
                <a:cs typeface="Lucida Sans Unicode"/>
              </a:rPr>
              <a:t>swap</a:t>
            </a:r>
            <a:endParaRPr sz="1050">
              <a:latin typeface="Lucida Sans Unicode"/>
              <a:cs typeface="Lucida Sans Unicode"/>
            </a:endParaRPr>
          </a:p>
          <a:p>
            <a:pPr marL="171450">
              <a:lnSpc>
                <a:spcPct val="100000"/>
              </a:lnSpc>
              <a:spcBef>
                <a:spcPts val="310"/>
              </a:spcBef>
            </a:pPr>
            <a:r>
              <a:rPr sz="1050" spc="280" dirty="0">
                <a:solidFill>
                  <a:srgbClr val="E1E8F0"/>
                </a:solidFill>
                <a:latin typeface="Lucida Sans Unicode"/>
                <a:cs typeface="Lucida Sans Unicode"/>
              </a:rPr>
              <a:t>if</a:t>
            </a:r>
            <a:r>
              <a:rPr sz="1050" spc="254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1050" spc="114" dirty="0">
                <a:solidFill>
                  <a:srgbClr val="E1E8F0"/>
                </a:solidFill>
                <a:latin typeface="Lucida Sans Unicode"/>
                <a:cs typeface="Lucida Sans Unicode"/>
              </a:rPr>
              <a:t>true_length(tour)</a:t>
            </a:r>
            <a:r>
              <a:rPr sz="1050" spc="254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1050" dirty="0">
                <a:solidFill>
                  <a:srgbClr val="E1E8F0"/>
                </a:solidFill>
                <a:latin typeface="Lucida Sans Unicode"/>
                <a:cs typeface="Lucida Sans Unicode"/>
              </a:rPr>
              <a:t>&lt;</a:t>
            </a:r>
            <a:r>
              <a:rPr sz="1050" spc="254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1050" spc="110" dirty="0">
                <a:solidFill>
                  <a:srgbClr val="E1E8F0"/>
                </a:solidFill>
                <a:latin typeface="Lucida Sans Unicode"/>
                <a:cs typeface="Lucida Sans Unicode"/>
              </a:rPr>
              <a:t>best_len:</a:t>
            </a:r>
            <a:r>
              <a:rPr sz="1050" spc="254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1050" spc="-10" dirty="0">
                <a:solidFill>
                  <a:srgbClr val="E1E8F0"/>
                </a:solidFill>
                <a:latin typeface="Lucida Sans Unicode"/>
                <a:cs typeface="Lucida Sans Unicode"/>
              </a:rPr>
              <a:t>update</a:t>
            </a:r>
            <a:endParaRPr sz="105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50417" y="4218383"/>
            <a:ext cx="582930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spc="145" dirty="0">
                <a:solidFill>
                  <a:srgbClr val="E1E8F0"/>
                </a:solidFill>
                <a:latin typeface="Lucida Sans Unicode"/>
                <a:cs typeface="Lucida Sans Unicode"/>
              </a:rPr>
              <a:t>in</a:t>
            </a:r>
            <a:r>
              <a:rPr sz="1050" spc="295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1050" spc="70" dirty="0">
                <a:solidFill>
                  <a:srgbClr val="E1E8F0"/>
                </a:solidFill>
                <a:latin typeface="Lucida Sans Unicode"/>
                <a:cs typeface="Lucida Sans Unicode"/>
              </a:rPr>
              <a:t>tour</a:t>
            </a:r>
            <a:endParaRPr sz="105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7253" y="4178424"/>
            <a:ext cx="2650490" cy="624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0" marR="5080">
              <a:lnSpc>
                <a:spcPct val="124900"/>
              </a:lnSpc>
              <a:spcBef>
                <a:spcPts val="100"/>
              </a:spcBef>
              <a:tabLst>
                <a:tab pos="1205230" algn="l"/>
              </a:tabLst>
            </a:pPr>
            <a:r>
              <a:rPr sz="1050" spc="80" dirty="0">
                <a:solidFill>
                  <a:srgbClr val="E1E8F0"/>
                </a:solidFill>
                <a:latin typeface="Lucida Sans Unicode"/>
                <a:cs typeface="Lucida Sans Unicode"/>
              </a:rPr>
              <a:t>e*</a:t>
            </a:r>
            <a:r>
              <a:rPr sz="1050" spc="290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1050" spc="-370" dirty="0">
                <a:solidFill>
                  <a:srgbClr val="E1E8F0"/>
                </a:solidFill>
                <a:latin typeface="Lucida Sans Unicode"/>
                <a:cs typeface="Lucida Sans Unicode"/>
              </a:rPr>
              <a:t>←</a:t>
            </a:r>
            <a:r>
              <a:rPr sz="1050" spc="295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1050" spc="-10" dirty="0">
                <a:solidFill>
                  <a:srgbClr val="E1E8F0"/>
                </a:solidFill>
                <a:latin typeface="Lucida Sans Unicode"/>
                <a:cs typeface="Lucida Sans Unicode"/>
              </a:rPr>
              <a:t>argmax</a:t>
            </a:r>
            <a:r>
              <a:rPr sz="1050" dirty="0">
                <a:solidFill>
                  <a:srgbClr val="E1E8F0"/>
                </a:solidFill>
                <a:latin typeface="Lucida Sans Unicode"/>
                <a:cs typeface="Lucida Sans Unicode"/>
              </a:rPr>
              <a:t>	</a:t>
            </a:r>
            <a:r>
              <a:rPr sz="1050" spc="110" dirty="0">
                <a:solidFill>
                  <a:srgbClr val="E1E8F0"/>
                </a:solidFill>
                <a:latin typeface="Lucida Sans Unicode"/>
                <a:cs typeface="Lucida Sans Unicode"/>
              </a:rPr>
              <a:t>dist(e)/(1+pen(e)) </a:t>
            </a:r>
            <a:r>
              <a:rPr sz="1050" spc="95" dirty="0">
                <a:solidFill>
                  <a:srgbClr val="E1E8F0"/>
                </a:solidFill>
                <a:latin typeface="Lucida Sans Unicode"/>
                <a:cs typeface="Lucida Sans Unicode"/>
              </a:rPr>
              <a:t>pen[e*]</a:t>
            </a:r>
            <a:r>
              <a:rPr sz="1050" spc="200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1050" spc="-110" dirty="0">
                <a:solidFill>
                  <a:srgbClr val="E1E8F0"/>
                </a:solidFill>
                <a:latin typeface="Lucida Sans Unicode"/>
                <a:cs typeface="Lucida Sans Unicode"/>
              </a:rPr>
              <a:t>+=</a:t>
            </a:r>
            <a:r>
              <a:rPr sz="1050" spc="204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1050" spc="-50" dirty="0">
                <a:solidFill>
                  <a:srgbClr val="E1E8F0"/>
                </a:solidFill>
                <a:latin typeface="Lucida Sans Unicode"/>
                <a:cs typeface="Lucida Sans Unicode"/>
              </a:rPr>
              <a:t>1</a:t>
            </a:r>
            <a:endParaRPr sz="10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1050" spc="100" dirty="0">
                <a:solidFill>
                  <a:srgbClr val="E1E8F0"/>
                </a:solidFill>
                <a:latin typeface="Lucida Sans Unicode"/>
                <a:cs typeface="Lucida Sans Unicode"/>
              </a:rPr>
              <a:t>return</a:t>
            </a:r>
            <a:r>
              <a:rPr sz="1050" spc="300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1050" spc="75" dirty="0">
                <a:solidFill>
                  <a:srgbClr val="E1E8F0"/>
                </a:solidFill>
                <a:latin typeface="Lucida Sans Unicode"/>
                <a:cs typeface="Lucida Sans Unicode"/>
              </a:rPr>
              <a:t>best_tour</a:t>
            </a:r>
            <a:endParaRPr sz="105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565140" y="1968387"/>
            <a:ext cx="1837689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0E162A"/>
                </a:solidFill>
                <a:latin typeface="Meiryo UI"/>
                <a:cs typeface="Meiryo UI"/>
              </a:rPr>
              <a:t>Key</a:t>
            </a:r>
            <a:r>
              <a:rPr sz="1300" b="1" spc="90" dirty="0">
                <a:solidFill>
                  <a:srgbClr val="0E162A"/>
                </a:solidFill>
                <a:latin typeface="Meiryo UI"/>
                <a:cs typeface="Meiryo UI"/>
              </a:rPr>
              <a:t> </a:t>
            </a:r>
            <a:r>
              <a:rPr sz="1300" b="1" spc="50" dirty="0">
                <a:solidFill>
                  <a:srgbClr val="0E162A"/>
                </a:solidFill>
                <a:latin typeface="Meiryo UI"/>
                <a:cs typeface="Meiryo UI"/>
              </a:rPr>
              <a:t>Design</a:t>
            </a:r>
            <a:r>
              <a:rPr sz="1300" b="1" spc="90" dirty="0">
                <a:solidFill>
                  <a:srgbClr val="0E162A"/>
                </a:solidFill>
                <a:latin typeface="Meiryo UI"/>
                <a:cs typeface="Meiryo UI"/>
              </a:rPr>
              <a:t> </a:t>
            </a:r>
            <a:r>
              <a:rPr sz="1300" b="1" spc="35" dirty="0">
                <a:solidFill>
                  <a:srgbClr val="0E162A"/>
                </a:solidFill>
                <a:latin typeface="Meiryo UI"/>
                <a:cs typeface="Meiryo UI"/>
              </a:rPr>
              <a:t>Choices</a:t>
            </a:r>
            <a:endParaRPr sz="1300">
              <a:latin typeface="Meiryo UI"/>
              <a:cs typeface="Meiryo U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524918" y="2296073"/>
            <a:ext cx="3243580" cy="655320"/>
            <a:chOff x="5524918" y="2296073"/>
            <a:chExt cx="3243580" cy="655320"/>
          </a:xfrm>
        </p:grpSpPr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24918" y="2296073"/>
              <a:ext cx="3243237" cy="65520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577839" y="2331722"/>
              <a:ext cx="3154680" cy="567055"/>
            </a:xfrm>
            <a:custGeom>
              <a:avLst/>
              <a:gdLst/>
              <a:ahLst/>
              <a:cxnLst/>
              <a:rect l="l" t="t" r="r" b="b"/>
              <a:pathLst>
                <a:path w="3154679" h="567055">
                  <a:moveTo>
                    <a:pt x="3154324" y="0"/>
                  </a:moveTo>
                  <a:lnTo>
                    <a:pt x="0" y="0"/>
                  </a:lnTo>
                  <a:lnTo>
                    <a:pt x="0" y="566635"/>
                  </a:lnTo>
                  <a:lnTo>
                    <a:pt x="1577162" y="566635"/>
                  </a:lnTo>
                  <a:lnTo>
                    <a:pt x="3154324" y="566635"/>
                  </a:lnTo>
                  <a:lnTo>
                    <a:pt x="31543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577840" y="2331722"/>
            <a:ext cx="3154680" cy="567055"/>
          </a:xfrm>
          <a:prstGeom prst="rect">
            <a:avLst/>
          </a:prstGeom>
          <a:ln w="12599">
            <a:solidFill>
              <a:srgbClr val="0D9487"/>
            </a:solidFill>
          </a:ln>
        </p:spPr>
        <p:txBody>
          <a:bodyPr vert="horz" wrap="square" lIns="0" tIns="74930" rIns="0" bIns="0" rtlCol="0">
            <a:spAutoFit/>
          </a:bodyPr>
          <a:lstStyle/>
          <a:p>
            <a:pPr marL="127635">
              <a:lnSpc>
                <a:spcPct val="100000"/>
              </a:lnSpc>
              <a:spcBef>
                <a:spcPts val="590"/>
              </a:spcBef>
            </a:pPr>
            <a:r>
              <a:rPr sz="1050" b="1" dirty="0">
                <a:solidFill>
                  <a:srgbClr val="0D9487"/>
                </a:solidFill>
                <a:latin typeface="Meiryo UI"/>
                <a:cs typeface="Meiryo UI"/>
              </a:rPr>
              <a:t>O(1)</a:t>
            </a:r>
            <a:r>
              <a:rPr sz="1050" b="1" spc="65" dirty="0">
                <a:solidFill>
                  <a:srgbClr val="0D9487"/>
                </a:solidFill>
                <a:latin typeface="Meiryo UI"/>
                <a:cs typeface="Meiryo UI"/>
              </a:rPr>
              <a:t> </a:t>
            </a:r>
            <a:r>
              <a:rPr sz="1050" b="1" dirty="0">
                <a:solidFill>
                  <a:srgbClr val="0D9487"/>
                </a:solidFill>
                <a:latin typeface="Meiryo UI"/>
                <a:cs typeface="Meiryo UI"/>
              </a:rPr>
              <a:t>swap</a:t>
            </a:r>
            <a:r>
              <a:rPr sz="1050" b="1" spc="70" dirty="0">
                <a:solidFill>
                  <a:srgbClr val="0D9487"/>
                </a:solidFill>
                <a:latin typeface="Meiryo UI"/>
                <a:cs typeface="Meiryo UI"/>
              </a:rPr>
              <a:t> </a:t>
            </a:r>
            <a:r>
              <a:rPr sz="1050" b="1" spc="-20" dirty="0">
                <a:solidFill>
                  <a:srgbClr val="0D9487"/>
                </a:solidFill>
                <a:latin typeface="Meiryo UI"/>
                <a:cs typeface="Meiryo UI"/>
              </a:rPr>
              <a:t>delta</a:t>
            </a:r>
            <a:endParaRPr sz="1050">
              <a:latin typeface="Meiryo UI"/>
              <a:cs typeface="Meiryo UI"/>
            </a:endParaRPr>
          </a:p>
          <a:p>
            <a:pPr marL="127635">
              <a:lnSpc>
                <a:spcPct val="100000"/>
              </a:lnSpc>
              <a:spcBef>
                <a:spcPts val="785"/>
              </a:spcBef>
            </a:pPr>
            <a:r>
              <a:rPr sz="1000" dirty="0">
                <a:solidFill>
                  <a:srgbClr val="465469"/>
                </a:solidFill>
                <a:latin typeface="Calibri"/>
                <a:cs typeface="Calibri"/>
              </a:rPr>
              <a:t>Only</a:t>
            </a:r>
            <a:r>
              <a:rPr sz="100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465469"/>
                </a:solidFill>
                <a:latin typeface="Calibri"/>
                <a:cs typeface="Calibri"/>
              </a:rPr>
              <a:t>4</a:t>
            </a:r>
            <a:r>
              <a:rPr sz="100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465469"/>
                </a:solidFill>
                <a:latin typeface="Calibri"/>
                <a:cs typeface="Calibri"/>
              </a:rPr>
              <a:t>edges</a:t>
            </a:r>
            <a:r>
              <a:rPr sz="100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465469"/>
                </a:solidFill>
                <a:latin typeface="Calibri"/>
                <a:cs typeface="Calibri"/>
              </a:rPr>
              <a:t>change</a:t>
            </a:r>
            <a:r>
              <a:rPr sz="100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465469"/>
                </a:solidFill>
                <a:latin typeface="Calibri"/>
                <a:cs typeface="Calibri"/>
              </a:rPr>
              <a:t>—</a:t>
            </a:r>
            <a:r>
              <a:rPr sz="1000" spc="-3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465469"/>
                </a:solidFill>
                <a:latin typeface="Calibri"/>
                <a:cs typeface="Calibri"/>
              </a:rPr>
              <a:t>no</a:t>
            </a:r>
            <a:r>
              <a:rPr sz="1000" spc="-2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465469"/>
                </a:solidFill>
                <a:latin typeface="Calibri"/>
                <a:cs typeface="Calibri"/>
              </a:rPr>
              <a:t>full</a:t>
            </a:r>
            <a:r>
              <a:rPr sz="100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465469"/>
                </a:solidFill>
                <a:latin typeface="Calibri"/>
                <a:cs typeface="Calibri"/>
              </a:rPr>
              <a:t>re-evaluation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524918" y="2936153"/>
            <a:ext cx="3243580" cy="655320"/>
            <a:chOff x="5524918" y="2936153"/>
            <a:chExt cx="3243580" cy="655320"/>
          </a:xfrm>
        </p:grpSpPr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24918" y="2936153"/>
              <a:ext cx="3243237" cy="65520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577839" y="2971802"/>
              <a:ext cx="3154680" cy="567055"/>
            </a:xfrm>
            <a:custGeom>
              <a:avLst/>
              <a:gdLst/>
              <a:ahLst/>
              <a:cxnLst/>
              <a:rect l="l" t="t" r="r" b="b"/>
              <a:pathLst>
                <a:path w="3154679" h="567054">
                  <a:moveTo>
                    <a:pt x="3154324" y="0"/>
                  </a:moveTo>
                  <a:lnTo>
                    <a:pt x="0" y="0"/>
                  </a:lnTo>
                  <a:lnTo>
                    <a:pt x="0" y="566635"/>
                  </a:lnTo>
                  <a:lnTo>
                    <a:pt x="1577162" y="566635"/>
                  </a:lnTo>
                  <a:lnTo>
                    <a:pt x="3154324" y="566635"/>
                  </a:lnTo>
                  <a:lnTo>
                    <a:pt x="31543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577840" y="2971801"/>
            <a:ext cx="3154680" cy="567055"/>
          </a:xfrm>
          <a:prstGeom prst="rect">
            <a:avLst/>
          </a:prstGeom>
          <a:ln w="12599">
            <a:solidFill>
              <a:srgbClr val="0D9487"/>
            </a:solidFill>
          </a:ln>
        </p:spPr>
        <p:txBody>
          <a:bodyPr vert="horz" wrap="square" lIns="0" tIns="74930" rIns="0" bIns="0" rtlCol="0">
            <a:spAutoFit/>
          </a:bodyPr>
          <a:lstStyle/>
          <a:p>
            <a:pPr marL="127635">
              <a:lnSpc>
                <a:spcPct val="100000"/>
              </a:lnSpc>
              <a:spcBef>
                <a:spcPts val="590"/>
              </a:spcBef>
            </a:pPr>
            <a:r>
              <a:rPr sz="1050" b="1" dirty="0">
                <a:solidFill>
                  <a:srgbClr val="0D9487"/>
                </a:solidFill>
                <a:latin typeface="Meiryo UI"/>
                <a:cs typeface="Meiryo UI"/>
              </a:rPr>
              <a:t>NN</a:t>
            </a:r>
            <a:r>
              <a:rPr sz="1050" b="1" spc="130" dirty="0">
                <a:solidFill>
                  <a:srgbClr val="0D9487"/>
                </a:solidFill>
                <a:latin typeface="Meiryo UI"/>
                <a:cs typeface="Meiryo UI"/>
              </a:rPr>
              <a:t> </a:t>
            </a:r>
            <a:r>
              <a:rPr sz="1050" b="1" dirty="0">
                <a:solidFill>
                  <a:srgbClr val="0D9487"/>
                </a:solidFill>
                <a:latin typeface="Meiryo UI"/>
                <a:cs typeface="Meiryo UI"/>
              </a:rPr>
              <a:t>initial</a:t>
            </a:r>
            <a:r>
              <a:rPr sz="1050" b="1" spc="140" dirty="0">
                <a:solidFill>
                  <a:srgbClr val="0D9487"/>
                </a:solidFill>
                <a:latin typeface="Meiryo UI"/>
                <a:cs typeface="Meiryo UI"/>
              </a:rPr>
              <a:t> </a:t>
            </a:r>
            <a:r>
              <a:rPr sz="1050" b="1" spc="-20" dirty="0">
                <a:solidFill>
                  <a:srgbClr val="0D9487"/>
                </a:solidFill>
                <a:latin typeface="Meiryo UI"/>
                <a:cs typeface="Meiryo UI"/>
              </a:rPr>
              <a:t>tour</a:t>
            </a:r>
            <a:endParaRPr sz="1050">
              <a:latin typeface="Meiryo UI"/>
              <a:cs typeface="Meiryo UI"/>
            </a:endParaRPr>
          </a:p>
          <a:p>
            <a:pPr marL="127635">
              <a:lnSpc>
                <a:spcPct val="100000"/>
              </a:lnSpc>
              <a:spcBef>
                <a:spcPts val="785"/>
              </a:spcBef>
            </a:pPr>
            <a:r>
              <a:rPr sz="1000" dirty="0">
                <a:solidFill>
                  <a:srgbClr val="465469"/>
                </a:solidFill>
                <a:latin typeface="Calibri"/>
                <a:cs typeface="Calibri"/>
              </a:rPr>
              <a:t>Greedy</a:t>
            </a:r>
            <a:r>
              <a:rPr sz="1000" spc="-4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465469"/>
                </a:solidFill>
                <a:latin typeface="Calibri"/>
                <a:cs typeface="Calibri"/>
              </a:rPr>
              <a:t>start</a:t>
            </a:r>
            <a:r>
              <a:rPr sz="1000" spc="-4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465469"/>
                </a:solidFill>
                <a:latin typeface="Calibri"/>
                <a:cs typeface="Calibri"/>
              </a:rPr>
              <a:t>beats</a:t>
            </a:r>
            <a:r>
              <a:rPr sz="1000" spc="-4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465469"/>
                </a:solidFill>
                <a:latin typeface="Calibri"/>
                <a:cs typeface="Calibri"/>
              </a:rPr>
              <a:t>random</a:t>
            </a:r>
            <a:r>
              <a:rPr sz="1000" spc="-4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465469"/>
                </a:solidFill>
                <a:latin typeface="Calibri"/>
                <a:cs typeface="Calibri"/>
              </a:rPr>
              <a:t>by</a:t>
            </a:r>
            <a:r>
              <a:rPr sz="1000" spc="-4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00" spc="-20" dirty="0">
                <a:solidFill>
                  <a:srgbClr val="465469"/>
                </a:solidFill>
                <a:latin typeface="Calibri"/>
                <a:cs typeface="Calibri"/>
              </a:rPr>
              <a:t>~30%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524918" y="3576233"/>
            <a:ext cx="3243580" cy="655320"/>
            <a:chOff x="5524918" y="3576233"/>
            <a:chExt cx="3243580" cy="655320"/>
          </a:xfrm>
        </p:grpSpPr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24918" y="3576233"/>
              <a:ext cx="3243237" cy="655205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577839" y="3611882"/>
              <a:ext cx="3154680" cy="567055"/>
            </a:xfrm>
            <a:custGeom>
              <a:avLst/>
              <a:gdLst/>
              <a:ahLst/>
              <a:cxnLst/>
              <a:rect l="l" t="t" r="r" b="b"/>
              <a:pathLst>
                <a:path w="3154679" h="567054">
                  <a:moveTo>
                    <a:pt x="3154324" y="0"/>
                  </a:moveTo>
                  <a:lnTo>
                    <a:pt x="0" y="0"/>
                  </a:lnTo>
                  <a:lnTo>
                    <a:pt x="0" y="566635"/>
                  </a:lnTo>
                  <a:lnTo>
                    <a:pt x="1577162" y="566635"/>
                  </a:lnTo>
                  <a:lnTo>
                    <a:pt x="3154324" y="566635"/>
                  </a:lnTo>
                  <a:lnTo>
                    <a:pt x="31543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5577840" y="3611881"/>
            <a:ext cx="3154680" cy="567055"/>
          </a:xfrm>
          <a:prstGeom prst="rect">
            <a:avLst/>
          </a:prstGeom>
          <a:ln w="12599">
            <a:solidFill>
              <a:srgbClr val="0D9487"/>
            </a:solidFill>
          </a:ln>
        </p:spPr>
        <p:txBody>
          <a:bodyPr vert="horz" wrap="square" lIns="0" tIns="74930" rIns="0" bIns="0" rtlCol="0">
            <a:spAutoFit/>
          </a:bodyPr>
          <a:lstStyle/>
          <a:p>
            <a:pPr marL="127635">
              <a:lnSpc>
                <a:spcPct val="100000"/>
              </a:lnSpc>
              <a:spcBef>
                <a:spcPts val="590"/>
              </a:spcBef>
            </a:pPr>
            <a:r>
              <a:rPr sz="1050" b="1" dirty="0">
                <a:solidFill>
                  <a:srgbClr val="0D9487"/>
                </a:solidFill>
                <a:latin typeface="Meiryo UI"/>
                <a:cs typeface="Meiryo UI"/>
              </a:rPr>
              <a:t>λ</a:t>
            </a:r>
            <a:r>
              <a:rPr sz="1050" b="1" spc="20" dirty="0">
                <a:solidFill>
                  <a:srgbClr val="0D9487"/>
                </a:solidFill>
                <a:latin typeface="Meiryo UI"/>
                <a:cs typeface="Meiryo UI"/>
              </a:rPr>
              <a:t> </a:t>
            </a:r>
            <a:r>
              <a:rPr sz="1050" b="1" dirty="0">
                <a:solidFill>
                  <a:srgbClr val="0D9487"/>
                </a:solidFill>
                <a:latin typeface="Meiryo UI"/>
                <a:cs typeface="Meiryo UI"/>
              </a:rPr>
              <a:t>=</a:t>
            </a:r>
            <a:r>
              <a:rPr sz="1050" b="1" spc="20" dirty="0">
                <a:solidFill>
                  <a:srgbClr val="0D9487"/>
                </a:solidFill>
                <a:latin typeface="Meiryo UI"/>
                <a:cs typeface="Meiryo UI"/>
              </a:rPr>
              <a:t> </a:t>
            </a:r>
            <a:r>
              <a:rPr sz="1050" b="1" spc="-25" dirty="0">
                <a:solidFill>
                  <a:srgbClr val="0D9487"/>
                </a:solidFill>
                <a:latin typeface="Meiryo UI"/>
                <a:cs typeface="Meiryo UI"/>
              </a:rPr>
              <a:t>0.3</a:t>
            </a:r>
            <a:endParaRPr sz="1050">
              <a:latin typeface="Meiryo UI"/>
              <a:cs typeface="Meiryo UI"/>
            </a:endParaRPr>
          </a:p>
          <a:p>
            <a:pPr marL="127635">
              <a:lnSpc>
                <a:spcPct val="100000"/>
              </a:lnSpc>
              <a:spcBef>
                <a:spcPts val="785"/>
              </a:spcBef>
            </a:pPr>
            <a:r>
              <a:rPr sz="1000" dirty="0">
                <a:solidFill>
                  <a:srgbClr val="465469"/>
                </a:solidFill>
                <a:latin typeface="Calibri"/>
                <a:cs typeface="Calibri"/>
              </a:rPr>
              <a:t>Penalty</a:t>
            </a:r>
            <a:r>
              <a:rPr sz="1000" spc="-3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465469"/>
                </a:solidFill>
                <a:latin typeface="Calibri"/>
                <a:cs typeface="Calibri"/>
              </a:rPr>
              <a:t>weight:</a:t>
            </a:r>
            <a:r>
              <a:rPr sz="1000" spc="-3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465469"/>
                </a:solidFill>
                <a:latin typeface="Calibri"/>
                <a:cs typeface="Calibri"/>
              </a:rPr>
              <a:t>exploration</a:t>
            </a:r>
            <a:r>
              <a:rPr sz="1000" spc="-3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465469"/>
                </a:solidFill>
                <a:latin typeface="Calibri"/>
                <a:cs typeface="Calibri"/>
              </a:rPr>
              <a:t>vs.</a:t>
            </a:r>
            <a:r>
              <a:rPr sz="1000" spc="-3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465469"/>
                </a:solidFill>
                <a:latin typeface="Calibri"/>
                <a:cs typeface="Calibri"/>
              </a:rPr>
              <a:t>distance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524918" y="4216313"/>
            <a:ext cx="3243580" cy="655320"/>
            <a:chOff x="5524918" y="4216313"/>
            <a:chExt cx="3243580" cy="655320"/>
          </a:xfrm>
        </p:grpSpPr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24918" y="4216313"/>
              <a:ext cx="3243237" cy="655205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5577839" y="4251962"/>
              <a:ext cx="3154680" cy="567055"/>
            </a:xfrm>
            <a:custGeom>
              <a:avLst/>
              <a:gdLst/>
              <a:ahLst/>
              <a:cxnLst/>
              <a:rect l="l" t="t" r="r" b="b"/>
              <a:pathLst>
                <a:path w="3154679" h="567054">
                  <a:moveTo>
                    <a:pt x="3154324" y="0"/>
                  </a:moveTo>
                  <a:lnTo>
                    <a:pt x="0" y="0"/>
                  </a:lnTo>
                  <a:lnTo>
                    <a:pt x="0" y="566635"/>
                  </a:lnTo>
                  <a:lnTo>
                    <a:pt x="1577162" y="566635"/>
                  </a:lnTo>
                  <a:lnTo>
                    <a:pt x="3154324" y="566635"/>
                  </a:lnTo>
                  <a:lnTo>
                    <a:pt x="31543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5577840" y="4251962"/>
            <a:ext cx="3154680" cy="567055"/>
          </a:xfrm>
          <a:prstGeom prst="rect">
            <a:avLst/>
          </a:prstGeom>
          <a:ln w="12599">
            <a:solidFill>
              <a:srgbClr val="0D9487"/>
            </a:solidFill>
          </a:ln>
        </p:spPr>
        <p:txBody>
          <a:bodyPr vert="horz" wrap="square" lIns="0" tIns="74930" rIns="0" bIns="0" rtlCol="0">
            <a:spAutoFit/>
          </a:bodyPr>
          <a:lstStyle/>
          <a:p>
            <a:pPr marL="127635">
              <a:lnSpc>
                <a:spcPct val="100000"/>
              </a:lnSpc>
              <a:spcBef>
                <a:spcPts val="590"/>
              </a:spcBef>
            </a:pPr>
            <a:r>
              <a:rPr sz="1050" b="1" dirty="0">
                <a:solidFill>
                  <a:srgbClr val="0D9487"/>
                </a:solidFill>
                <a:latin typeface="Meiryo UI"/>
                <a:cs typeface="Meiryo UI"/>
              </a:rPr>
              <a:t>15r</a:t>
            </a:r>
            <a:r>
              <a:rPr sz="1050" b="1" spc="30" dirty="0">
                <a:solidFill>
                  <a:srgbClr val="0D9487"/>
                </a:solidFill>
                <a:latin typeface="Meiryo UI"/>
                <a:cs typeface="Meiryo UI"/>
              </a:rPr>
              <a:t> </a:t>
            </a:r>
            <a:r>
              <a:rPr sz="1050" b="1" dirty="0">
                <a:solidFill>
                  <a:srgbClr val="0D9487"/>
                </a:solidFill>
                <a:latin typeface="Meiryo UI"/>
                <a:cs typeface="Meiryo UI"/>
              </a:rPr>
              <a:t>×</a:t>
            </a:r>
            <a:r>
              <a:rPr sz="1050" b="1" spc="30" dirty="0">
                <a:solidFill>
                  <a:srgbClr val="0D9487"/>
                </a:solidFill>
                <a:latin typeface="Meiryo UI"/>
                <a:cs typeface="Meiryo UI"/>
              </a:rPr>
              <a:t> </a:t>
            </a:r>
            <a:r>
              <a:rPr sz="1050" b="1" spc="-20" dirty="0">
                <a:solidFill>
                  <a:srgbClr val="0D9487"/>
                </a:solidFill>
                <a:latin typeface="Meiryo UI"/>
                <a:cs typeface="Meiryo UI"/>
              </a:rPr>
              <a:t>500s</a:t>
            </a:r>
            <a:endParaRPr sz="1050">
              <a:latin typeface="Meiryo UI"/>
              <a:cs typeface="Meiryo UI"/>
            </a:endParaRPr>
          </a:p>
          <a:p>
            <a:pPr marL="127635">
              <a:lnSpc>
                <a:spcPct val="100000"/>
              </a:lnSpc>
              <a:spcBef>
                <a:spcPts val="785"/>
              </a:spcBef>
            </a:pPr>
            <a:r>
              <a:rPr sz="1000" spc="-10" dirty="0">
                <a:solidFill>
                  <a:srgbClr val="465469"/>
                </a:solidFill>
                <a:latin typeface="Calibri"/>
                <a:cs typeface="Calibri"/>
              </a:rPr>
              <a:t>7,500</a:t>
            </a:r>
            <a:r>
              <a:rPr sz="1000" spc="-1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465469"/>
                </a:solidFill>
                <a:latin typeface="Calibri"/>
                <a:cs typeface="Calibri"/>
              </a:rPr>
              <a:t>evals/cluster </a:t>
            </a:r>
            <a:r>
              <a:rPr sz="1000" dirty="0">
                <a:solidFill>
                  <a:srgbClr val="465469"/>
                </a:solidFill>
                <a:latin typeface="Calibri"/>
                <a:cs typeface="Calibri"/>
              </a:rPr>
              <a:t>in</a:t>
            </a:r>
            <a:r>
              <a:rPr sz="1000" spc="-1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00" spc="-20" dirty="0">
                <a:solidFill>
                  <a:srgbClr val="465469"/>
                </a:solidFill>
                <a:latin typeface="Calibri"/>
                <a:cs typeface="Calibri"/>
              </a:rPr>
              <a:t>0.08s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53935" y="7456"/>
            <a:ext cx="7875270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120" dirty="0"/>
              <a:t>Step</a:t>
            </a:r>
            <a:r>
              <a:rPr spc="90" dirty="0"/>
              <a:t> </a:t>
            </a:r>
            <a:r>
              <a:rPr dirty="0"/>
              <a:t>2b:</a:t>
            </a:r>
            <a:r>
              <a:rPr spc="95" dirty="0"/>
              <a:t> Ant </a:t>
            </a:r>
            <a:r>
              <a:rPr spc="90" dirty="0"/>
              <a:t>Colony</a:t>
            </a:r>
            <a:r>
              <a:rPr spc="95" dirty="0"/>
              <a:t> </a:t>
            </a:r>
            <a:r>
              <a:rPr spc="85" dirty="0"/>
              <a:t>Optimization</a:t>
            </a:r>
            <a:r>
              <a:rPr spc="95" dirty="0"/>
              <a:t> </a:t>
            </a:r>
            <a:r>
              <a:rPr dirty="0"/>
              <a:t>(ACO)</a:t>
            </a:r>
            <a:r>
              <a:rPr spc="95" dirty="0"/>
              <a:t> </a:t>
            </a:r>
            <a:r>
              <a:rPr spc="-50" dirty="0"/>
              <a:t>— </a:t>
            </a:r>
            <a:r>
              <a:rPr spc="90" dirty="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8424" y="825348"/>
            <a:ext cx="8136255" cy="99123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400" b="1" spc="50" dirty="0">
                <a:solidFill>
                  <a:srgbClr val="0E162A"/>
                </a:solidFill>
                <a:latin typeface="Meiryo UI"/>
                <a:cs typeface="Meiryo UI"/>
              </a:rPr>
              <a:t>Core</a:t>
            </a:r>
            <a:r>
              <a:rPr sz="1400" b="1" spc="20" dirty="0">
                <a:solidFill>
                  <a:srgbClr val="0E162A"/>
                </a:solidFill>
                <a:latin typeface="Meiryo UI"/>
                <a:cs typeface="Meiryo UI"/>
              </a:rPr>
              <a:t> </a:t>
            </a:r>
            <a:r>
              <a:rPr sz="1400" b="1" spc="-20" dirty="0">
                <a:solidFill>
                  <a:srgbClr val="0E162A"/>
                </a:solidFill>
                <a:latin typeface="Meiryo UI"/>
                <a:cs typeface="Meiryo UI"/>
              </a:rPr>
              <a:t>Idea</a:t>
            </a:r>
            <a:endParaRPr sz="1400">
              <a:latin typeface="Meiryo UI"/>
              <a:cs typeface="Meiryo UI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1300" spc="-10" dirty="0">
                <a:solidFill>
                  <a:srgbClr val="1D283A"/>
                </a:solidFill>
                <a:latin typeface="Calibri"/>
                <a:cs typeface="Calibri"/>
              </a:rPr>
              <a:t>Inspired</a:t>
            </a:r>
            <a:r>
              <a:rPr sz="130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D283A"/>
                </a:solidFill>
                <a:latin typeface="Calibri"/>
                <a:cs typeface="Calibri"/>
              </a:rPr>
              <a:t>by</a:t>
            </a:r>
            <a:r>
              <a:rPr sz="130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D283A"/>
                </a:solidFill>
                <a:latin typeface="Calibri"/>
                <a:cs typeface="Calibri"/>
              </a:rPr>
              <a:t>real</a:t>
            </a:r>
            <a:r>
              <a:rPr sz="130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D283A"/>
                </a:solidFill>
                <a:latin typeface="Calibri"/>
                <a:cs typeface="Calibri"/>
              </a:rPr>
              <a:t>ant</a:t>
            </a:r>
            <a:r>
              <a:rPr sz="130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1D283A"/>
                </a:solidFill>
                <a:latin typeface="Calibri"/>
                <a:cs typeface="Calibri"/>
              </a:rPr>
              <a:t>foraging:</a:t>
            </a:r>
            <a:r>
              <a:rPr sz="130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1D283A"/>
                </a:solidFill>
                <a:latin typeface="Calibri"/>
                <a:cs typeface="Calibri"/>
              </a:rPr>
              <a:t>artificial</a:t>
            </a:r>
            <a:r>
              <a:rPr sz="130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D283A"/>
                </a:solidFill>
                <a:latin typeface="Calibri"/>
                <a:cs typeface="Calibri"/>
              </a:rPr>
              <a:t>ants</a:t>
            </a:r>
            <a:r>
              <a:rPr sz="130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1D283A"/>
                </a:solidFill>
                <a:latin typeface="Calibri"/>
                <a:cs typeface="Calibri"/>
              </a:rPr>
              <a:t>probabilistically</a:t>
            </a:r>
            <a:r>
              <a:rPr sz="1300" spc="-2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D283A"/>
                </a:solidFill>
                <a:latin typeface="Calibri"/>
                <a:cs typeface="Calibri"/>
              </a:rPr>
              <a:t>build</a:t>
            </a:r>
            <a:r>
              <a:rPr sz="130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1D283A"/>
                </a:solidFill>
                <a:latin typeface="Calibri"/>
                <a:cs typeface="Calibri"/>
              </a:rPr>
              <a:t>tours,</a:t>
            </a:r>
            <a:r>
              <a:rPr sz="130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1D283A"/>
                </a:solidFill>
                <a:latin typeface="Calibri"/>
                <a:cs typeface="Calibri"/>
              </a:rPr>
              <a:t>depositing</a:t>
            </a:r>
            <a:r>
              <a:rPr sz="130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D283A"/>
                </a:solidFill>
                <a:latin typeface="Calibri"/>
                <a:cs typeface="Calibri"/>
              </a:rPr>
              <a:t>virtual</a:t>
            </a:r>
            <a:r>
              <a:rPr sz="130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1D283A"/>
                </a:solidFill>
                <a:latin typeface="Calibri"/>
                <a:cs typeface="Calibri"/>
              </a:rPr>
              <a:t>pheromone</a:t>
            </a:r>
            <a:r>
              <a:rPr sz="130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D283A"/>
                </a:solidFill>
                <a:latin typeface="Calibri"/>
                <a:cs typeface="Calibri"/>
              </a:rPr>
              <a:t>on</a:t>
            </a:r>
            <a:r>
              <a:rPr sz="130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1D283A"/>
                </a:solidFill>
                <a:latin typeface="Calibri"/>
                <a:cs typeface="Calibri"/>
              </a:rPr>
              <a:t>short-</a:t>
            </a:r>
            <a:r>
              <a:rPr sz="1300" dirty="0">
                <a:solidFill>
                  <a:srgbClr val="1D283A"/>
                </a:solidFill>
                <a:latin typeface="Calibri"/>
                <a:cs typeface="Calibri"/>
              </a:rPr>
              <a:t>tour</a:t>
            </a:r>
            <a:r>
              <a:rPr sz="1300" spc="-3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1D283A"/>
                </a:solidFill>
                <a:latin typeface="Calibri"/>
                <a:cs typeface="Calibri"/>
              </a:rPr>
              <a:t>edges.</a:t>
            </a:r>
            <a:endParaRPr sz="1300">
              <a:latin typeface="Calibri"/>
              <a:cs typeface="Calibri"/>
            </a:endParaRPr>
          </a:p>
          <a:p>
            <a:pPr marL="12700" marR="384810">
              <a:lnSpc>
                <a:spcPct val="130100"/>
              </a:lnSpc>
            </a:pPr>
            <a:r>
              <a:rPr sz="1300" dirty="0">
                <a:solidFill>
                  <a:srgbClr val="1D283A"/>
                </a:solidFill>
                <a:latin typeface="Calibri"/>
                <a:cs typeface="Calibri"/>
              </a:rPr>
              <a:t>Over</a:t>
            </a:r>
            <a:r>
              <a:rPr sz="1300" spc="-4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1D283A"/>
                </a:solidFill>
                <a:latin typeface="Calibri"/>
                <a:cs typeface="Calibri"/>
              </a:rPr>
              <a:t>iterations,</a:t>
            </a:r>
            <a:r>
              <a:rPr sz="1300" spc="-4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1D283A"/>
                </a:solidFill>
                <a:latin typeface="Calibri"/>
                <a:cs typeface="Calibri"/>
              </a:rPr>
              <a:t>pheromone</a:t>
            </a:r>
            <a:r>
              <a:rPr sz="1300" spc="-4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1D283A"/>
                </a:solidFill>
                <a:latin typeface="Calibri"/>
                <a:cs typeface="Calibri"/>
              </a:rPr>
              <a:t>evaporation</a:t>
            </a:r>
            <a:r>
              <a:rPr sz="1300" spc="-4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D283A"/>
                </a:solidFill>
                <a:latin typeface="Calibri"/>
                <a:cs typeface="Calibri"/>
              </a:rPr>
              <a:t>+</a:t>
            </a:r>
            <a:r>
              <a:rPr sz="1300" spc="-4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D283A"/>
                </a:solidFill>
                <a:latin typeface="Calibri"/>
                <a:cs typeface="Calibri"/>
              </a:rPr>
              <a:t>deposit</a:t>
            </a:r>
            <a:r>
              <a:rPr sz="1300" spc="-4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1D283A"/>
                </a:solidFill>
                <a:latin typeface="Calibri"/>
                <a:cs typeface="Calibri"/>
              </a:rPr>
              <a:t>creates</a:t>
            </a:r>
            <a:r>
              <a:rPr sz="1300" spc="-4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D283A"/>
                </a:solidFill>
                <a:latin typeface="Calibri"/>
                <a:cs typeface="Calibri"/>
              </a:rPr>
              <a:t>a</a:t>
            </a:r>
            <a:r>
              <a:rPr sz="1300" spc="-4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1D283A"/>
                </a:solidFill>
                <a:latin typeface="Calibri"/>
                <a:cs typeface="Calibri"/>
              </a:rPr>
              <a:t>positive</a:t>
            </a:r>
            <a:r>
              <a:rPr sz="1300" spc="-4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1D283A"/>
                </a:solidFill>
                <a:latin typeface="Calibri"/>
                <a:cs typeface="Calibri"/>
              </a:rPr>
              <a:t>feedback</a:t>
            </a:r>
            <a:r>
              <a:rPr sz="1300" spc="-4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D283A"/>
                </a:solidFill>
                <a:latin typeface="Calibri"/>
                <a:cs typeface="Calibri"/>
              </a:rPr>
              <a:t>loop</a:t>
            </a:r>
            <a:r>
              <a:rPr sz="1300" spc="-4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D283A"/>
                </a:solidFill>
                <a:latin typeface="Calibri"/>
                <a:cs typeface="Calibri"/>
              </a:rPr>
              <a:t>that</a:t>
            </a:r>
            <a:r>
              <a:rPr sz="1300" spc="-4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1D283A"/>
                </a:solidFill>
                <a:latin typeface="Calibri"/>
                <a:cs typeface="Calibri"/>
              </a:rPr>
              <a:t>concentrates</a:t>
            </a:r>
            <a:r>
              <a:rPr sz="1300" spc="-4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D283A"/>
                </a:solidFill>
                <a:latin typeface="Calibri"/>
                <a:cs typeface="Calibri"/>
              </a:rPr>
              <a:t>search</a:t>
            </a:r>
            <a:r>
              <a:rPr sz="1300" spc="-4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1D283A"/>
                </a:solidFill>
                <a:latin typeface="Calibri"/>
                <a:cs typeface="Calibri"/>
              </a:rPr>
              <a:t>around promising</a:t>
            </a:r>
            <a:r>
              <a:rPr sz="1300" spc="-1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1D283A"/>
                </a:solidFill>
                <a:latin typeface="Calibri"/>
                <a:cs typeface="Calibri"/>
              </a:rPr>
              <a:t>edges.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11480" y="1810437"/>
            <a:ext cx="1993264" cy="1325880"/>
            <a:chOff x="411480" y="1810437"/>
            <a:chExt cx="1993264" cy="1325880"/>
          </a:xfrm>
        </p:grpSpPr>
        <p:sp>
          <p:nvSpPr>
            <p:cNvPr id="5" name="object 5"/>
            <p:cNvSpPr/>
            <p:nvPr/>
          </p:nvSpPr>
          <p:spPr>
            <a:xfrm>
              <a:off x="411480" y="1810437"/>
              <a:ext cx="1993264" cy="1325880"/>
            </a:xfrm>
            <a:custGeom>
              <a:avLst/>
              <a:gdLst/>
              <a:ahLst/>
              <a:cxnLst/>
              <a:rect l="l" t="t" r="r" b="b"/>
              <a:pathLst>
                <a:path w="1993264" h="1325880">
                  <a:moveTo>
                    <a:pt x="1992960" y="0"/>
                  </a:moveTo>
                  <a:lnTo>
                    <a:pt x="0" y="0"/>
                  </a:lnTo>
                  <a:lnTo>
                    <a:pt x="0" y="1325524"/>
                  </a:lnTo>
                  <a:lnTo>
                    <a:pt x="996480" y="1325524"/>
                  </a:lnTo>
                  <a:lnTo>
                    <a:pt x="1992960" y="1325524"/>
                  </a:lnTo>
                  <a:lnTo>
                    <a:pt x="1992960" y="0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48640" y="2157846"/>
              <a:ext cx="1719580" cy="635"/>
            </a:xfrm>
            <a:custGeom>
              <a:avLst/>
              <a:gdLst/>
              <a:ahLst/>
              <a:cxnLst/>
              <a:rect l="l" t="t" r="r" b="b"/>
              <a:pathLst>
                <a:path w="1719580" h="635">
                  <a:moveTo>
                    <a:pt x="0" y="0"/>
                  </a:moveTo>
                  <a:lnTo>
                    <a:pt x="1718995" y="355"/>
                  </a:lnTo>
                </a:path>
              </a:pathLst>
            </a:custGeom>
            <a:ln w="9359">
              <a:solidFill>
                <a:srgbClr val="0D94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11480" y="1810437"/>
            <a:ext cx="1993264" cy="1325880"/>
          </a:xfrm>
          <a:prstGeom prst="rect">
            <a:avLst/>
          </a:prstGeom>
          <a:ln w="25559">
            <a:solidFill>
              <a:srgbClr val="0D9487"/>
            </a:solidFill>
          </a:ln>
        </p:spPr>
        <p:txBody>
          <a:bodyPr vert="horz" wrap="square" lIns="0" tIns="104139" rIns="0" bIns="0" rtlCol="0">
            <a:spAutoFit/>
          </a:bodyPr>
          <a:lstStyle/>
          <a:p>
            <a:pPr marL="361950">
              <a:lnSpc>
                <a:spcPct val="100000"/>
              </a:lnSpc>
              <a:spcBef>
                <a:spcPts val="819"/>
              </a:spcBef>
            </a:pPr>
            <a:r>
              <a:rPr sz="1150" b="1" dirty="0">
                <a:solidFill>
                  <a:srgbClr val="0D9487"/>
                </a:solidFill>
                <a:latin typeface="Meiryo UI"/>
                <a:cs typeface="Meiryo UI"/>
              </a:rPr>
              <a:t>Pheromone</a:t>
            </a:r>
            <a:r>
              <a:rPr sz="1150" b="1" spc="345" dirty="0">
                <a:solidFill>
                  <a:srgbClr val="0D9487"/>
                </a:solidFill>
                <a:latin typeface="Meiryo UI"/>
                <a:cs typeface="Meiryo UI"/>
              </a:rPr>
              <a:t> </a:t>
            </a:r>
            <a:r>
              <a:rPr sz="1150" b="1" spc="-20" dirty="0">
                <a:solidFill>
                  <a:srgbClr val="0D9487"/>
                </a:solidFill>
                <a:latin typeface="Meiryo UI"/>
                <a:cs typeface="Meiryo UI"/>
              </a:rPr>
              <a:t>Init</a:t>
            </a:r>
            <a:endParaRPr sz="1150">
              <a:latin typeface="Meiryo UI"/>
              <a:cs typeface="Meiryo UI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1150">
              <a:latin typeface="Meiryo UI"/>
              <a:cs typeface="Meiryo UI"/>
            </a:endParaRPr>
          </a:p>
          <a:p>
            <a:pPr marL="91440" marR="160020">
              <a:lnSpc>
                <a:spcPct val="139700"/>
              </a:lnSpc>
            </a:pPr>
            <a:r>
              <a:rPr sz="950" spc="105" dirty="0">
                <a:solidFill>
                  <a:srgbClr val="E1E8F0"/>
                </a:solidFill>
                <a:latin typeface="Lucida Sans Unicode"/>
                <a:cs typeface="Lucida Sans Unicode"/>
              </a:rPr>
              <a:t>τ₀</a:t>
            </a:r>
            <a:r>
              <a:rPr sz="950" spc="225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950" dirty="0">
                <a:solidFill>
                  <a:srgbClr val="E1E8F0"/>
                </a:solidFill>
                <a:latin typeface="Lucida Sans Unicode"/>
                <a:cs typeface="Lucida Sans Unicode"/>
              </a:rPr>
              <a:t>=</a:t>
            </a:r>
            <a:r>
              <a:rPr sz="950" spc="225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950" dirty="0">
                <a:solidFill>
                  <a:srgbClr val="E1E8F0"/>
                </a:solidFill>
                <a:latin typeface="Lucida Sans Unicode"/>
                <a:cs typeface="Lucida Sans Unicode"/>
              </a:rPr>
              <a:t>1</a:t>
            </a:r>
            <a:r>
              <a:rPr sz="950" spc="229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950" spc="70" dirty="0">
                <a:solidFill>
                  <a:srgbClr val="E1E8F0"/>
                </a:solidFill>
                <a:latin typeface="Lucida Sans Unicode"/>
                <a:cs typeface="Lucida Sans Unicode"/>
              </a:rPr>
              <a:t>/</a:t>
            </a:r>
            <a:r>
              <a:rPr sz="950" spc="225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950" spc="114" dirty="0">
                <a:solidFill>
                  <a:srgbClr val="E1E8F0"/>
                </a:solidFill>
                <a:latin typeface="Lucida Sans Unicode"/>
                <a:cs typeface="Lucida Sans Unicode"/>
              </a:rPr>
              <a:t>(n</a:t>
            </a:r>
            <a:r>
              <a:rPr sz="950" spc="229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950" dirty="0">
                <a:solidFill>
                  <a:srgbClr val="E1E8F0"/>
                </a:solidFill>
                <a:latin typeface="Lucida Sans Unicode"/>
                <a:cs typeface="Lucida Sans Unicode"/>
              </a:rPr>
              <a:t>·</a:t>
            </a:r>
            <a:r>
              <a:rPr sz="950" spc="225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950" spc="50" dirty="0">
                <a:solidFill>
                  <a:srgbClr val="E1E8F0"/>
                </a:solidFill>
                <a:latin typeface="Lucida Sans Unicode"/>
                <a:cs typeface="Lucida Sans Unicode"/>
              </a:rPr>
              <a:t>mean_dist) </a:t>
            </a:r>
            <a:r>
              <a:rPr sz="950" dirty="0">
                <a:solidFill>
                  <a:srgbClr val="E1E8F0"/>
                </a:solidFill>
                <a:latin typeface="Lucida Sans Unicode"/>
                <a:cs typeface="Lucida Sans Unicode"/>
              </a:rPr>
              <a:t>Uniform</a:t>
            </a:r>
            <a:r>
              <a:rPr sz="950" spc="320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950" dirty="0">
                <a:solidFill>
                  <a:srgbClr val="E1E8F0"/>
                </a:solidFill>
                <a:latin typeface="Lucida Sans Unicode"/>
                <a:cs typeface="Lucida Sans Unicode"/>
              </a:rPr>
              <a:t>on</a:t>
            </a:r>
            <a:r>
              <a:rPr sz="950" spc="325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950" spc="204" dirty="0">
                <a:solidFill>
                  <a:srgbClr val="E1E8F0"/>
                </a:solidFill>
                <a:latin typeface="Lucida Sans Unicode"/>
                <a:cs typeface="Lucida Sans Unicode"/>
              </a:rPr>
              <a:t>all</a:t>
            </a:r>
            <a:r>
              <a:rPr sz="950" spc="325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950" spc="-10" dirty="0">
                <a:solidFill>
                  <a:srgbClr val="E1E8F0"/>
                </a:solidFill>
                <a:latin typeface="Lucida Sans Unicode"/>
                <a:cs typeface="Lucida Sans Unicode"/>
              </a:rPr>
              <a:t>edges</a:t>
            </a:r>
            <a:endParaRPr sz="950">
              <a:latin typeface="Lucida Sans Unicode"/>
              <a:cs typeface="Lucida Sans Unicode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587675" y="1810437"/>
            <a:ext cx="1993264" cy="1325880"/>
            <a:chOff x="2587675" y="1810437"/>
            <a:chExt cx="1993264" cy="1325880"/>
          </a:xfrm>
        </p:grpSpPr>
        <p:sp>
          <p:nvSpPr>
            <p:cNvPr id="9" name="object 9"/>
            <p:cNvSpPr/>
            <p:nvPr/>
          </p:nvSpPr>
          <p:spPr>
            <a:xfrm>
              <a:off x="2587675" y="1810437"/>
              <a:ext cx="1993264" cy="1325880"/>
            </a:xfrm>
            <a:custGeom>
              <a:avLst/>
              <a:gdLst/>
              <a:ahLst/>
              <a:cxnLst/>
              <a:rect l="l" t="t" r="r" b="b"/>
              <a:pathLst>
                <a:path w="1993264" h="1325880">
                  <a:moveTo>
                    <a:pt x="1992960" y="0"/>
                  </a:moveTo>
                  <a:lnTo>
                    <a:pt x="0" y="0"/>
                  </a:lnTo>
                  <a:lnTo>
                    <a:pt x="0" y="1325524"/>
                  </a:lnTo>
                  <a:lnTo>
                    <a:pt x="996480" y="1325524"/>
                  </a:lnTo>
                  <a:lnTo>
                    <a:pt x="1992960" y="1325524"/>
                  </a:lnTo>
                  <a:lnTo>
                    <a:pt x="1992960" y="0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724835" y="2157846"/>
              <a:ext cx="1719580" cy="635"/>
            </a:xfrm>
            <a:custGeom>
              <a:avLst/>
              <a:gdLst/>
              <a:ahLst/>
              <a:cxnLst/>
              <a:rect l="l" t="t" r="r" b="b"/>
              <a:pathLst>
                <a:path w="1719579" h="635">
                  <a:moveTo>
                    <a:pt x="0" y="0"/>
                  </a:moveTo>
                  <a:lnTo>
                    <a:pt x="1719008" y="355"/>
                  </a:lnTo>
                </a:path>
              </a:pathLst>
            </a:custGeom>
            <a:ln w="9359">
              <a:solidFill>
                <a:srgbClr val="1D4DD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587675" y="1810437"/>
            <a:ext cx="1993264" cy="1325880"/>
          </a:xfrm>
          <a:prstGeom prst="rect">
            <a:avLst/>
          </a:prstGeom>
          <a:ln w="25559">
            <a:solidFill>
              <a:srgbClr val="1D4DD7"/>
            </a:solidFill>
          </a:ln>
        </p:spPr>
        <p:txBody>
          <a:bodyPr vert="horz" wrap="square" lIns="0" tIns="104139" rIns="0" bIns="0" rtlCol="0">
            <a:spAutoFit/>
          </a:bodyPr>
          <a:lstStyle/>
          <a:p>
            <a:pPr marL="264160">
              <a:lnSpc>
                <a:spcPct val="100000"/>
              </a:lnSpc>
              <a:spcBef>
                <a:spcPts val="819"/>
              </a:spcBef>
            </a:pPr>
            <a:r>
              <a:rPr sz="1150" b="1" dirty="0">
                <a:solidFill>
                  <a:srgbClr val="1D4DD7"/>
                </a:solidFill>
                <a:latin typeface="Meiryo UI"/>
                <a:cs typeface="Meiryo UI"/>
              </a:rPr>
              <a:t>Tour</a:t>
            </a:r>
            <a:r>
              <a:rPr sz="1150" b="1" spc="-45" dirty="0">
                <a:solidFill>
                  <a:srgbClr val="1D4DD7"/>
                </a:solidFill>
                <a:latin typeface="Meiryo UI"/>
                <a:cs typeface="Meiryo UI"/>
              </a:rPr>
              <a:t> </a:t>
            </a:r>
            <a:r>
              <a:rPr sz="1150" b="1" spc="-10" dirty="0">
                <a:solidFill>
                  <a:srgbClr val="1D4DD7"/>
                </a:solidFill>
                <a:latin typeface="Meiryo UI"/>
                <a:cs typeface="Meiryo UI"/>
              </a:rPr>
              <a:t>Construction</a:t>
            </a:r>
            <a:endParaRPr sz="1150">
              <a:latin typeface="Meiryo UI"/>
              <a:cs typeface="Meiryo U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50">
              <a:latin typeface="Meiryo UI"/>
              <a:cs typeface="Meiryo UI"/>
            </a:endParaRPr>
          </a:p>
          <a:p>
            <a:pPr marL="91440" marR="508000">
              <a:lnSpc>
                <a:spcPct val="139700"/>
              </a:lnSpc>
              <a:spcBef>
                <a:spcPts val="5"/>
              </a:spcBef>
            </a:pPr>
            <a:r>
              <a:rPr sz="950" spc="125" dirty="0">
                <a:solidFill>
                  <a:srgbClr val="E1E8F0"/>
                </a:solidFill>
                <a:latin typeface="Lucida Sans Unicode"/>
                <a:cs typeface="Lucida Sans Unicode"/>
              </a:rPr>
              <a:t>P(i→j)</a:t>
            </a:r>
            <a:r>
              <a:rPr sz="950" spc="245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950" dirty="0">
                <a:solidFill>
                  <a:srgbClr val="E1E8F0"/>
                </a:solidFill>
                <a:latin typeface="Cambria"/>
                <a:cs typeface="Cambria"/>
              </a:rPr>
              <a:t>∝</a:t>
            </a:r>
            <a:r>
              <a:rPr sz="950" spc="440" dirty="0">
                <a:solidFill>
                  <a:srgbClr val="E1E8F0"/>
                </a:solidFill>
                <a:latin typeface="Cambria"/>
                <a:cs typeface="Cambria"/>
              </a:rPr>
              <a:t> </a:t>
            </a:r>
            <a:r>
              <a:rPr sz="950" spc="155" dirty="0">
                <a:solidFill>
                  <a:srgbClr val="E1E8F0"/>
                </a:solidFill>
                <a:latin typeface="Lucida Sans Unicode"/>
                <a:cs typeface="Lucida Sans Unicode"/>
              </a:rPr>
              <a:t>τ[i,j]^α</a:t>
            </a:r>
            <a:r>
              <a:rPr sz="950" spc="245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950" spc="-50" dirty="0">
                <a:solidFill>
                  <a:srgbClr val="E1E8F0"/>
                </a:solidFill>
                <a:latin typeface="Lucida Sans Unicode"/>
                <a:cs typeface="Lucida Sans Unicode"/>
              </a:rPr>
              <a:t>· </a:t>
            </a:r>
            <a:r>
              <a:rPr sz="950" spc="90" dirty="0">
                <a:solidFill>
                  <a:srgbClr val="E1E8F0"/>
                </a:solidFill>
                <a:latin typeface="Lucida Sans Unicode"/>
                <a:cs typeface="Lucida Sans Unicode"/>
              </a:rPr>
              <a:t>(1/dist)^β</a:t>
            </a:r>
            <a:endParaRPr sz="950">
              <a:latin typeface="Lucida Sans Unicode"/>
              <a:cs typeface="Lucida Sans Unicode"/>
            </a:endParaRPr>
          </a:p>
          <a:p>
            <a:pPr marL="91440">
              <a:lnSpc>
                <a:spcPct val="100000"/>
              </a:lnSpc>
              <a:spcBef>
                <a:spcPts val="450"/>
              </a:spcBef>
            </a:pPr>
            <a:r>
              <a:rPr sz="950" spc="55" dirty="0">
                <a:solidFill>
                  <a:srgbClr val="E1E8F0"/>
                </a:solidFill>
                <a:latin typeface="Lucida Sans Unicode"/>
                <a:cs typeface="Lucida Sans Unicode"/>
              </a:rPr>
              <a:t>Roulette-wheel</a:t>
            </a:r>
            <a:r>
              <a:rPr sz="950" spc="375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950" spc="95" dirty="0">
                <a:solidFill>
                  <a:srgbClr val="E1E8F0"/>
                </a:solidFill>
                <a:latin typeface="Lucida Sans Unicode"/>
                <a:cs typeface="Lucida Sans Unicode"/>
              </a:rPr>
              <a:t>selection</a:t>
            </a:r>
            <a:endParaRPr sz="950">
              <a:latin typeface="Lucida Sans Unicode"/>
              <a:cs typeface="Lucida Sans Unicode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763884" y="1810437"/>
            <a:ext cx="1993264" cy="1325880"/>
            <a:chOff x="4763884" y="1810437"/>
            <a:chExt cx="1993264" cy="1325880"/>
          </a:xfrm>
        </p:grpSpPr>
        <p:sp>
          <p:nvSpPr>
            <p:cNvPr id="13" name="object 13"/>
            <p:cNvSpPr/>
            <p:nvPr/>
          </p:nvSpPr>
          <p:spPr>
            <a:xfrm>
              <a:off x="4763884" y="1810437"/>
              <a:ext cx="1993264" cy="1325880"/>
            </a:xfrm>
            <a:custGeom>
              <a:avLst/>
              <a:gdLst/>
              <a:ahLst/>
              <a:cxnLst/>
              <a:rect l="l" t="t" r="r" b="b"/>
              <a:pathLst>
                <a:path w="1993265" h="1325880">
                  <a:moveTo>
                    <a:pt x="1992960" y="0"/>
                  </a:moveTo>
                  <a:lnTo>
                    <a:pt x="0" y="0"/>
                  </a:lnTo>
                  <a:lnTo>
                    <a:pt x="0" y="1325524"/>
                  </a:lnTo>
                  <a:lnTo>
                    <a:pt x="996480" y="1325524"/>
                  </a:lnTo>
                  <a:lnTo>
                    <a:pt x="1992960" y="1325524"/>
                  </a:lnTo>
                  <a:lnTo>
                    <a:pt x="1992960" y="0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901044" y="2157846"/>
              <a:ext cx="1719580" cy="635"/>
            </a:xfrm>
            <a:custGeom>
              <a:avLst/>
              <a:gdLst/>
              <a:ahLst/>
              <a:cxnLst/>
              <a:rect l="l" t="t" r="r" b="b"/>
              <a:pathLst>
                <a:path w="1719579" h="635">
                  <a:moveTo>
                    <a:pt x="0" y="0"/>
                  </a:moveTo>
                  <a:lnTo>
                    <a:pt x="1718995" y="355"/>
                  </a:lnTo>
                </a:path>
              </a:pathLst>
            </a:custGeom>
            <a:ln w="9359">
              <a:solidFill>
                <a:srgbClr val="7B3A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763884" y="1810437"/>
            <a:ext cx="1993264" cy="1325880"/>
          </a:xfrm>
          <a:prstGeom prst="rect">
            <a:avLst/>
          </a:prstGeom>
          <a:ln w="25559">
            <a:solidFill>
              <a:srgbClr val="7B3AEC"/>
            </a:solidFill>
          </a:ln>
        </p:spPr>
        <p:txBody>
          <a:bodyPr vert="horz" wrap="square" lIns="0" tIns="104139" rIns="0" bIns="0" rtlCol="0">
            <a:spAutoFit/>
          </a:bodyPr>
          <a:lstStyle/>
          <a:p>
            <a:pPr marL="203200">
              <a:lnSpc>
                <a:spcPct val="100000"/>
              </a:lnSpc>
              <a:spcBef>
                <a:spcPts val="819"/>
              </a:spcBef>
            </a:pPr>
            <a:r>
              <a:rPr sz="1150" b="1" dirty="0">
                <a:solidFill>
                  <a:srgbClr val="7B3AEC"/>
                </a:solidFill>
                <a:latin typeface="Meiryo UI"/>
                <a:cs typeface="Meiryo UI"/>
              </a:rPr>
              <a:t>Pheromone</a:t>
            </a:r>
            <a:r>
              <a:rPr sz="1150" b="1" spc="345" dirty="0">
                <a:solidFill>
                  <a:srgbClr val="7B3AEC"/>
                </a:solidFill>
                <a:latin typeface="Meiryo UI"/>
                <a:cs typeface="Meiryo UI"/>
              </a:rPr>
              <a:t> </a:t>
            </a:r>
            <a:r>
              <a:rPr sz="1150" b="1" spc="-10" dirty="0">
                <a:solidFill>
                  <a:srgbClr val="7B3AEC"/>
                </a:solidFill>
                <a:latin typeface="Meiryo UI"/>
                <a:cs typeface="Meiryo UI"/>
              </a:rPr>
              <a:t>Update</a:t>
            </a:r>
            <a:endParaRPr sz="1150">
              <a:latin typeface="Meiryo UI"/>
              <a:cs typeface="Meiryo U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50">
              <a:latin typeface="Meiryo UI"/>
              <a:cs typeface="Meiryo UI"/>
            </a:endParaRPr>
          </a:p>
          <a:p>
            <a:pPr marL="91440" marR="376555">
              <a:lnSpc>
                <a:spcPct val="139700"/>
              </a:lnSpc>
              <a:spcBef>
                <a:spcPts val="5"/>
              </a:spcBef>
            </a:pPr>
            <a:r>
              <a:rPr sz="950" spc="80" dirty="0">
                <a:solidFill>
                  <a:srgbClr val="E1E8F0"/>
                </a:solidFill>
                <a:latin typeface="Lucida Sans Unicode"/>
                <a:cs typeface="Lucida Sans Unicode"/>
              </a:rPr>
              <a:t>Evaporate:</a:t>
            </a:r>
            <a:r>
              <a:rPr sz="950" spc="280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950" spc="55" dirty="0">
                <a:solidFill>
                  <a:srgbClr val="E1E8F0"/>
                </a:solidFill>
                <a:latin typeface="Lucida Sans Unicode"/>
                <a:cs typeface="Lucida Sans Unicode"/>
              </a:rPr>
              <a:t>τ</a:t>
            </a:r>
            <a:r>
              <a:rPr sz="950" spc="285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950" spc="-320" dirty="0">
                <a:solidFill>
                  <a:srgbClr val="E1E8F0"/>
                </a:solidFill>
                <a:latin typeface="Lucida Sans Unicode"/>
                <a:cs typeface="Lucida Sans Unicode"/>
              </a:rPr>
              <a:t>←</a:t>
            </a:r>
            <a:r>
              <a:rPr sz="950" spc="285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950" spc="65" dirty="0">
                <a:solidFill>
                  <a:srgbClr val="E1E8F0"/>
                </a:solidFill>
                <a:latin typeface="Lucida Sans Unicode"/>
                <a:cs typeface="Lucida Sans Unicode"/>
              </a:rPr>
              <a:t>τ(1-</a:t>
            </a:r>
            <a:r>
              <a:rPr sz="950" spc="90" dirty="0">
                <a:solidFill>
                  <a:srgbClr val="E1E8F0"/>
                </a:solidFill>
                <a:latin typeface="Lucida Sans Unicode"/>
                <a:cs typeface="Lucida Sans Unicode"/>
              </a:rPr>
              <a:t>ρ) </a:t>
            </a:r>
            <a:r>
              <a:rPr sz="950" spc="80" dirty="0">
                <a:solidFill>
                  <a:srgbClr val="E1E8F0"/>
                </a:solidFill>
                <a:latin typeface="Lucida Sans Unicode"/>
                <a:cs typeface="Lucida Sans Unicode"/>
              </a:rPr>
              <a:t>Deposit:</a:t>
            </a:r>
            <a:r>
              <a:rPr sz="950" spc="280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950" spc="145" dirty="0">
                <a:solidFill>
                  <a:srgbClr val="E1E8F0"/>
                </a:solidFill>
                <a:latin typeface="Lucida Sans Unicode"/>
                <a:cs typeface="Lucida Sans Unicode"/>
              </a:rPr>
              <a:t>τ[e]</a:t>
            </a:r>
            <a:r>
              <a:rPr sz="950" spc="285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950" spc="-25" dirty="0">
                <a:solidFill>
                  <a:srgbClr val="E1E8F0"/>
                </a:solidFill>
                <a:latin typeface="Lucida Sans Unicode"/>
                <a:cs typeface="Lucida Sans Unicode"/>
              </a:rPr>
              <a:t>+= </a:t>
            </a:r>
            <a:r>
              <a:rPr sz="950" spc="50" dirty="0">
                <a:solidFill>
                  <a:srgbClr val="E1E8F0"/>
                </a:solidFill>
                <a:latin typeface="Lucida Sans Unicode"/>
                <a:cs typeface="Lucida Sans Unicode"/>
              </a:rPr>
              <a:t>Q/tour_len</a:t>
            </a:r>
            <a:endParaRPr sz="950">
              <a:latin typeface="Lucida Sans Unicode"/>
              <a:cs typeface="Lucida Sans Unicode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940436" y="1810437"/>
            <a:ext cx="1993264" cy="1325880"/>
            <a:chOff x="6940436" y="1810437"/>
            <a:chExt cx="1993264" cy="1325880"/>
          </a:xfrm>
        </p:grpSpPr>
        <p:sp>
          <p:nvSpPr>
            <p:cNvPr id="17" name="object 17"/>
            <p:cNvSpPr/>
            <p:nvPr/>
          </p:nvSpPr>
          <p:spPr>
            <a:xfrm>
              <a:off x="6940436" y="1810437"/>
              <a:ext cx="1993264" cy="1325880"/>
            </a:xfrm>
            <a:custGeom>
              <a:avLst/>
              <a:gdLst/>
              <a:ahLst/>
              <a:cxnLst/>
              <a:rect l="l" t="t" r="r" b="b"/>
              <a:pathLst>
                <a:path w="1993265" h="1325880">
                  <a:moveTo>
                    <a:pt x="1992960" y="0"/>
                  </a:moveTo>
                  <a:lnTo>
                    <a:pt x="0" y="0"/>
                  </a:lnTo>
                  <a:lnTo>
                    <a:pt x="0" y="1325524"/>
                  </a:lnTo>
                  <a:lnTo>
                    <a:pt x="996480" y="1325524"/>
                  </a:lnTo>
                  <a:lnTo>
                    <a:pt x="1992960" y="1325524"/>
                  </a:lnTo>
                  <a:lnTo>
                    <a:pt x="1992960" y="0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077240" y="2157846"/>
              <a:ext cx="1719580" cy="635"/>
            </a:xfrm>
            <a:custGeom>
              <a:avLst/>
              <a:gdLst/>
              <a:ahLst/>
              <a:cxnLst/>
              <a:rect l="l" t="t" r="r" b="b"/>
              <a:pathLst>
                <a:path w="1719579" h="635">
                  <a:moveTo>
                    <a:pt x="0" y="0"/>
                  </a:moveTo>
                  <a:lnTo>
                    <a:pt x="1718995" y="355"/>
                  </a:lnTo>
                </a:path>
              </a:pathLst>
            </a:custGeom>
            <a:ln w="9359">
              <a:solidFill>
                <a:srgbClr val="F49D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940436" y="1810437"/>
            <a:ext cx="1993264" cy="1325880"/>
          </a:xfrm>
          <a:prstGeom prst="rect">
            <a:avLst/>
          </a:prstGeom>
          <a:ln w="25559">
            <a:solidFill>
              <a:srgbClr val="F49D0A"/>
            </a:solidFill>
          </a:ln>
        </p:spPr>
        <p:txBody>
          <a:bodyPr vert="horz" wrap="square" lIns="0" tIns="104139" rIns="0" bIns="0" rtlCol="0">
            <a:spAutoFit/>
          </a:bodyPr>
          <a:lstStyle/>
          <a:p>
            <a:pPr marL="272415">
              <a:lnSpc>
                <a:spcPct val="100000"/>
              </a:lnSpc>
              <a:spcBef>
                <a:spcPts val="819"/>
              </a:spcBef>
            </a:pPr>
            <a:r>
              <a:rPr sz="1150" b="1" spc="-10" dirty="0">
                <a:solidFill>
                  <a:srgbClr val="F49D0A"/>
                </a:solidFill>
                <a:latin typeface="Meiryo UI"/>
                <a:cs typeface="Meiryo UI"/>
              </a:rPr>
              <a:t>Hyperparameters</a:t>
            </a:r>
            <a:endParaRPr sz="1150">
              <a:latin typeface="Meiryo UI"/>
              <a:cs typeface="Meiryo U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50">
              <a:latin typeface="Meiryo UI"/>
              <a:cs typeface="Meiryo UI"/>
            </a:endParaRPr>
          </a:p>
          <a:p>
            <a:pPr marL="91440" marR="304165" algn="just">
              <a:lnSpc>
                <a:spcPct val="139700"/>
              </a:lnSpc>
              <a:spcBef>
                <a:spcPts val="5"/>
              </a:spcBef>
            </a:pPr>
            <a:r>
              <a:rPr sz="950" dirty="0">
                <a:solidFill>
                  <a:srgbClr val="E1E8F0"/>
                </a:solidFill>
                <a:latin typeface="Lucida Sans Unicode"/>
                <a:cs typeface="Lucida Sans Unicode"/>
              </a:rPr>
              <a:t>α=1</a:t>
            </a:r>
            <a:r>
              <a:rPr sz="950" spc="130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950" dirty="0">
                <a:solidFill>
                  <a:srgbClr val="E1E8F0"/>
                </a:solidFill>
                <a:latin typeface="Lucida Sans Unicode"/>
                <a:cs typeface="Lucida Sans Unicode"/>
              </a:rPr>
              <a:t>(pheromone</a:t>
            </a:r>
            <a:r>
              <a:rPr sz="950" spc="130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950" spc="70" dirty="0">
                <a:solidFill>
                  <a:srgbClr val="E1E8F0"/>
                </a:solidFill>
                <a:latin typeface="Lucida Sans Unicode"/>
                <a:cs typeface="Lucida Sans Unicode"/>
              </a:rPr>
              <a:t>weight) </a:t>
            </a:r>
            <a:r>
              <a:rPr sz="950" dirty="0">
                <a:solidFill>
                  <a:srgbClr val="E1E8F0"/>
                </a:solidFill>
                <a:latin typeface="Lucida Sans Unicode"/>
                <a:cs typeface="Lucida Sans Unicode"/>
              </a:rPr>
              <a:t>β=3</a:t>
            </a:r>
            <a:r>
              <a:rPr sz="950" spc="155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950" spc="135" dirty="0">
                <a:solidFill>
                  <a:srgbClr val="E1E8F0"/>
                </a:solidFill>
                <a:latin typeface="Lucida Sans Unicode"/>
                <a:cs typeface="Lucida Sans Unicode"/>
              </a:rPr>
              <a:t>(heuristic</a:t>
            </a:r>
            <a:r>
              <a:rPr sz="950" spc="155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950" spc="70" dirty="0">
                <a:solidFill>
                  <a:srgbClr val="E1E8F0"/>
                </a:solidFill>
                <a:latin typeface="Lucida Sans Unicode"/>
                <a:cs typeface="Lucida Sans Unicode"/>
              </a:rPr>
              <a:t>weight) </a:t>
            </a:r>
            <a:r>
              <a:rPr sz="950" dirty="0">
                <a:solidFill>
                  <a:srgbClr val="E1E8F0"/>
                </a:solidFill>
                <a:latin typeface="Lucida Sans Unicode"/>
                <a:cs typeface="Lucida Sans Unicode"/>
              </a:rPr>
              <a:t>ρ=0.1</a:t>
            </a:r>
            <a:r>
              <a:rPr sz="950" spc="254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950" spc="105" dirty="0">
                <a:solidFill>
                  <a:srgbClr val="E1E8F0"/>
                </a:solidFill>
                <a:latin typeface="Lucida Sans Unicode"/>
                <a:cs typeface="Lucida Sans Unicode"/>
              </a:rPr>
              <a:t>(evap.</a:t>
            </a:r>
            <a:r>
              <a:rPr sz="950" spc="260" dirty="0">
                <a:solidFill>
                  <a:srgbClr val="E1E8F0"/>
                </a:solidFill>
                <a:latin typeface="Lucida Sans Unicode"/>
                <a:cs typeface="Lucida Sans Unicode"/>
              </a:rPr>
              <a:t> </a:t>
            </a:r>
            <a:r>
              <a:rPr sz="950" spc="135" dirty="0">
                <a:solidFill>
                  <a:srgbClr val="E1E8F0"/>
                </a:solidFill>
                <a:latin typeface="Lucida Sans Unicode"/>
                <a:cs typeface="Lucida Sans Unicode"/>
              </a:rPr>
              <a:t>rate)</a:t>
            </a:r>
            <a:endParaRPr sz="95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98424" y="3257539"/>
            <a:ext cx="247396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0E162A"/>
                </a:solidFill>
                <a:latin typeface="Meiryo UI"/>
                <a:cs typeface="Meiryo UI"/>
              </a:rPr>
              <a:t>GLS</a:t>
            </a:r>
            <a:r>
              <a:rPr sz="1300" b="1" spc="85" dirty="0">
                <a:solidFill>
                  <a:srgbClr val="0E162A"/>
                </a:solidFill>
                <a:latin typeface="Meiryo UI"/>
                <a:cs typeface="Meiryo UI"/>
              </a:rPr>
              <a:t> </a:t>
            </a:r>
            <a:r>
              <a:rPr sz="1300" b="1" spc="50" dirty="0">
                <a:solidFill>
                  <a:srgbClr val="0E162A"/>
                </a:solidFill>
                <a:latin typeface="Meiryo UI"/>
                <a:cs typeface="Meiryo UI"/>
              </a:rPr>
              <a:t>vs</a:t>
            </a:r>
            <a:r>
              <a:rPr sz="1300" b="1" spc="85" dirty="0">
                <a:solidFill>
                  <a:srgbClr val="0E162A"/>
                </a:solidFill>
                <a:latin typeface="Meiryo UI"/>
                <a:cs typeface="Meiryo UI"/>
              </a:rPr>
              <a:t> </a:t>
            </a:r>
            <a:r>
              <a:rPr sz="1300" b="1" dirty="0">
                <a:solidFill>
                  <a:srgbClr val="0E162A"/>
                </a:solidFill>
                <a:latin typeface="Meiryo UI"/>
                <a:cs typeface="Meiryo UI"/>
              </a:rPr>
              <a:t>ACO</a:t>
            </a:r>
            <a:r>
              <a:rPr sz="1300" b="1" spc="90" dirty="0">
                <a:solidFill>
                  <a:srgbClr val="0E162A"/>
                </a:solidFill>
                <a:latin typeface="Meiryo UI"/>
                <a:cs typeface="Meiryo UI"/>
              </a:rPr>
              <a:t> </a:t>
            </a:r>
            <a:r>
              <a:rPr sz="1300" b="1" dirty="0">
                <a:solidFill>
                  <a:srgbClr val="0E162A"/>
                </a:solidFill>
                <a:latin typeface="Meiryo UI"/>
                <a:cs typeface="Meiryo UI"/>
              </a:rPr>
              <a:t>—</a:t>
            </a:r>
            <a:r>
              <a:rPr sz="1300" b="1" spc="80" dirty="0">
                <a:solidFill>
                  <a:srgbClr val="0E162A"/>
                </a:solidFill>
                <a:latin typeface="Meiryo UI"/>
                <a:cs typeface="Meiryo UI"/>
              </a:rPr>
              <a:t> </a:t>
            </a:r>
            <a:r>
              <a:rPr sz="1300" b="1" spc="-10" dirty="0">
                <a:solidFill>
                  <a:srgbClr val="0E162A"/>
                </a:solidFill>
                <a:latin typeface="Meiryo UI"/>
                <a:cs typeface="Meiryo UI"/>
              </a:rPr>
              <a:t>Comparison</a:t>
            </a:r>
            <a:endParaRPr sz="1300">
              <a:latin typeface="Meiryo UI"/>
              <a:cs typeface="Meiryo UI"/>
            </a:endParaRPr>
          </a:p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408621" y="3563303"/>
          <a:ext cx="8321040" cy="13874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74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E1E8F0"/>
                      </a:solidFill>
                      <a:prstDash val="solid"/>
                    </a:lnL>
                    <a:lnR w="6350">
                      <a:solidFill>
                        <a:srgbClr val="E1E8F0"/>
                      </a:solidFill>
                      <a:prstDash val="solid"/>
                    </a:lnR>
                    <a:lnT w="6350">
                      <a:solidFill>
                        <a:srgbClr val="E1E8F0"/>
                      </a:solidFill>
                      <a:prstDash val="solid"/>
                    </a:lnT>
                    <a:lnB w="6350">
                      <a:solidFill>
                        <a:srgbClr val="E1E8F0"/>
                      </a:solidFill>
                      <a:prstDash val="solid"/>
                    </a:lnB>
                    <a:solidFill>
                      <a:srgbClr val="0E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1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GLS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5719" marB="0">
                    <a:lnL w="6350">
                      <a:solidFill>
                        <a:srgbClr val="E1E8F0"/>
                      </a:solidFill>
                      <a:prstDash val="solid"/>
                    </a:lnL>
                    <a:lnR w="6350">
                      <a:solidFill>
                        <a:srgbClr val="E1E8F0"/>
                      </a:solidFill>
                      <a:prstDash val="solid"/>
                    </a:lnR>
                    <a:lnT w="6350">
                      <a:solidFill>
                        <a:srgbClr val="E1E8F0"/>
                      </a:solidFill>
                      <a:prstDash val="solid"/>
                    </a:lnT>
                    <a:lnB w="6350">
                      <a:solidFill>
                        <a:srgbClr val="E1E8F0"/>
                      </a:solidFill>
                      <a:prstDash val="solid"/>
                    </a:lnB>
                    <a:solidFill>
                      <a:srgbClr val="0D94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1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ACO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5719" marB="0">
                    <a:lnL w="6350">
                      <a:solidFill>
                        <a:srgbClr val="E1E8F0"/>
                      </a:solidFill>
                      <a:prstDash val="solid"/>
                    </a:lnL>
                    <a:lnR w="6350">
                      <a:solidFill>
                        <a:srgbClr val="E1E8F0"/>
                      </a:solidFill>
                      <a:prstDash val="solid"/>
                    </a:lnR>
                    <a:lnT w="6350">
                      <a:solidFill>
                        <a:srgbClr val="E1E8F0"/>
                      </a:solidFill>
                      <a:prstDash val="solid"/>
                    </a:lnT>
                    <a:lnB w="6350">
                      <a:solidFill>
                        <a:srgbClr val="E1E8F0"/>
                      </a:solidFill>
                      <a:prstDash val="solid"/>
                    </a:lnB>
                    <a:solidFill>
                      <a:srgbClr val="1D4D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49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100" b="1" spc="-10" dirty="0">
                          <a:solidFill>
                            <a:srgbClr val="0E162A"/>
                          </a:solidFill>
                          <a:latin typeface="Calibri"/>
                          <a:cs typeface="Calibri"/>
                        </a:rPr>
                        <a:t>Memory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5719" marB="0">
                    <a:lnL w="6350">
                      <a:solidFill>
                        <a:srgbClr val="E1E8F0"/>
                      </a:solidFill>
                      <a:prstDash val="solid"/>
                    </a:lnL>
                    <a:lnR w="6350">
                      <a:solidFill>
                        <a:srgbClr val="E1E8F0"/>
                      </a:solidFill>
                      <a:prstDash val="solid"/>
                    </a:lnR>
                    <a:lnT w="6350">
                      <a:solidFill>
                        <a:srgbClr val="E1E8F0"/>
                      </a:solidFill>
                      <a:prstDash val="solid"/>
                    </a:lnT>
                    <a:lnB w="6350">
                      <a:solidFill>
                        <a:srgbClr val="E1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Edge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penalty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dict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5719" marB="0">
                    <a:lnL w="6350">
                      <a:solidFill>
                        <a:srgbClr val="E1E8F0"/>
                      </a:solidFill>
                      <a:prstDash val="solid"/>
                    </a:lnL>
                    <a:lnR w="6350">
                      <a:solidFill>
                        <a:srgbClr val="E1E8F0"/>
                      </a:solidFill>
                      <a:prstDash val="solid"/>
                    </a:lnR>
                    <a:lnT w="6350">
                      <a:solidFill>
                        <a:srgbClr val="E1E8F0"/>
                      </a:solidFill>
                      <a:prstDash val="solid"/>
                    </a:lnT>
                    <a:lnB w="6350">
                      <a:solidFill>
                        <a:srgbClr val="E1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Pheromone</a:t>
                      </a:r>
                      <a:r>
                        <a:rPr sz="11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matrix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5719" marB="0">
                    <a:lnL w="6350">
                      <a:solidFill>
                        <a:srgbClr val="E1E8F0"/>
                      </a:solidFill>
                      <a:prstDash val="solid"/>
                    </a:lnL>
                    <a:lnR w="6350">
                      <a:solidFill>
                        <a:srgbClr val="E1E8F0"/>
                      </a:solidFill>
                      <a:prstDash val="solid"/>
                    </a:lnR>
                    <a:lnT w="6350">
                      <a:solidFill>
                        <a:srgbClr val="E1E8F0"/>
                      </a:solidFill>
                      <a:prstDash val="solid"/>
                    </a:lnT>
                    <a:lnB w="6350">
                      <a:solidFill>
                        <a:srgbClr val="E1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49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100" b="1" dirty="0">
                          <a:solidFill>
                            <a:srgbClr val="0E162A"/>
                          </a:solidFill>
                          <a:latin typeface="Calibri"/>
                          <a:cs typeface="Calibri"/>
                        </a:rPr>
                        <a:t>Escape</a:t>
                      </a:r>
                      <a:r>
                        <a:rPr sz="1100" b="1" spc="-10" dirty="0">
                          <a:solidFill>
                            <a:srgbClr val="0E162A"/>
                          </a:solidFill>
                          <a:latin typeface="Calibri"/>
                          <a:cs typeface="Calibri"/>
                        </a:rPr>
                        <a:t> mechanism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5719" marB="0">
                    <a:lnL w="6350">
                      <a:solidFill>
                        <a:srgbClr val="E1E8F0"/>
                      </a:solidFill>
                      <a:prstDash val="solid"/>
                    </a:lnL>
                    <a:lnR w="6350">
                      <a:solidFill>
                        <a:srgbClr val="E1E8F0"/>
                      </a:solidFill>
                      <a:prstDash val="solid"/>
                    </a:lnR>
                    <a:lnT w="6350">
                      <a:solidFill>
                        <a:srgbClr val="E1E8F0"/>
                      </a:solidFill>
                      <a:prstDash val="solid"/>
                    </a:lnT>
                    <a:lnB w="6350">
                      <a:solidFill>
                        <a:srgbClr val="E1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Augment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cost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bad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edges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5719" marB="0">
                    <a:lnL w="6350">
                      <a:solidFill>
                        <a:srgbClr val="E1E8F0"/>
                      </a:solidFill>
                      <a:prstDash val="solid"/>
                    </a:lnL>
                    <a:lnR w="6350">
                      <a:solidFill>
                        <a:srgbClr val="E1E8F0"/>
                      </a:solidFill>
                      <a:prstDash val="solid"/>
                    </a:lnR>
                    <a:lnT w="6350">
                      <a:solidFill>
                        <a:srgbClr val="E1E8F0"/>
                      </a:solidFill>
                      <a:prstDash val="solid"/>
                    </a:lnT>
                    <a:lnB w="6350">
                      <a:solidFill>
                        <a:srgbClr val="E1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Population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+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evaporation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5719" marB="0">
                    <a:lnL w="6350">
                      <a:solidFill>
                        <a:srgbClr val="E1E8F0"/>
                      </a:solidFill>
                      <a:prstDash val="solid"/>
                    </a:lnL>
                    <a:lnR w="6350">
                      <a:solidFill>
                        <a:srgbClr val="E1E8F0"/>
                      </a:solidFill>
                      <a:prstDash val="solid"/>
                    </a:lnR>
                    <a:lnT w="6350">
                      <a:solidFill>
                        <a:srgbClr val="E1E8F0"/>
                      </a:solidFill>
                      <a:prstDash val="solid"/>
                    </a:lnT>
                    <a:lnB w="6350">
                      <a:solidFill>
                        <a:srgbClr val="E1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49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100" b="1" spc="-20" dirty="0">
                          <a:solidFill>
                            <a:srgbClr val="0E162A"/>
                          </a:solidFill>
                          <a:latin typeface="Calibri"/>
                          <a:cs typeface="Calibri"/>
                        </a:rPr>
                        <a:t>Per-</a:t>
                      </a:r>
                      <a:r>
                        <a:rPr sz="1100" b="1" dirty="0">
                          <a:solidFill>
                            <a:srgbClr val="0E162A"/>
                          </a:solidFill>
                          <a:latin typeface="Calibri"/>
                          <a:cs typeface="Calibri"/>
                        </a:rPr>
                        <a:t>cluster</a:t>
                      </a:r>
                      <a:r>
                        <a:rPr sz="1100" b="1" spc="-35" dirty="0">
                          <a:solidFill>
                            <a:srgbClr val="0E16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20" dirty="0">
                          <a:solidFill>
                            <a:srgbClr val="0E162A"/>
                          </a:solidFill>
                          <a:latin typeface="Calibri"/>
                          <a:cs typeface="Calibri"/>
                        </a:rPr>
                        <a:t>speed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5719" marB="0">
                    <a:lnL w="6350">
                      <a:solidFill>
                        <a:srgbClr val="E1E8F0"/>
                      </a:solidFill>
                      <a:prstDash val="solid"/>
                    </a:lnL>
                    <a:lnR w="6350">
                      <a:solidFill>
                        <a:srgbClr val="E1E8F0"/>
                      </a:solidFill>
                      <a:prstDash val="solid"/>
                    </a:lnR>
                    <a:lnT w="6350">
                      <a:solidFill>
                        <a:srgbClr val="E1E8F0"/>
                      </a:solidFill>
                      <a:prstDash val="solid"/>
                    </a:lnT>
                    <a:lnB w="6350">
                      <a:solidFill>
                        <a:srgbClr val="E1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100" b="1" dirty="0">
                          <a:solidFill>
                            <a:srgbClr val="0FB980"/>
                          </a:solidFill>
                          <a:latin typeface="Calibri"/>
                          <a:cs typeface="Calibri"/>
                        </a:rPr>
                        <a:t>0.08s</a:t>
                      </a:r>
                      <a:r>
                        <a:rPr sz="1100" b="1" spc="215" dirty="0">
                          <a:solidFill>
                            <a:srgbClr val="0FB9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solidFill>
                            <a:srgbClr val="0FB980"/>
                          </a:solidFill>
                          <a:latin typeface="Calibri"/>
                          <a:cs typeface="Calibri"/>
                        </a:rPr>
                        <a:t>←</a:t>
                      </a:r>
                      <a:r>
                        <a:rPr sz="1100" b="1" spc="-15" dirty="0">
                          <a:solidFill>
                            <a:srgbClr val="0FB9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solidFill>
                            <a:srgbClr val="0FB980"/>
                          </a:solidFill>
                          <a:latin typeface="Calibri"/>
                          <a:cs typeface="Calibri"/>
                        </a:rPr>
                        <a:t>7×</a:t>
                      </a:r>
                      <a:r>
                        <a:rPr sz="1100" b="1" spc="-10" dirty="0">
                          <a:solidFill>
                            <a:srgbClr val="0FB980"/>
                          </a:solidFill>
                          <a:latin typeface="Calibri"/>
                          <a:cs typeface="Calibri"/>
                        </a:rPr>
                        <a:t> faster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5719" marB="0">
                    <a:lnL w="6350">
                      <a:solidFill>
                        <a:srgbClr val="E1E8F0"/>
                      </a:solidFill>
                      <a:prstDash val="solid"/>
                    </a:lnL>
                    <a:lnR w="6350">
                      <a:solidFill>
                        <a:srgbClr val="E1E8F0"/>
                      </a:solidFill>
                      <a:prstDash val="solid"/>
                    </a:lnR>
                    <a:lnT w="6350">
                      <a:solidFill>
                        <a:srgbClr val="E1E8F0"/>
                      </a:solidFill>
                      <a:prstDash val="solid"/>
                    </a:lnT>
                    <a:lnB w="6350">
                      <a:solidFill>
                        <a:srgbClr val="E1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0.54s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5719" marB="0">
                    <a:lnL w="6350">
                      <a:solidFill>
                        <a:srgbClr val="E1E8F0"/>
                      </a:solidFill>
                      <a:prstDash val="solid"/>
                    </a:lnL>
                    <a:lnR w="6350">
                      <a:solidFill>
                        <a:srgbClr val="E1E8F0"/>
                      </a:solidFill>
                      <a:prstDash val="solid"/>
                    </a:lnR>
                    <a:lnT w="6350">
                      <a:solidFill>
                        <a:srgbClr val="E1E8F0"/>
                      </a:solidFill>
                      <a:prstDash val="solid"/>
                    </a:lnT>
                    <a:lnB w="6350">
                      <a:solidFill>
                        <a:srgbClr val="E1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49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100" b="1" dirty="0">
                          <a:solidFill>
                            <a:srgbClr val="0E162A"/>
                          </a:solidFill>
                          <a:latin typeface="Calibri"/>
                          <a:cs typeface="Calibri"/>
                        </a:rPr>
                        <a:t>Quality</a:t>
                      </a:r>
                      <a:r>
                        <a:rPr sz="1100" b="1" spc="-35" dirty="0">
                          <a:solidFill>
                            <a:srgbClr val="0E16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solidFill>
                            <a:srgbClr val="0E162A"/>
                          </a:solidFill>
                          <a:latin typeface="Calibri"/>
                          <a:cs typeface="Calibri"/>
                        </a:rPr>
                        <a:t>(avg</a:t>
                      </a:r>
                      <a:r>
                        <a:rPr sz="1100" b="1" spc="-35" dirty="0">
                          <a:solidFill>
                            <a:srgbClr val="0E16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0E162A"/>
                          </a:solidFill>
                          <a:latin typeface="Calibri"/>
                          <a:cs typeface="Calibri"/>
                        </a:rPr>
                        <a:t>length)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5719" marB="0">
                    <a:lnL w="6350">
                      <a:solidFill>
                        <a:srgbClr val="E1E8F0"/>
                      </a:solidFill>
                      <a:prstDash val="solid"/>
                    </a:lnL>
                    <a:lnR w="6350">
                      <a:solidFill>
                        <a:srgbClr val="E1E8F0"/>
                      </a:solidFill>
                      <a:prstDash val="solid"/>
                    </a:lnR>
                    <a:lnT w="6350">
                      <a:solidFill>
                        <a:srgbClr val="E1E8F0"/>
                      </a:solidFill>
                      <a:prstDash val="solid"/>
                    </a:lnT>
                    <a:lnB w="6350">
                      <a:solidFill>
                        <a:srgbClr val="E1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7,916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5719" marB="0">
                    <a:lnL w="6350">
                      <a:solidFill>
                        <a:srgbClr val="E1E8F0"/>
                      </a:solidFill>
                      <a:prstDash val="solid"/>
                    </a:lnL>
                    <a:lnR w="6350">
                      <a:solidFill>
                        <a:srgbClr val="E1E8F0"/>
                      </a:solidFill>
                      <a:prstDash val="solid"/>
                    </a:lnR>
                    <a:lnT w="6350">
                      <a:solidFill>
                        <a:srgbClr val="E1E8F0"/>
                      </a:solidFill>
                      <a:prstDash val="solid"/>
                    </a:lnT>
                    <a:lnB w="6350">
                      <a:solidFill>
                        <a:srgbClr val="E1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100" b="1" dirty="0">
                          <a:solidFill>
                            <a:srgbClr val="0D9487"/>
                          </a:solidFill>
                          <a:latin typeface="Calibri"/>
                          <a:cs typeface="Calibri"/>
                        </a:rPr>
                        <a:t>7,527</a:t>
                      </a:r>
                      <a:r>
                        <a:rPr sz="1100" b="1" spc="220" dirty="0">
                          <a:solidFill>
                            <a:srgbClr val="0D948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solidFill>
                            <a:srgbClr val="0D9487"/>
                          </a:solidFill>
                          <a:latin typeface="Calibri"/>
                          <a:cs typeface="Calibri"/>
                        </a:rPr>
                        <a:t>←</a:t>
                      </a:r>
                      <a:r>
                        <a:rPr sz="1100" b="1" spc="-15" dirty="0">
                          <a:solidFill>
                            <a:srgbClr val="0D948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solidFill>
                            <a:srgbClr val="0D9487"/>
                          </a:solidFill>
                          <a:latin typeface="Calibri"/>
                          <a:cs typeface="Calibri"/>
                        </a:rPr>
                        <a:t>5%</a:t>
                      </a:r>
                      <a:r>
                        <a:rPr sz="1100" b="1" spc="-10" dirty="0">
                          <a:solidFill>
                            <a:srgbClr val="0D9487"/>
                          </a:solidFill>
                          <a:latin typeface="Calibri"/>
                          <a:cs typeface="Calibri"/>
                        </a:rPr>
                        <a:t> better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5719" marB="0">
                    <a:lnL w="6350">
                      <a:solidFill>
                        <a:srgbClr val="E1E8F0"/>
                      </a:solidFill>
                      <a:prstDash val="solid"/>
                    </a:lnL>
                    <a:lnR w="6350">
                      <a:solidFill>
                        <a:srgbClr val="E1E8F0"/>
                      </a:solidFill>
                      <a:prstDash val="solid"/>
                    </a:lnR>
                    <a:lnT w="6350">
                      <a:solidFill>
                        <a:srgbClr val="E1E8F0"/>
                      </a:solidFill>
                      <a:prstDash val="solid"/>
                    </a:lnT>
                    <a:lnB w="6350">
                      <a:solidFill>
                        <a:srgbClr val="E1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0" dirty="0"/>
              <a:t>Step</a:t>
            </a:r>
            <a:r>
              <a:rPr spc="75" dirty="0"/>
              <a:t> </a:t>
            </a:r>
            <a:r>
              <a:rPr dirty="0"/>
              <a:t>3:</a:t>
            </a:r>
            <a:r>
              <a:rPr spc="70" dirty="0"/>
              <a:t> </a:t>
            </a:r>
            <a:r>
              <a:rPr spc="-25" dirty="0"/>
              <a:t>Inter-</a:t>
            </a:r>
            <a:r>
              <a:rPr spc="90" dirty="0"/>
              <a:t>Cluster</a:t>
            </a:r>
            <a:r>
              <a:rPr spc="75" dirty="0"/>
              <a:t> </a:t>
            </a:r>
            <a:r>
              <a:rPr spc="95" dirty="0"/>
              <a:t>Stitching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8424" y="762309"/>
            <a:ext cx="8336915" cy="541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0100"/>
              </a:lnSpc>
              <a:spcBef>
                <a:spcPts val="100"/>
              </a:spcBef>
            </a:pPr>
            <a:r>
              <a:rPr sz="1300" spc="-10" dirty="0">
                <a:solidFill>
                  <a:srgbClr val="1D283A"/>
                </a:solidFill>
                <a:latin typeface="Calibri"/>
                <a:cs typeface="Calibri"/>
              </a:rPr>
              <a:t>Problem:</a:t>
            </a:r>
            <a:r>
              <a:rPr sz="1300" spc="-4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D283A"/>
                </a:solidFill>
                <a:latin typeface="Calibri"/>
                <a:cs typeface="Calibri"/>
              </a:rPr>
              <a:t>1,000</a:t>
            </a:r>
            <a:r>
              <a:rPr sz="1300" spc="-3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1D283A"/>
                </a:solidFill>
                <a:latin typeface="Calibri"/>
                <a:cs typeface="Calibri"/>
              </a:rPr>
              <a:t>sub-</a:t>
            </a:r>
            <a:r>
              <a:rPr sz="1300" spc="-10" dirty="0">
                <a:solidFill>
                  <a:srgbClr val="1D283A"/>
                </a:solidFill>
                <a:latin typeface="Calibri"/>
                <a:cs typeface="Calibri"/>
              </a:rPr>
              <a:t>tours,</a:t>
            </a:r>
            <a:r>
              <a:rPr sz="1300" spc="-4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D283A"/>
                </a:solidFill>
                <a:latin typeface="Calibri"/>
                <a:cs typeface="Calibri"/>
              </a:rPr>
              <a:t>each</a:t>
            </a:r>
            <a:r>
              <a:rPr sz="1300" spc="-3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D283A"/>
                </a:solidFill>
                <a:latin typeface="Calibri"/>
                <a:cs typeface="Calibri"/>
              </a:rPr>
              <a:t>a</a:t>
            </a:r>
            <a:r>
              <a:rPr sz="1300" spc="-3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D283A"/>
                </a:solidFill>
                <a:latin typeface="Calibri"/>
                <a:cs typeface="Calibri"/>
              </a:rPr>
              <a:t>cycle</a:t>
            </a:r>
            <a:r>
              <a:rPr sz="1300" spc="-4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D283A"/>
                </a:solidFill>
                <a:latin typeface="Calibri"/>
                <a:cs typeface="Calibri"/>
              </a:rPr>
              <a:t>within</a:t>
            </a:r>
            <a:r>
              <a:rPr sz="1300" spc="-3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D283A"/>
                </a:solidFill>
                <a:latin typeface="Calibri"/>
                <a:cs typeface="Calibri"/>
              </a:rPr>
              <a:t>its</a:t>
            </a:r>
            <a:r>
              <a:rPr sz="1300" spc="-4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1D283A"/>
                </a:solidFill>
                <a:latin typeface="Calibri"/>
                <a:cs typeface="Calibri"/>
              </a:rPr>
              <a:t>cluster.</a:t>
            </a:r>
            <a:r>
              <a:rPr sz="1300" spc="-3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1D283A"/>
                </a:solidFill>
                <a:latin typeface="Calibri"/>
                <a:cs typeface="Calibri"/>
              </a:rPr>
              <a:t>We</a:t>
            </a:r>
            <a:r>
              <a:rPr sz="1300" spc="-3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D283A"/>
                </a:solidFill>
                <a:latin typeface="Calibri"/>
                <a:cs typeface="Calibri"/>
              </a:rPr>
              <a:t>need</a:t>
            </a:r>
            <a:r>
              <a:rPr sz="1300" spc="-4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D283A"/>
                </a:solidFill>
                <a:latin typeface="Calibri"/>
                <a:cs typeface="Calibri"/>
              </a:rPr>
              <a:t>to</a:t>
            </a:r>
            <a:r>
              <a:rPr sz="1300" spc="-3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D283A"/>
                </a:solidFill>
                <a:latin typeface="Calibri"/>
                <a:cs typeface="Calibri"/>
              </a:rPr>
              <a:t>order</a:t>
            </a:r>
            <a:r>
              <a:rPr sz="1300" spc="-4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D283A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1D283A"/>
                </a:solidFill>
                <a:latin typeface="Calibri"/>
                <a:cs typeface="Calibri"/>
              </a:rPr>
              <a:t>clusters</a:t>
            </a:r>
            <a:r>
              <a:rPr sz="1300" spc="-3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D283A"/>
                </a:solidFill>
                <a:latin typeface="Calibri"/>
                <a:cs typeface="Calibri"/>
              </a:rPr>
              <a:t>and</a:t>
            </a:r>
            <a:r>
              <a:rPr sz="1300" spc="-4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D283A"/>
                </a:solidFill>
                <a:latin typeface="Calibri"/>
                <a:cs typeface="Calibri"/>
              </a:rPr>
              <a:t>join</a:t>
            </a:r>
            <a:r>
              <a:rPr sz="1300" spc="-3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D283A"/>
                </a:solidFill>
                <a:latin typeface="Calibri"/>
                <a:cs typeface="Calibri"/>
              </a:rPr>
              <a:t>them</a:t>
            </a:r>
            <a:r>
              <a:rPr sz="1300" spc="-4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D283A"/>
                </a:solidFill>
                <a:latin typeface="Calibri"/>
                <a:cs typeface="Calibri"/>
              </a:rPr>
              <a:t>into</a:t>
            </a:r>
            <a:r>
              <a:rPr sz="1300" spc="-3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D283A"/>
                </a:solidFill>
                <a:latin typeface="Calibri"/>
                <a:cs typeface="Calibri"/>
              </a:rPr>
              <a:t>one</a:t>
            </a:r>
            <a:r>
              <a:rPr sz="1300" spc="-3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1D283A"/>
                </a:solidFill>
                <a:latin typeface="Calibri"/>
                <a:cs typeface="Calibri"/>
              </a:rPr>
              <a:t>complete</a:t>
            </a:r>
            <a:r>
              <a:rPr sz="1300" spc="-4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1D283A"/>
                </a:solidFill>
                <a:latin typeface="Calibri"/>
                <a:cs typeface="Calibri"/>
              </a:rPr>
              <a:t>tour </a:t>
            </a:r>
            <a:r>
              <a:rPr sz="1300" dirty="0">
                <a:solidFill>
                  <a:srgbClr val="1D283A"/>
                </a:solidFill>
                <a:latin typeface="Calibri"/>
                <a:cs typeface="Calibri"/>
              </a:rPr>
              <a:t>over</a:t>
            </a:r>
            <a:r>
              <a:rPr sz="1300" spc="-45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D283A"/>
                </a:solidFill>
                <a:latin typeface="Calibri"/>
                <a:cs typeface="Calibri"/>
              </a:rPr>
              <a:t>all</a:t>
            </a:r>
            <a:r>
              <a:rPr sz="1300" spc="-4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D283A"/>
                </a:solidFill>
                <a:latin typeface="Calibri"/>
                <a:cs typeface="Calibri"/>
              </a:rPr>
              <a:t>115k</a:t>
            </a:r>
            <a:r>
              <a:rPr sz="1300" spc="-40" dirty="0">
                <a:solidFill>
                  <a:srgbClr val="1D283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1D283A"/>
                </a:solidFill>
                <a:latin typeface="Calibri"/>
                <a:cs typeface="Calibri"/>
              </a:rPr>
              <a:t>cities.</a:t>
            </a:r>
            <a:endParaRPr sz="13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2993" y="1329476"/>
            <a:ext cx="4052163" cy="2451607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411124" y="1371602"/>
            <a:ext cx="3931920" cy="2331720"/>
          </a:xfrm>
          <a:custGeom>
            <a:avLst/>
            <a:gdLst/>
            <a:ahLst/>
            <a:cxnLst/>
            <a:rect l="l" t="t" r="r" b="b"/>
            <a:pathLst>
              <a:path w="3931920" h="2331720">
                <a:moveTo>
                  <a:pt x="3931551" y="0"/>
                </a:moveTo>
                <a:lnTo>
                  <a:pt x="0" y="0"/>
                </a:lnTo>
                <a:lnTo>
                  <a:pt x="0" y="2331364"/>
                </a:lnTo>
                <a:lnTo>
                  <a:pt x="1965960" y="2331364"/>
                </a:lnTo>
                <a:lnTo>
                  <a:pt x="3931551" y="2331364"/>
                </a:lnTo>
                <a:lnTo>
                  <a:pt x="393155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2114" y="1329476"/>
            <a:ext cx="4052163" cy="2451607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4800244" y="1371602"/>
            <a:ext cx="3931920" cy="2331720"/>
          </a:xfrm>
          <a:custGeom>
            <a:avLst/>
            <a:gdLst/>
            <a:ahLst/>
            <a:cxnLst/>
            <a:rect l="l" t="t" r="r" b="b"/>
            <a:pathLst>
              <a:path w="3931920" h="2331720">
                <a:moveTo>
                  <a:pt x="3931551" y="0"/>
                </a:moveTo>
                <a:lnTo>
                  <a:pt x="0" y="0"/>
                </a:lnTo>
                <a:lnTo>
                  <a:pt x="0" y="2331364"/>
                </a:lnTo>
                <a:lnTo>
                  <a:pt x="1965960" y="2331364"/>
                </a:lnTo>
                <a:lnTo>
                  <a:pt x="3931551" y="2331364"/>
                </a:lnTo>
                <a:lnTo>
                  <a:pt x="393155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401584" y="1362062"/>
          <a:ext cx="8319770" cy="23304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31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2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51890">
                <a:tc rowSpan="2"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300" b="1" spc="50" dirty="0">
                          <a:solidFill>
                            <a:srgbClr val="0D9487"/>
                          </a:solidFill>
                          <a:latin typeface="Meiryo UI"/>
                          <a:cs typeface="Meiryo UI"/>
                        </a:rPr>
                        <a:t>Phase</a:t>
                      </a:r>
                      <a:r>
                        <a:rPr sz="1300" b="1" spc="90" dirty="0">
                          <a:solidFill>
                            <a:srgbClr val="0D9487"/>
                          </a:solidFill>
                          <a:latin typeface="Meiryo UI"/>
                          <a:cs typeface="Meiryo UI"/>
                        </a:rPr>
                        <a:t> </a:t>
                      </a:r>
                      <a:r>
                        <a:rPr sz="1300" b="1" dirty="0">
                          <a:solidFill>
                            <a:srgbClr val="0D9487"/>
                          </a:solidFill>
                          <a:latin typeface="Meiryo UI"/>
                          <a:cs typeface="Meiryo UI"/>
                        </a:rPr>
                        <a:t>A:</a:t>
                      </a:r>
                      <a:r>
                        <a:rPr sz="1300" b="1" spc="95" dirty="0">
                          <a:solidFill>
                            <a:srgbClr val="0D9487"/>
                          </a:solidFill>
                          <a:latin typeface="Meiryo UI"/>
                          <a:cs typeface="Meiryo UI"/>
                        </a:rPr>
                        <a:t> </a:t>
                      </a:r>
                      <a:r>
                        <a:rPr sz="1300" b="1" dirty="0">
                          <a:solidFill>
                            <a:srgbClr val="0D9487"/>
                          </a:solidFill>
                          <a:latin typeface="Meiryo UI"/>
                          <a:cs typeface="Meiryo UI"/>
                        </a:rPr>
                        <a:t>Order</a:t>
                      </a:r>
                      <a:r>
                        <a:rPr sz="1300" b="1" spc="90" dirty="0">
                          <a:solidFill>
                            <a:srgbClr val="0D9487"/>
                          </a:solidFill>
                          <a:latin typeface="Meiryo UI"/>
                          <a:cs typeface="Meiryo UI"/>
                        </a:rPr>
                        <a:t> </a:t>
                      </a:r>
                      <a:r>
                        <a:rPr sz="1300" b="1" spc="55" dirty="0">
                          <a:solidFill>
                            <a:srgbClr val="0D9487"/>
                          </a:solidFill>
                          <a:latin typeface="Meiryo UI"/>
                          <a:cs typeface="Meiryo UI"/>
                        </a:rPr>
                        <a:t>the</a:t>
                      </a:r>
                      <a:r>
                        <a:rPr sz="1300" b="1" spc="95" dirty="0">
                          <a:solidFill>
                            <a:srgbClr val="0D9487"/>
                          </a:solidFill>
                          <a:latin typeface="Meiryo UI"/>
                          <a:cs typeface="Meiryo UI"/>
                        </a:rPr>
                        <a:t> </a:t>
                      </a:r>
                      <a:r>
                        <a:rPr sz="1300" b="1" spc="-10" dirty="0">
                          <a:solidFill>
                            <a:srgbClr val="0D9487"/>
                          </a:solidFill>
                          <a:latin typeface="Meiryo UI"/>
                          <a:cs typeface="Meiryo UI"/>
                        </a:rPr>
                        <a:t>Clusters</a:t>
                      </a:r>
                      <a:endParaRPr sz="1300">
                        <a:latin typeface="Meiryo UI"/>
                        <a:cs typeface="Meiryo UI"/>
                      </a:endParaRPr>
                    </a:p>
                    <a:p>
                      <a:pPr marL="136525" marR="45974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200" spc="-2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Treat</a:t>
                      </a:r>
                      <a:r>
                        <a:rPr sz="1200" spc="-35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-35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k=1,000</a:t>
                      </a:r>
                      <a:r>
                        <a:rPr sz="1200" spc="-35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cluster</a:t>
                      </a:r>
                      <a:r>
                        <a:rPr sz="1200" spc="-3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centroids</a:t>
                      </a:r>
                      <a:r>
                        <a:rPr sz="1200" spc="-35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as</a:t>
                      </a:r>
                      <a:r>
                        <a:rPr sz="1200" spc="-35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200" spc="-35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small</a:t>
                      </a:r>
                      <a:r>
                        <a:rPr sz="1200" spc="-35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TSP</a:t>
                      </a:r>
                      <a:r>
                        <a:rPr sz="1200" spc="-35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sub-</a:t>
                      </a:r>
                      <a:r>
                        <a:rPr sz="1200" spc="-1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problem.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36525" marR="534670">
                        <a:lnSpc>
                          <a:spcPct val="140000"/>
                        </a:lnSpc>
                      </a:pPr>
                      <a:r>
                        <a:rPr sz="1200" b="1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Run</a:t>
                      </a:r>
                      <a:r>
                        <a:rPr sz="1200" b="1" spc="-25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SA</a:t>
                      </a:r>
                      <a:r>
                        <a:rPr sz="1200" b="1" spc="-2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on</a:t>
                      </a:r>
                      <a:r>
                        <a:rPr sz="1200" b="1" spc="-2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centroids </a:t>
                      </a:r>
                      <a:r>
                        <a:rPr sz="120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(5,000</a:t>
                      </a:r>
                      <a:r>
                        <a:rPr sz="1200" spc="-2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iterations)</a:t>
                      </a:r>
                      <a:r>
                        <a:rPr sz="1200" spc="-25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200" spc="-2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find</a:t>
                      </a:r>
                      <a:r>
                        <a:rPr sz="1200" spc="-2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200" spc="-25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good </a:t>
                      </a:r>
                      <a:r>
                        <a:rPr sz="120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visiting</a:t>
                      </a:r>
                      <a:r>
                        <a:rPr sz="1200" spc="-35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order</a:t>
                      </a:r>
                      <a:r>
                        <a:rPr sz="1200" spc="-3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200" spc="-35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all</a:t>
                      </a:r>
                      <a:r>
                        <a:rPr sz="1200" spc="-3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1,000</a:t>
                      </a:r>
                      <a:r>
                        <a:rPr sz="1200" spc="-35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clusters.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36525" marR="415925">
                        <a:lnSpc>
                          <a:spcPct val="140000"/>
                        </a:lnSpc>
                      </a:pPr>
                      <a:r>
                        <a:rPr sz="120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This</a:t>
                      </a:r>
                      <a:r>
                        <a:rPr sz="1200" spc="-35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takes</a:t>
                      </a:r>
                      <a:r>
                        <a:rPr sz="1200" spc="-35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only</a:t>
                      </a:r>
                      <a:r>
                        <a:rPr sz="1200" spc="-3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~2</a:t>
                      </a:r>
                      <a:r>
                        <a:rPr sz="1200" spc="-35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seconds</a:t>
                      </a:r>
                      <a:r>
                        <a:rPr sz="1200" spc="-3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1200" spc="-35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produces</a:t>
                      </a:r>
                      <a:r>
                        <a:rPr sz="1200" spc="-35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-3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backbone ordering.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52400" marB="0">
                    <a:lnL w="19050">
                      <a:solidFill>
                        <a:srgbClr val="0D9487"/>
                      </a:solidFill>
                      <a:prstDash val="solid"/>
                    </a:lnL>
                    <a:lnR w="19050">
                      <a:solidFill>
                        <a:srgbClr val="0D9487"/>
                      </a:solidFill>
                      <a:prstDash val="solid"/>
                    </a:lnR>
                    <a:lnT w="19050">
                      <a:solidFill>
                        <a:srgbClr val="0D9487"/>
                      </a:solidFill>
                      <a:prstDash val="solid"/>
                    </a:lnT>
                    <a:lnB w="19050">
                      <a:solidFill>
                        <a:srgbClr val="0D948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D9487"/>
                      </a:solidFill>
                      <a:prstDash val="solid"/>
                    </a:lnL>
                    <a:lnR w="19050">
                      <a:solidFill>
                        <a:srgbClr val="1D4DD7"/>
                      </a:solidFill>
                      <a:prstDash val="solid"/>
                    </a:lnR>
                    <a:lnB w="28575">
                      <a:solidFill>
                        <a:srgbClr val="465469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300" b="1" spc="50" dirty="0">
                          <a:solidFill>
                            <a:srgbClr val="1D4DD7"/>
                          </a:solidFill>
                          <a:latin typeface="Meiryo UI"/>
                          <a:cs typeface="Meiryo UI"/>
                        </a:rPr>
                        <a:t>Phase</a:t>
                      </a:r>
                      <a:r>
                        <a:rPr sz="1300" b="1" spc="25" dirty="0">
                          <a:solidFill>
                            <a:srgbClr val="1D4DD7"/>
                          </a:solidFill>
                          <a:latin typeface="Meiryo UI"/>
                          <a:cs typeface="Meiryo UI"/>
                        </a:rPr>
                        <a:t> </a:t>
                      </a:r>
                      <a:r>
                        <a:rPr sz="1300" b="1" dirty="0">
                          <a:solidFill>
                            <a:srgbClr val="1D4DD7"/>
                          </a:solidFill>
                          <a:latin typeface="Meiryo UI"/>
                          <a:cs typeface="Meiryo UI"/>
                        </a:rPr>
                        <a:t>B:</a:t>
                      </a:r>
                      <a:r>
                        <a:rPr sz="1300" b="1" spc="30" dirty="0">
                          <a:solidFill>
                            <a:srgbClr val="1D4DD7"/>
                          </a:solidFill>
                          <a:latin typeface="Meiryo UI"/>
                          <a:cs typeface="Meiryo UI"/>
                        </a:rPr>
                        <a:t> </a:t>
                      </a:r>
                      <a:r>
                        <a:rPr sz="1300" b="1" spc="50" dirty="0">
                          <a:solidFill>
                            <a:srgbClr val="1D4DD7"/>
                          </a:solidFill>
                          <a:latin typeface="Meiryo UI"/>
                          <a:cs typeface="Meiryo UI"/>
                        </a:rPr>
                        <a:t>Stitch</a:t>
                      </a:r>
                      <a:r>
                        <a:rPr sz="1300" b="1" spc="30" dirty="0">
                          <a:solidFill>
                            <a:srgbClr val="1D4DD7"/>
                          </a:solidFill>
                          <a:latin typeface="Meiryo UI"/>
                          <a:cs typeface="Meiryo UI"/>
                        </a:rPr>
                        <a:t> </a:t>
                      </a:r>
                      <a:r>
                        <a:rPr sz="1300" b="1" spc="60" dirty="0">
                          <a:solidFill>
                            <a:srgbClr val="1D4DD7"/>
                          </a:solidFill>
                          <a:latin typeface="Meiryo UI"/>
                          <a:cs typeface="Meiryo UI"/>
                        </a:rPr>
                        <a:t>at</a:t>
                      </a:r>
                      <a:r>
                        <a:rPr sz="1300" b="1" spc="30" dirty="0">
                          <a:solidFill>
                            <a:srgbClr val="1D4DD7"/>
                          </a:solidFill>
                          <a:latin typeface="Meiryo UI"/>
                          <a:cs typeface="Meiryo UI"/>
                        </a:rPr>
                        <a:t> </a:t>
                      </a:r>
                      <a:r>
                        <a:rPr sz="1300" b="1" spc="-10" dirty="0">
                          <a:solidFill>
                            <a:srgbClr val="1D4DD7"/>
                          </a:solidFill>
                          <a:latin typeface="Meiryo UI"/>
                          <a:cs typeface="Meiryo UI"/>
                        </a:rPr>
                        <a:t>Boundaries</a:t>
                      </a:r>
                      <a:endParaRPr sz="1300">
                        <a:latin typeface="Meiryo UI"/>
                        <a:cs typeface="Meiryo U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1371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For</a:t>
                      </a:r>
                      <a:r>
                        <a:rPr sz="1200" spc="-3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each</a:t>
                      </a:r>
                      <a:r>
                        <a:rPr sz="1200" spc="-35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adjacent</a:t>
                      </a:r>
                      <a:r>
                        <a:rPr sz="1200" spc="-35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cluster</a:t>
                      </a:r>
                      <a:r>
                        <a:rPr sz="1200" spc="-3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pair</a:t>
                      </a:r>
                      <a:r>
                        <a:rPr sz="1200" spc="-35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(cᵢ,</a:t>
                      </a:r>
                      <a:r>
                        <a:rPr sz="1200" spc="-3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cᵢ₊₁)</a:t>
                      </a:r>
                      <a:r>
                        <a:rPr sz="1200" spc="-35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1200" spc="-3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-35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ordering: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47650" indent="-110489">
                        <a:lnSpc>
                          <a:spcPct val="100000"/>
                        </a:lnSpc>
                        <a:spcBef>
                          <a:spcPts val="5"/>
                        </a:spcBef>
                        <a:buClr>
                          <a:srgbClr val="0D9487"/>
                        </a:buClr>
                        <a:buChar char="•"/>
                        <a:tabLst>
                          <a:tab pos="247650" algn="l"/>
                        </a:tabLst>
                      </a:pPr>
                      <a:r>
                        <a:rPr sz="120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Find</a:t>
                      </a:r>
                      <a:r>
                        <a:rPr sz="1200" spc="-25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-25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city</a:t>
                      </a:r>
                      <a:r>
                        <a:rPr sz="1200" spc="-15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1200" spc="-25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cᵢ</a:t>
                      </a:r>
                      <a:r>
                        <a:rPr sz="1200" spc="-2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closest</a:t>
                      </a:r>
                      <a:r>
                        <a:rPr sz="1200" spc="-25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200" spc="-25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cᵢ₊₁'s</a:t>
                      </a:r>
                      <a:r>
                        <a:rPr sz="1200" spc="-2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centroid</a:t>
                      </a:r>
                      <a:r>
                        <a:rPr sz="1200" spc="-25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→</a:t>
                      </a:r>
                      <a:r>
                        <a:rPr sz="1200" spc="25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i="1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exit</a:t>
                      </a:r>
                      <a:r>
                        <a:rPr sz="1200" i="1" spc="-25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i="1" spc="-2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city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247650" indent="-110489">
                        <a:lnSpc>
                          <a:spcPct val="100000"/>
                        </a:lnSpc>
                        <a:buClr>
                          <a:srgbClr val="0D9487"/>
                        </a:buClr>
                        <a:buChar char="•"/>
                        <a:tabLst>
                          <a:tab pos="247650" algn="l"/>
                        </a:tabLst>
                      </a:pPr>
                      <a:r>
                        <a:rPr sz="120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Find</a:t>
                      </a:r>
                      <a:r>
                        <a:rPr sz="1200" spc="-25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-2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city</a:t>
                      </a:r>
                      <a:r>
                        <a:rPr sz="1200" spc="-15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1200" spc="-2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cᵢ₊₁</a:t>
                      </a:r>
                      <a:r>
                        <a:rPr sz="1200" spc="-2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closest</a:t>
                      </a:r>
                      <a:r>
                        <a:rPr sz="1200" spc="-2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200" spc="-2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cᵢ's</a:t>
                      </a:r>
                      <a:r>
                        <a:rPr sz="1200" spc="-2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centroid</a:t>
                      </a:r>
                      <a:r>
                        <a:rPr sz="1200" spc="-2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→</a:t>
                      </a:r>
                      <a:r>
                        <a:rPr sz="1200" spc="2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i="1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entry</a:t>
                      </a:r>
                      <a:r>
                        <a:rPr sz="1200" i="1" spc="-2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city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37160" marR="149225">
                        <a:lnSpc>
                          <a:spcPct val="134800"/>
                        </a:lnSpc>
                      </a:pPr>
                      <a:r>
                        <a:rPr sz="1200" b="1" spc="-1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Rotate</a:t>
                      </a:r>
                      <a:r>
                        <a:rPr sz="1200" b="1" spc="-2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each</a:t>
                      </a:r>
                      <a:r>
                        <a:rPr sz="1200" spc="-2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cluster's</a:t>
                      </a:r>
                      <a:r>
                        <a:rPr sz="1200" spc="-2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sub-</a:t>
                      </a:r>
                      <a:r>
                        <a:rPr sz="120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tour</a:t>
                      </a:r>
                      <a:r>
                        <a:rPr sz="1200" spc="-2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so</a:t>
                      </a:r>
                      <a:r>
                        <a:rPr sz="1200" spc="-25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it</a:t>
                      </a:r>
                      <a:r>
                        <a:rPr sz="1200" spc="-2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starts</a:t>
                      </a:r>
                      <a:r>
                        <a:rPr sz="1200" spc="-2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at</a:t>
                      </a:r>
                      <a:r>
                        <a:rPr sz="1200" spc="-2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entry</a:t>
                      </a:r>
                      <a:r>
                        <a:rPr sz="1200" spc="-2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1200" spc="-2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ends </a:t>
                      </a:r>
                      <a:r>
                        <a:rPr sz="120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at</a:t>
                      </a:r>
                      <a:r>
                        <a:rPr sz="1200" spc="-35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exit,</a:t>
                      </a:r>
                      <a:r>
                        <a:rPr sz="1200" spc="-35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then</a:t>
                      </a:r>
                      <a:r>
                        <a:rPr sz="1200" spc="-35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1D283A"/>
                          </a:solidFill>
                          <a:latin typeface="Calibri"/>
                          <a:cs typeface="Calibri"/>
                        </a:rPr>
                        <a:t>concatenate.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52400" marB="0">
                    <a:lnL w="19050">
                      <a:solidFill>
                        <a:srgbClr val="1D4DD7"/>
                      </a:solidFill>
                      <a:prstDash val="solid"/>
                    </a:lnL>
                    <a:lnR w="19050">
                      <a:solidFill>
                        <a:srgbClr val="1D4DD7"/>
                      </a:solidFill>
                      <a:prstDash val="solid"/>
                    </a:lnR>
                    <a:lnT w="19050">
                      <a:solidFill>
                        <a:srgbClr val="1D4DD7"/>
                      </a:solidFill>
                      <a:prstDash val="solid"/>
                    </a:lnT>
                    <a:lnB w="19050">
                      <a:solidFill>
                        <a:srgbClr val="1D4DD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85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2400" marB="0">
                    <a:lnL w="19050">
                      <a:solidFill>
                        <a:srgbClr val="0D9487"/>
                      </a:solidFill>
                      <a:prstDash val="solid"/>
                    </a:lnL>
                    <a:lnR w="19050">
                      <a:solidFill>
                        <a:srgbClr val="0D9487"/>
                      </a:solidFill>
                      <a:prstDash val="solid"/>
                    </a:lnR>
                    <a:lnT w="19050">
                      <a:solidFill>
                        <a:srgbClr val="0D9487"/>
                      </a:solidFill>
                      <a:prstDash val="solid"/>
                    </a:lnT>
                    <a:lnB w="19050">
                      <a:solidFill>
                        <a:srgbClr val="0D948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ts val="745"/>
                        </a:lnSpc>
                      </a:pPr>
                      <a:r>
                        <a:rPr sz="1000" spc="100" dirty="0">
                          <a:solidFill>
                            <a:srgbClr val="465469"/>
                          </a:solidFill>
                          <a:latin typeface="Adobe Clean SemiCondensed"/>
                          <a:cs typeface="Adobe Clean SemiCondensed"/>
                        </a:rPr>
                        <a:t>▶</a:t>
                      </a:r>
                      <a:endParaRPr sz="1000">
                        <a:latin typeface="Adobe Clean SemiCondensed"/>
                        <a:cs typeface="Adobe Clean SemiCondensed"/>
                      </a:endParaRPr>
                    </a:p>
                  </a:txBody>
                  <a:tcPr marL="0" marR="0" marT="0" marB="0">
                    <a:lnL w="19050">
                      <a:solidFill>
                        <a:srgbClr val="0D9487"/>
                      </a:solidFill>
                      <a:prstDash val="solid"/>
                    </a:lnL>
                    <a:lnR w="19050">
                      <a:solidFill>
                        <a:srgbClr val="1D4DD7"/>
                      </a:solidFill>
                      <a:prstDash val="solid"/>
                    </a:lnR>
                    <a:lnT w="28575">
                      <a:solidFill>
                        <a:srgbClr val="465469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2400" marB="0">
                    <a:lnL w="19050">
                      <a:solidFill>
                        <a:srgbClr val="1D4DD7"/>
                      </a:solidFill>
                      <a:prstDash val="solid"/>
                    </a:lnL>
                    <a:lnR w="19050">
                      <a:solidFill>
                        <a:srgbClr val="1D4DD7"/>
                      </a:solidFill>
                      <a:prstDash val="solid"/>
                    </a:lnR>
                    <a:lnT w="19050">
                      <a:solidFill>
                        <a:srgbClr val="1D4DD7"/>
                      </a:solidFill>
                      <a:prstDash val="solid"/>
                    </a:lnT>
                    <a:lnB w="19050">
                      <a:solidFill>
                        <a:srgbClr val="1D4DD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411124" y="3885846"/>
            <a:ext cx="8321040" cy="1005840"/>
          </a:xfrm>
          <a:custGeom>
            <a:avLst/>
            <a:gdLst/>
            <a:ahLst/>
            <a:cxnLst/>
            <a:rect l="l" t="t" r="r" b="b"/>
            <a:pathLst>
              <a:path w="8321040" h="1005839">
                <a:moveTo>
                  <a:pt x="8320671" y="0"/>
                </a:moveTo>
                <a:lnTo>
                  <a:pt x="0" y="0"/>
                </a:lnTo>
                <a:lnTo>
                  <a:pt x="0" y="1005471"/>
                </a:lnTo>
                <a:lnTo>
                  <a:pt x="4160519" y="1005471"/>
                </a:lnTo>
                <a:lnTo>
                  <a:pt x="8320671" y="1005471"/>
                </a:lnTo>
                <a:lnTo>
                  <a:pt x="8320671" y="0"/>
                </a:lnTo>
                <a:close/>
              </a:path>
            </a:pathLst>
          </a:custGeom>
          <a:solidFill>
            <a:srgbClr val="0E16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11124" y="3885846"/>
            <a:ext cx="8321040" cy="1005840"/>
          </a:xfrm>
          <a:prstGeom prst="rect">
            <a:avLst/>
          </a:prstGeom>
          <a:ln w="25559">
            <a:solidFill>
              <a:srgbClr val="0FB980"/>
            </a:solidFill>
          </a:ln>
        </p:spPr>
        <p:txBody>
          <a:bodyPr vert="horz" wrap="square" lIns="0" tIns="571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0"/>
              </a:spcBef>
            </a:pPr>
            <a:endParaRPr sz="1400">
              <a:latin typeface="Times New Roman"/>
              <a:cs typeface="Times New Roman"/>
            </a:endParaRPr>
          </a:p>
          <a:p>
            <a:pPr marL="182245">
              <a:lnSpc>
                <a:spcPct val="100000"/>
              </a:lnSpc>
              <a:spcBef>
                <a:spcPts val="5"/>
              </a:spcBef>
            </a:pPr>
            <a:r>
              <a:rPr sz="1400" b="1" dirty="0">
                <a:solidFill>
                  <a:srgbClr val="0FB980"/>
                </a:solidFill>
                <a:latin typeface="Calibri"/>
                <a:cs typeface="Calibri"/>
              </a:rPr>
              <a:t>Result:</a:t>
            </a:r>
            <a:r>
              <a:rPr sz="1400" b="1" spc="-35" dirty="0">
                <a:solidFill>
                  <a:srgbClr val="0FB98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valid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Hamiltonian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path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over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115,475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cities.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GLS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pipeline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achieves</a:t>
            </a:r>
            <a:r>
              <a:rPr sz="1400" spc="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13B8A6"/>
                </a:solidFill>
                <a:latin typeface="Calibri"/>
                <a:cs typeface="Calibri"/>
              </a:rPr>
              <a:t>17,605,785</a:t>
            </a:r>
            <a:r>
              <a:rPr sz="1400" b="1" spc="-35" dirty="0">
                <a:solidFill>
                  <a:srgbClr val="13B8A6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13B8A6"/>
                </a:solidFill>
                <a:latin typeface="Calibri"/>
                <a:cs typeface="Calibri"/>
              </a:rPr>
              <a:t>total</a:t>
            </a:r>
            <a:r>
              <a:rPr sz="1400" b="1" spc="-40" dirty="0">
                <a:solidFill>
                  <a:srgbClr val="13B8A6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13B8A6"/>
                </a:solidFill>
                <a:latin typeface="Calibri"/>
                <a:cs typeface="Calibri"/>
              </a:rPr>
              <a:t>length</a:t>
            </a:r>
            <a:r>
              <a:rPr sz="1400" b="1" spc="-20" dirty="0">
                <a:solidFill>
                  <a:srgbClr val="13B8A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endParaRPr sz="1400">
              <a:latin typeface="Calibri"/>
              <a:cs typeface="Calibri"/>
            </a:endParaRPr>
          </a:p>
          <a:p>
            <a:pPr marL="182245">
              <a:lnSpc>
                <a:spcPct val="100000"/>
              </a:lnSpc>
              <a:spcBef>
                <a:spcPts val="500"/>
              </a:spcBef>
            </a:pPr>
            <a:r>
              <a:rPr sz="1400" b="1" dirty="0">
                <a:solidFill>
                  <a:srgbClr val="F49D0A"/>
                </a:solidFill>
                <a:latin typeface="Calibri"/>
                <a:cs typeface="Calibri"/>
              </a:rPr>
              <a:t>91.8%</a:t>
            </a:r>
            <a:r>
              <a:rPr sz="1400" b="1" spc="-4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49D0A"/>
                </a:solidFill>
                <a:latin typeface="Calibri"/>
                <a:cs typeface="Calibri"/>
              </a:rPr>
              <a:t>improvement</a:t>
            </a:r>
            <a:r>
              <a:rPr sz="1400" b="1" spc="-30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over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213.9M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default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tour.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0" dirty="0"/>
              <a:t>What</a:t>
            </a:r>
            <a:r>
              <a:rPr spc="70" dirty="0"/>
              <a:t> </a:t>
            </a:r>
            <a:r>
              <a:rPr spc="75" dirty="0"/>
              <a:t>We </a:t>
            </a:r>
            <a:r>
              <a:rPr dirty="0"/>
              <a:t>Tried:</a:t>
            </a:r>
            <a:r>
              <a:rPr spc="75" dirty="0"/>
              <a:t> Arc </a:t>
            </a:r>
            <a:r>
              <a:rPr spc="105" dirty="0"/>
              <a:t>of</a:t>
            </a:r>
            <a:r>
              <a:rPr spc="70" dirty="0"/>
              <a:t> </a:t>
            </a:r>
            <a:r>
              <a:rPr spc="75" dirty="0"/>
              <a:t>Experimentation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880188"/>
            <a:ext cx="4218940" cy="1292225"/>
            <a:chOff x="359994" y="880188"/>
            <a:chExt cx="4218940" cy="12922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994" y="880188"/>
              <a:ext cx="4218482" cy="129205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11480" y="914402"/>
              <a:ext cx="4133215" cy="1207135"/>
            </a:xfrm>
            <a:custGeom>
              <a:avLst/>
              <a:gdLst/>
              <a:ahLst/>
              <a:cxnLst/>
              <a:rect l="l" t="t" r="r" b="b"/>
              <a:pathLst>
                <a:path w="4133215" h="1207135">
                  <a:moveTo>
                    <a:pt x="4132795" y="0"/>
                  </a:moveTo>
                  <a:lnTo>
                    <a:pt x="0" y="0"/>
                  </a:lnTo>
                  <a:lnTo>
                    <a:pt x="0" y="1206715"/>
                  </a:lnTo>
                  <a:lnTo>
                    <a:pt x="2066404" y="1206715"/>
                  </a:lnTo>
                  <a:lnTo>
                    <a:pt x="4132795" y="1206715"/>
                  </a:lnTo>
                  <a:lnTo>
                    <a:pt x="41327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20915" y="987122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274320" h="274319">
                  <a:moveTo>
                    <a:pt x="137159" y="0"/>
                  </a:moveTo>
                  <a:lnTo>
                    <a:pt x="84562" y="10479"/>
                  </a:lnTo>
                  <a:lnTo>
                    <a:pt x="40139" y="40139"/>
                  </a:lnTo>
                  <a:lnTo>
                    <a:pt x="10485" y="84562"/>
                  </a:lnTo>
                  <a:lnTo>
                    <a:pt x="0" y="137160"/>
                  </a:lnTo>
                  <a:lnTo>
                    <a:pt x="1199" y="155136"/>
                  </a:lnTo>
                  <a:lnTo>
                    <a:pt x="18364" y="205562"/>
                  </a:lnTo>
                  <a:lnTo>
                    <a:pt x="53595" y="246008"/>
                  </a:lnTo>
                  <a:lnTo>
                    <a:pt x="101566" y="269595"/>
                  </a:lnTo>
                  <a:lnTo>
                    <a:pt x="137159" y="274320"/>
                  </a:lnTo>
                  <a:lnTo>
                    <a:pt x="155147" y="273122"/>
                  </a:lnTo>
                  <a:lnTo>
                    <a:pt x="205917" y="255955"/>
                  </a:lnTo>
                  <a:lnTo>
                    <a:pt x="246019" y="220574"/>
                  </a:lnTo>
                  <a:lnTo>
                    <a:pt x="269597" y="172708"/>
                  </a:lnTo>
                  <a:lnTo>
                    <a:pt x="274319" y="137160"/>
                  </a:lnTo>
                  <a:lnTo>
                    <a:pt x="273122" y="119178"/>
                  </a:lnTo>
                  <a:lnTo>
                    <a:pt x="255968" y="68402"/>
                  </a:lnTo>
                  <a:lnTo>
                    <a:pt x="220724" y="28306"/>
                  </a:lnTo>
                  <a:lnTo>
                    <a:pt x="172758" y="4724"/>
                  </a:lnTo>
                  <a:lnTo>
                    <a:pt x="137159" y="0"/>
                  </a:lnTo>
                  <a:close/>
                </a:path>
              </a:pathLst>
            </a:custGeom>
            <a:solidFill>
              <a:srgbClr val="0D94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20915" y="987122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274320" h="274319">
                  <a:moveTo>
                    <a:pt x="0" y="137160"/>
                  </a:moveTo>
                  <a:lnTo>
                    <a:pt x="1199" y="119178"/>
                  </a:lnTo>
                  <a:lnTo>
                    <a:pt x="4729" y="101566"/>
                  </a:lnTo>
                  <a:lnTo>
                    <a:pt x="28306" y="53595"/>
                  </a:lnTo>
                  <a:lnTo>
                    <a:pt x="68402" y="18364"/>
                  </a:lnTo>
                  <a:lnTo>
                    <a:pt x="119178" y="1197"/>
                  </a:lnTo>
                  <a:lnTo>
                    <a:pt x="137159" y="0"/>
                  </a:lnTo>
                  <a:lnTo>
                    <a:pt x="189759" y="10479"/>
                  </a:lnTo>
                  <a:lnTo>
                    <a:pt x="234181" y="40139"/>
                  </a:lnTo>
                  <a:lnTo>
                    <a:pt x="263845" y="84562"/>
                  </a:lnTo>
                  <a:lnTo>
                    <a:pt x="274319" y="137160"/>
                  </a:lnTo>
                  <a:lnTo>
                    <a:pt x="273122" y="155136"/>
                  </a:lnTo>
                  <a:lnTo>
                    <a:pt x="269597" y="172708"/>
                  </a:lnTo>
                  <a:lnTo>
                    <a:pt x="246019" y="220574"/>
                  </a:lnTo>
                  <a:lnTo>
                    <a:pt x="205917" y="255955"/>
                  </a:lnTo>
                  <a:lnTo>
                    <a:pt x="155147" y="273122"/>
                  </a:lnTo>
                  <a:lnTo>
                    <a:pt x="137159" y="274320"/>
                  </a:lnTo>
                  <a:lnTo>
                    <a:pt x="84562" y="263840"/>
                  </a:lnTo>
                  <a:lnTo>
                    <a:pt x="40139" y="234135"/>
                  </a:lnTo>
                  <a:lnTo>
                    <a:pt x="10485" y="189607"/>
                  </a:lnTo>
                  <a:lnTo>
                    <a:pt x="1199" y="155136"/>
                  </a:lnTo>
                  <a:lnTo>
                    <a:pt x="0" y="137160"/>
                  </a:lnTo>
                  <a:close/>
                </a:path>
              </a:pathLst>
            </a:custGeom>
            <a:ln w="12599">
              <a:solidFill>
                <a:srgbClr val="0D94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03319" y="987122"/>
              <a:ext cx="749935" cy="210185"/>
            </a:xfrm>
            <a:custGeom>
              <a:avLst/>
              <a:gdLst/>
              <a:ahLst/>
              <a:cxnLst/>
              <a:rect l="l" t="t" r="r" b="b"/>
              <a:pathLst>
                <a:path w="749935" h="210184">
                  <a:moveTo>
                    <a:pt x="749515" y="0"/>
                  </a:moveTo>
                  <a:lnTo>
                    <a:pt x="0" y="0"/>
                  </a:lnTo>
                  <a:lnTo>
                    <a:pt x="0" y="209880"/>
                  </a:lnTo>
                  <a:lnTo>
                    <a:pt x="374764" y="209880"/>
                  </a:lnTo>
                  <a:lnTo>
                    <a:pt x="749515" y="209880"/>
                  </a:lnTo>
                  <a:lnTo>
                    <a:pt x="749515" y="0"/>
                  </a:lnTo>
                  <a:close/>
                </a:path>
              </a:pathLst>
            </a:custGeom>
            <a:solidFill>
              <a:srgbClr val="0D94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703320" y="987122"/>
            <a:ext cx="749935" cy="210185"/>
          </a:xfrm>
          <a:prstGeom prst="rect">
            <a:avLst/>
          </a:prstGeom>
          <a:ln w="12599">
            <a:solidFill>
              <a:srgbClr val="0D9487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169545">
              <a:lnSpc>
                <a:spcPct val="100000"/>
              </a:lnSpc>
              <a:spcBef>
                <a:spcPts val="345"/>
              </a:spcBef>
            </a:pPr>
            <a:r>
              <a:rPr sz="800" b="1" spc="-10" dirty="0">
                <a:solidFill>
                  <a:srgbClr val="FFFFFF"/>
                </a:solidFill>
                <a:latin typeface="Calibri"/>
                <a:cs typeface="Calibri"/>
              </a:rPr>
              <a:t>Discovery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1480" y="914402"/>
            <a:ext cx="4133215" cy="1207135"/>
          </a:xfrm>
          <a:prstGeom prst="rect">
            <a:avLst/>
          </a:prstGeom>
          <a:ln w="9359">
            <a:solidFill>
              <a:srgbClr val="94A3B8"/>
            </a:solidFill>
          </a:ln>
        </p:spPr>
        <p:txBody>
          <a:bodyPr vert="horz" wrap="square" lIns="0" tIns="114300" rIns="0" bIns="0" rtlCol="0">
            <a:spAutoFit/>
          </a:bodyPr>
          <a:lstStyle/>
          <a:p>
            <a:pPr marL="202565">
              <a:lnSpc>
                <a:spcPct val="100000"/>
              </a:lnSpc>
              <a:spcBef>
                <a:spcPts val="900"/>
              </a:spcBef>
              <a:tabLst>
                <a:tab pos="456565" algn="l"/>
              </a:tabLst>
            </a:pPr>
            <a:r>
              <a:rPr sz="1000" b="1" spc="-50" dirty="0">
                <a:solidFill>
                  <a:srgbClr val="FFFFFF"/>
                </a:solidFill>
                <a:latin typeface="Meiryo UI"/>
                <a:cs typeface="Meiryo UI"/>
              </a:rPr>
              <a:t>1</a:t>
            </a:r>
            <a:r>
              <a:rPr sz="1000" b="1" dirty="0">
                <a:solidFill>
                  <a:srgbClr val="FFFFFF"/>
                </a:solidFill>
                <a:latin typeface="Meiryo UI"/>
                <a:cs typeface="Meiryo UI"/>
              </a:rPr>
              <a:t>	</a:t>
            </a:r>
            <a:r>
              <a:rPr sz="1150" b="1" dirty="0">
                <a:solidFill>
                  <a:srgbClr val="0E162A"/>
                </a:solidFill>
                <a:latin typeface="Meiryo UI"/>
                <a:cs typeface="Meiryo UI"/>
              </a:rPr>
              <a:t>Baseline</a:t>
            </a:r>
            <a:r>
              <a:rPr sz="1150" b="1" spc="204" dirty="0">
                <a:solidFill>
                  <a:srgbClr val="0E162A"/>
                </a:solidFill>
                <a:latin typeface="Meiryo UI"/>
                <a:cs typeface="Meiryo UI"/>
              </a:rPr>
              <a:t> </a:t>
            </a:r>
            <a:r>
              <a:rPr sz="1150" b="1" dirty="0">
                <a:solidFill>
                  <a:srgbClr val="0E162A"/>
                </a:solidFill>
                <a:latin typeface="Meiryo UI"/>
                <a:cs typeface="Meiryo UI"/>
              </a:rPr>
              <a:t>&amp;</a:t>
            </a:r>
            <a:r>
              <a:rPr sz="1150" b="1" spc="210" dirty="0">
                <a:solidFill>
                  <a:srgbClr val="0E162A"/>
                </a:solidFill>
                <a:latin typeface="Meiryo UI"/>
                <a:cs typeface="Meiryo UI"/>
              </a:rPr>
              <a:t> </a:t>
            </a:r>
            <a:r>
              <a:rPr sz="1150" b="1" spc="-10" dirty="0">
                <a:solidFill>
                  <a:srgbClr val="0E162A"/>
                </a:solidFill>
                <a:latin typeface="Meiryo UI"/>
                <a:cs typeface="Meiryo UI"/>
              </a:rPr>
              <a:t>Clustering</a:t>
            </a:r>
            <a:endParaRPr sz="1150">
              <a:latin typeface="Meiryo UI"/>
              <a:cs typeface="Meiryo UI"/>
            </a:endParaRPr>
          </a:p>
          <a:p>
            <a:pPr marL="109220" marR="359410">
              <a:lnSpc>
                <a:spcPct val="129800"/>
              </a:lnSpc>
              <a:spcBef>
                <a:spcPts val="1240"/>
              </a:spcBef>
            </a:pP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Ran</a:t>
            </a:r>
            <a:r>
              <a:rPr sz="1050" spc="-3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SA</a:t>
            </a:r>
            <a:r>
              <a:rPr sz="1050" spc="-3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465469"/>
                </a:solidFill>
                <a:latin typeface="Calibri"/>
                <a:cs typeface="Calibri"/>
              </a:rPr>
              <a:t>(instructor</a:t>
            </a:r>
            <a:r>
              <a:rPr sz="1050" spc="-3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baseline)</a:t>
            </a:r>
            <a:r>
              <a:rPr sz="1050" spc="-3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on</a:t>
            </a:r>
            <a:r>
              <a:rPr sz="1050" spc="-3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full</a:t>
            </a:r>
            <a:r>
              <a:rPr sz="1050" spc="-3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115k</a:t>
            </a:r>
            <a:r>
              <a:rPr sz="1050" spc="-3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cities</a:t>
            </a:r>
            <a:r>
              <a:rPr sz="1050" spc="-3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—</a:t>
            </a:r>
            <a:r>
              <a:rPr sz="1050" spc="-3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barely</a:t>
            </a:r>
            <a:r>
              <a:rPr sz="1050" spc="-3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moved</a:t>
            </a:r>
            <a:r>
              <a:rPr sz="1050" spc="-3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spc="-20" dirty="0">
                <a:solidFill>
                  <a:srgbClr val="465469"/>
                </a:solidFill>
                <a:latin typeface="Calibri"/>
                <a:cs typeface="Calibri"/>
              </a:rPr>
              <a:t>from </a:t>
            </a:r>
            <a:r>
              <a:rPr sz="1050" spc="-10" dirty="0">
                <a:solidFill>
                  <a:srgbClr val="465469"/>
                </a:solidFill>
                <a:latin typeface="Calibri"/>
                <a:cs typeface="Calibri"/>
              </a:rPr>
              <a:t>random</a:t>
            </a:r>
            <a:r>
              <a:rPr sz="1050" spc="-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spc="-25" dirty="0">
                <a:solidFill>
                  <a:srgbClr val="465469"/>
                </a:solidFill>
                <a:latin typeface="Calibri"/>
                <a:cs typeface="Calibri"/>
              </a:rPr>
              <a:t>tour.</a:t>
            </a:r>
            <a:r>
              <a:rPr sz="1050" spc="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465469"/>
                </a:solidFill>
                <a:latin typeface="Calibri"/>
                <a:cs typeface="Calibri"/>
              </a:rPr>
              <a:t>Confirmed</a:t>
            </a:r>
            <a:r>
              <a:rPr sz="1050" spc="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465469"/>
                </a:solidFill>
                <a:latin typeface="Calibri"/>
                <a:cs typeface="Calibri"/>
              </a:rPr>
              <a:t>clustering</a:t>
            </a:r>
            <a:r>
              <a:rPr sz="1050" spc="-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is</a:t>
            </a:r>
            <a:r>
              <a:rPr sz="1050" spc="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465469"/>
                </a:solidFill>
                <a:latin typeface="Calibri"/>
                <a:cs typeface="Calibri"/>
              </a:rPr>
              <a:t>essential.</a:t>
            </a:r>
            <a:r>
              <a:rPr sz="1050" spc="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Ran</a:t>
            </a:r>
            <a:r>
              <a:rPr sz="1050" spc="-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spc="-35" dirty="0">
                <a:solidFill>
                  <a:srgbClr val="465469"/>
                </a:solidFill>
                <a:latin typeface="Calibri"/>
                <a:cs typeface="Calibri"/>
              </a:rPr>
              <a:t>k-</a:t>
            </a:r>
            <a:r>
              <a:rPr sz="1050" spc="-20" dirty="0">
                <a:solidFill>
                  <a:srgbClr val="465469"/>
                </a:solidFill>
                <a:latin typeface="Calibri"/>
                <a:cs typeface="Calibri"/>
              </a:rPr>
              <a:t>means </a:t>
            </a:r>
            <a:r>
              <a:rPr sz="1050" spc="-10" dirty="0">
                <a:solidFill>
                  <a:srgbClr val="465469"/>
                </a:solidFill>
                <a:latin typeface="Calibri"/>
                <a:cs typeface="Calibri"/>
              </a:rPr>
              <a:t>(k=50→1000)</a:t>
            </a:r>
            <a:r>
              <a:rPr sz="1050" spc="-3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and</a:t>
            </a:r>
            <a:r>
              <a:rPr sz="10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saw</a:t>
            </a:r>
            <a:r>
              <a:rPr sz="1050" spc="-3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37%</a:t>
            </a:r>
            <a:r>
              <a:rPr sz="1050" spc="-3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loss</a:t>
            </a:r>
            <a:r>
              <a:rPr sz="1050" spc="-3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drop</a:t>
            </a:r>
            <a:r>
              <a:rPr sz="1050" spc="-3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in</a:t>
            </a:r>
            <a:r>
              <a:rPr sz="1050" spc="-3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3</a:t>
            </a:r>
            <a:r>
              <a:rPr sz="1050" spc="-3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465469"/>
                </a:solidFill>
                <a:latin typeface="Calibri"/>
                <a:cs typeface="Calibri"/>
              </a:rPr>
              <a:t>iters.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59994" y="2233436"/>
            <a:ext cx="4218940" cy="1292225"/>
            <a:chOff x="359994" y="2233436"/>
            <a:chExt cx="4218940" cy="129222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994" y="2233436"/>
              <a:ext cx="4218482" cy="129204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11480" y="2267637"/>
              <a:ext cx="4133215" cy="1207135"/>
            </a:xfrm>
            <a:custGeom>
              <a:avLst/>
              <a:gdLst/>
              <a:ahLst/>
              <a:cxnLst/>
              <a:rect l="l" t="t" r="r" b="b"/>
              <a:pathLst>
                <a:path w="4133215" h="1207135">
                  <a:moveTo>
                    <a:pt x="4132795" y="0"/>
                  </a:moveTo>
                  <a:lnTo>
                    <a:pt x="0" y="0"/>
                  </a:lnTo>
                  <a:lnTo>
                    <a:pt x="0" y="1206728"/>
                  </a:lnTo>
                  <a:lnTo>
                    <a:pt x="2066404" y="1206728"/>
                  </a:lnTo>
                  <a:lnTo>
                    <a:pt x="4132795" y="1206728"/>
                  </a:lnTo>
                  <a:lnTo>
                    <a:pt x="41327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20915" y="2340358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274320" h="274319">
                  <a:moveTo>
                    <a:pt x="137159" y="0"/>
                  </a:moveTo>
                  <a:lnTo>
                    <a:pt x="84562" y="10485"/>
                  </a:lnTo>
                  <a:lnTo>
                    <a:pt x="40139" y="40184"/>
                  </a:lnTo>
                  <a:lnTo>
                    <a:pt x="10485" y="84712"/>
                  </a:lnTo>
                  <a:lnTo>
                    <a:pt x="0" y="137160"/>
                  </a:lnTo>
                  <a:lnTo>
                    <a:pt x="1199" y="155147"/>
                  </a:lnTo>
                  <a:lnTo>
                    <a:pt x="18364" y="205917"/>
                  </a:lnTo>
                  <a:lnTo>
                    <a:pt x="53595" y="246019"/>
                  </a:lnTo>
                  <a:lnTo>
                    <a:pt x="101566" y="269597"/>
                  </a:lnTo>
                  <a:lnTo>
                    <a:pt x="137159" y="274320"/>
                  </a:lnTo>
                  <a:lnTo>
                    <a:pt x="155147" y="273122"/>
                  </a:lnTo>
                  <a:lnTo>
                    <a:pt x="205917" y="255968"/>
                  </a:lnTo>
                  <a:lnTo>
                    <a:pt x="246019" y="220724"/>
                  </a:lnTo>
                  <a:lnTo>
                    <a:pt x="269597" y="172758"/>
                  </a:lnTo>
                  <a:lnTo>
                    <a:pt x="274319" y="137160"/>
                  </a:lnTo>
                  <a:lnTo>
                    <a:pt x="273122" y="119183"/>
                  </a:lnTo>
                  <a:lnTo>
                    <a:pt x="255968" y="68757"/>
                  </a:lnTo>
                  <a:lnTo>
                    <a:pt x="220724" y="28311"/>
                  </a:lnTo>
                  <a:lnTo>
                    <a:pt x="172758" y="4729"/>
                  </a:lnTo>
                  <a:lnTo>
                    <a:pt x="137159" y="0"/>
                  </a:lnTo>
                  <a:close/>
                </a:path>
              </a:pathLst>
            </a:custGeom>
            <a:solidFill>
              <a:srgbClr val="0FB9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20915" y="2340358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274320" h="274319">
                  <a:moveTo>
                    <a:pt x="0" y="137160"/>
                  </a:moveTo>
                  <a:lnTo>
                    <a:pt x="1199" y="119183"/>
                  </a:lnTo>
                  <a:lnTo>
                    <a:pt x="4729" y="101611"/>
                  </a:lnTo>
                  <a:lnTo>
                    <a:pt x="28306" y="53745"/>
                  </a:lnTo>
                  <a:lnTo>
                    <a:pt x="68402" y="18364"/>
                  </a:lnTo>
                  <a:lnTo>
                    <a:pt x="119178" y="1199"/>
                  </a:lnTo>
                  <a:lnTo>
                    <a:pt x="137159" y="0"/>
                  </a:lnTo>
                  <a:lnTo>
                    <a:pt x="189759" y="10485"/>
                  </a:lnTo>
                  <a:lnTo>
                    <a:pt x="234181" y="40184"/>
                  </a:lnTo>
                  <a:lnTo>
                    <a:pt x="263845" y="84712"/>
                  </a:lnTo>
                  <a:lnTo>
                    <a:pt x="274319" y="137160"/>
                  </a:lnTo>
                  <a:lnTo>
                    <a:pt x="273122" y="155147"/>
                  </a:lnTo>
                  <a:lnTo>
                    <a:pt x="269597" y="172758"/>
                  </a:lnTo>
                  <a:lnTo>
                    <a:pt x="246019" y="220724"/>
                  </a:lnTo>
                  <a:lnTo>
                    <a:pt x="205917" y="255968"/>
                  </a:lnTo>
                  <a:lnTo>
                    <a:pt x="155147" y="273122"/>
                  </a:lnTo>
                  <a:lnTo>
                    <a:pt x="137159" y="274320"/>
                  </a:lnTo>
                  <a:lnTo>
                    <a:pt x="84562" y="263845"/>
                  </a:lnTo>
                  <a:lnTo>
                    <a:pt x="40139" y="234181"/>
                  </a:lnTo>
                  <a:lnTo>
                    <a:pt x="10485" y="189759"/>
                  </a:lnTo>
                  <a:lnTo>
                    <a:pt x="1199" y="155147"/>
                  </a:lnTo>
                  <a:lnTo>
                    <a:pt x="0" y="137160"/>
                  </a:lnTo>
                  <a:close/>
                </a:path>
              </a:pathLst>
            </a:custGeom>
            <a:ln w="12599">
              <a:solidFill>
                <a:srgbClr val="0FB9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703319" y="2340358"/>
              <a:ext cx="749935" cy="210185"/>
            </a:xfrm>
            <a:custGeom>
              <a:avLst/>
              <a:gdLst/>
              <a:ahLst/>
              <a:cxnLst/>
              <a:rect l="l" t="t" r="r" b="b"/>
              <a:pathLst>
                <a:path w="749935" h="210185">
                  <a:moveTo>
                    <a:pt x="749515" y="0"/>
                  </a:moveTo>
                  <a:lnTo>
                    <a:pt x="0" y="0"/>
                  </a:lnTo>
                  <a:lnTo>
                    <a:pt x="0" y="209880"/>
                  </a:lnTo>
                  <a:lnTo>
                    <a:pt x="374764" y="209880"/>
                  </a:lnTo>
                  <a:lnTo>
                    <a:pt x="749515" y="209880"/>
                  </a:lnTo>
                  <a:lnTo>
                    <a:pt x="749515" y="0"/>
                  </a:lnTo>
                  <a:close/>
                </a:path>
              </a:pathLst>
            </a:custGeom>
            <a:solidFill>
              <a:srgbClr val="0FB9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703320" y="2340358"/>
            <a:ext cx="749935" cy="210185"/>
          </a:xfrm>
          <a:prstGeom prst="rect">
            <a:avLst/>
          </a:prstGeom>
          <a:ln w="12599">
            <a:solidFill>
              <a:srgbClr val="0FB980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45"/>
              </a:spcBef>
            </a:pPr>
            <a:r>
              <a:rPr sz="800" b="1" spc="-10" dirty="0">
                <a:solidFill>
                  <a:srgbClr val="FFFFFF"/>
                </a:solidFill>
                <a:latin typeface="Calibri"/>
                <a:cs typeface="Calibri"/>
              </a:rPr>
              <a:t>Fixed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1480" y="2267637"/>
            <a:ext cx="4133215" cy="1207135"/>
          </a:xfrm>
          <a:prstGeom prst="rect">
            <a:avLst/>
          </a:prstGeom>
          <a:ln w="9359">
            <a:solidFill>
              <a:srgbClr val="94A3B8"/>
            </a:solidFill>
          </a:ln>
        </p:spPr>
        <p:txBody>
          <a:bodyPr vert="horz" wrap="square" lIns="0" tIns="114300" rIns="0" bIns="0" rtlCol="0">
            <a:spAutoFit/>
          </a:bodyPr>
          <a:lstStyle/>
          <a:p>
            <a:pPr marL="202565">
              <a:lnSpc>
                <a:spcPct val="100000"/>
              </a:lnSpc>
              <a:spcBef>
                <a:spcPts val="900"/>
              </a:spcBef>
              <a:tabLst>
                <a:tab pos="456565" algn="l"/>
              </a:tabLst>
            </a:pPr>
            <a:r>
              <a:rPr sz="1000" b="1" spc="-50" dirty="0">
                <a:solidFill>
                  <a:srgbClr val="FFFFFF"/>
                </a:solidFill>
                <a:latin typeface="Meiryo UI"/>
                <a:cs typeface="Meiryo UI"/>
              </a:rPr>
              <a:t>2</a:t>
            </a:r>
            <a:r>
              <a:rPr sz="1000" b="1" dirty="0">
                <a:solidFill>
                  <a:srgbClr val="FFFFFF"/>
                </a:solidFill>
                <a:latin typeface="Meiryo UI"/>
                <a:cs typeface="Meiryo UI"/>
              </a:rPr>
              <a:t>	</a:t>
            </a:r>
            <a:r>
              <a:rPr sz="1150" b="1" dirty="0">
                <a:solidFill>
                  <a:srgbClr val="0E162A"/>
                </a:solidFill>
                <a:latin typeface="Meiryo UI"/>
                <a:cs typeface="Meiryo UI"/>
              </a:rPr>
              <a:t>GLS</a:t>
            </a:r>
            <a:r>
              <a:rPr sz="1150" b="1" spc="145" dirty="0">
                <a:solidFill>
                  <a:srgbClr val="0E162A"/>
                </a:solidFill>
                <a:latin typeface="Meiryo UI"/>
                <a:cs typeface="Meiryo UI"/>
              </a:rPr>
              <a:t> </a:t>
            </a:r>
            <a:r>
              <a:rPr sz="1150" b="1" spc="-10" dirty="0">
                <a:solidFill>
                  <a:srgbClr val="0E162A"/>
                </a:solidFill>
                <a:latin typeface="Meiryo UI"/>
                <a:cs typeface="Meiryo UI"/>
              </a:rPr>
              <a:t>Debugging</a:t>
            </a:r>
            <a:endParaRPr sz="1150">
              <a:latin typeface="Meiryo UI"/>
              <a:cs typeface="Meiryo UI"/>
            </a:endParaRPr>
          </a:p>
          <a:p>
            <a:pPr marL="109220" marR="122555">
              <a:lnSpc>
                <a:spcPct val="129800"/>
              </a:lnSpc>
              <a:spcBef>
                <a:spcPts val="1240"/>
              </a:spcBef>
            </a:pP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Initial</a:t>
            </a:r>
            <a:r>
              <a:rPr sz="1050" spc="-2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GLS</a:t>
            </a:r>
            <a:r>
              <a:rPr sz="10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had</a:t>
            </a:r>
            <a:r>
              <a:rPr sz="1050" spc="-2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variable</a:t>
            </a:r>
            <a:r>
              <a:rPr sz="10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name</a:t>
            </a:r>
            <a:r>
              <a:rPr sz="1050" spc="-2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bugs</a:t>
            </a:r>
            <a:r>
              <a:rPr sz="1050" spc="-2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465469"/>
                </a:solidFill>
                <a:latin typeface="Calibri"/>
                <a:cs typeface="Calibri"/>
              </a:rPr>
              <a:t>(penalites,</a:t>
            </a:r>
            <a:r>
              <a:rPr sz="1050" spc="-2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465469"/>
                </a:solidFill>
                <a:latin typeface="Calibri"/>
                <a:cs typeface="Calibri"/>
              </a:rPr>
              <a:t>true_length</a:t>
            </a:r>
            <a:r>
              <a:rPr sz="1050" spc="-2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spc="-25" dirty="0">
                <a:solidFill>
                  <a:srgbClr val="465469"/>
                </a:solidFill>
                <a:latin typeface="Calibri"/>
                <a:cs typeface="Calibri"/>
              </a:rPr>
              <a:t>vs </a:t>
            </a:r>
            <a:r>
              <a:rPr sz="1050" spc="-10" dirty="0">
                <a:solidFill>
                  <a:srgbClr val="465469"/>
                </a:solidFill>
                <a:latin typeface="Calibri"/>
                <a:cs typeface="Calibri"/>
              </a:rPr>
              <a:t>true_distance)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and</a:t>
            </a:r>
            <a:r>
              <a:rPr sz="1050" spc="-10" dirty="0">
                <a:solidFill>
                  <a:srgbClr val="465469"/>
                </a:solidFill>
                <a:latin typeface="Calibri"/>
                <a:cs typeface="Calibri"/>
              </a:rPr>
              <a:t> wrong indentation. Fixed</a:t>
            </a:r>
            <a:r>
              <a:rPr sz="1050" spc="-1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delta</a:t>
            </a:r>
            <a:r>
              <a:rPr sz="1050" spc="-10" dirty="0">
                <a:solidFill>
                  <a:srgbClr val="465469"/>
                </a:solidFill>
                <a:latin typeface="Calibri"/>
                <a:cs typeface="Calibri"/>
              </a:rPr>
              <a:t> evaluation</a:t>
            </a:r>
            <a:r>
              <a:rPr sz="1050" spc="-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to</a:t>
            </a:r>
            <a:r>
              <a:rPr sz="1050" spc="-1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O(1)</a:t>
            </a:r>
            <a:r>
              <a:rPr sz="1050" spc="-1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spc="-25" dirty="0">
                <a:solidFill>
                  <a:srgbClr val="465469"/>
                </a:solidFill>
                <a:latin typeface="Calibri"/>
                <a:cs typeface="Calibri"/>
              </a:rPr>
              <a:t>per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swap</a:t>
            </a:r>
            <a:r>
              <a:rPr sz="1050" spc="-2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using</a:t>
            </a:r>
            <a:r>
              <a:rPr sz="10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465469"/>
                </a:solidFill>
                <a:latin typeface="Calibri"/>
                <a:cs typeface="Calibri"/>
              </a:rPr>
              <a:t>precomputed</a:t>
            </a:r>
            <a:r>
              <a:rPr sz="1050" spc="-2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465469"/>
                </a:solidFill>
                <a:latin typeface="Calibri"/>
                <a:cs typeface="Calibri"/>
              </a:rPr>
              <a:t>distance</a:t>
            </a:r>
            <a:r>
              <a:rPr sz="10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465469"/>
                </a:solidFill>
                <a:latin typeface="Calibri"/>
                <a:cs typeface="Calibri"/>
              </a:rPr>
              <a:t>matrix.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59994" y="3586672"/>
            <a:ext cx="4218940" cy="1292225"/>
            <a:chOff x="359994" y="3586672"/>
            <a:chExt cx="4218940" cy="1292225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994" y="3586672"/>
              <a:ext cx="4218482" cy="129204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11480" y="3620886"/>
              <a:ext cx="4133215" cy="1207135"/>
            </a:xfrm>
            <a:custGeom>
              <a:avLst/>
              <a:gdLst/>
              <a:ahLst/>
              <a:cxnLst/>
              <a:rect l="l" t="t" r="r" b="b"/>
              <a:pathLst>
                <a:path w="4133215" h="1207135">
                  <a:moveTo>
                    <a:pt x="4132795" y="0"/>
                  </a:moveTo>
                  <a:lnTo>
                    <a:pt x="0" y="0"/>
                  </a:lnTo>
                  <a:lnTo>
                    <a:pt x="0" y="1206715"/>
                  </a:lnTo>
                  <a:lnTo>
                    <a:pt x="2066404" y="1206715"/>
                  </a:lnTo>
                  <a:lnTo>
                    <a:pt x="4132795" y="1206715"/>
                  </a:lnTo>
                  <a:lnTo>
                    <a:pt x="41327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20915" y="3693962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274320" h="274320">
                  <a:moveTo>
                    <a:pt x="137159" y="0"/>
                  </a:moveTo>
                  <a:lnTo>
                    <a:pt x="84562" y="10479"/>
                  </a:lnTo>
                  <a:lnTo>
                    <a:pt x="40139" y="40184"/>
                  </a:lnTo>
                  <a:lnTo>
                    <a:pt x="10485" y="84712"/>
                  </a:lnTo>
                  <a:lnTo>
                    <a:pt x="0" y="137160"/>
                  </a:lnTo>
                  <a:lnTo>
                    <a:pt x="1199" y="155141"/>
                  </a:lnTo>
                  <a:lnTo>
                    <a:pt x="18364" y="205917"/>
                  </a:lnTo>
                  <a:lnTo>
                    <a:pt x="53595" y="246013"/>
                  </a:lnTo>
                  <a:lnTo>
                    <a:pt x="101566" y="269595"/>
                  </a:lnTo>
                  <a:lnTo>
                    <a:pt x="137159" y="274320"/>
                  </a:lnTo>
                  <a:lnTo>
                    <a:pt x="155147" y="273122"/>
                  </a:lnTo>
                  <a:lnTo>
                    <a:pt x="205917" y="255955"/>
                  </a:lnTo>
                  <a:lnTo>
                    <a:pt x="246019" y="220724"/>
                  </a:lnTo>
                  <a:lnTo>
                    <a:pt x="269597" y="172753"/>
                  </a:lnTo>
                  <a:lnTo>
                    <a:pt x="274319" y="137160"/>
                  </a:lnTo>
                  <a:lnTo>
                    <a:pt x="273122" y="119183"/>
                  </a:lnTo>
                  <a:lnTo>
                    <a:pt x="255968" y="68757"/>
                  </a:lnTo>
                  <a:lnTo>
                    <a:pt x="220724" y="28311"/>
                  </a:lnTo>
                  <a:lnTo>
                    <a:pt x="172758" y="4724"/>
                  </a:lnTo>
                  <a:lnTo>
                    <a:pt x="137159" y="0"/>
                  </a:lnTo>
                  <a:close/>
                </a:path>
              </a:pathLst>
            </a:custGeom>
            <a:solidFill>
              <a:srgbClr val="1D4D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20915" y="3693962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274320" h="274320">
                  <a:moveTo>
                    <a:pt x="0" y="137160"/>
                  </a:moveTo>
                  <a:lnTo>
                    <a:pt x="1199" y="119183"/>
                  </a:lnTo>
                  <a:lnTo>
                    <a:pt x="4729" y="101611"/>
                  </a:lnTo>
                  <a:lnTo>
                    <a:pt x="28306" y="53745"/>
                  </a:lnTo>
                  <a:lnTo>
                    <a:pt x="68402" y="18364"/>
                  </a:lnTo>
                  <a:lnTo>
                    <a:pt x="119178" y="1197"/>
                  </a:lnTo>
                  <a:lnTo>
                    <a:pt x="137159" y="0"/>
                  </a:lnTo>
                  <a:lnTo>
                    <a:pt x="189759" y="10479"/>
                  </a:lnTo>
                  <a:lnTo>
                    <a:pt x="234181" y="40184"/>
                  </a:lnTo>
                  <a:lnTo>
                    <a:pt x="263845" y="84712"/>
                  </a:lnTo>
                  <a:lnTo>
                    <a:pt x="274319" y="137160"/>
                  </a:lnTo>
                  <a:lnTo>
                    <a:pt x="273122" y="155141"/>
                  </a:lnTo>
                  <a:lnTo>
                    <a:pt x="269597" y="172753"/>
                  </a:lnTo>
                  <a:lnTo>
                    <a:pt x="246019" y="220724"/>
                  </a:lnTo>
                  <a:lnTo>
                    <a:pt x="205917" y="255955"/>
                  </a:lnTo>
                  <a:lnTo>
                    <a:pt x="155147" y="273122"/>
                  </a:lnTo>
                  <a:lnTo>
                    <a:pt x="137159" y="274320"/>
                  </a:lnTo>
                  <a:lnTo>
                    <a:pt x="84562" y="263840"/>
                  </a:lnTo>
                  <a:lnTo>
                    <a:pt x="40139" y="234180"/>
                  </a:lnTo>
                  <a:lnTo>
                    <a:pt x="10485" y="189757"/>
                  </a:lnTo>
                  <a:lnTo>
                    <a:pt x="1199" y="155141"/>
                  </a:lnTo>
                  <a:lnTo>
                    <a:pt x="0" y="137160"/>
                  </a:lnTo>
                  <a:close/>
                </a:path>
              </a:pathLst>
            </a:custGeom>
            <a:ln w="12599">
              <a:solidFill>
                <a:srgbClr val="1D4DD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703319" y="3693962"/>
              <a:ext cx="749935" cy="210185"/>
            </a:xfrm>
            <a:custGeom>
              <a:avLst/>
              <a:gdLst/>
              <a:ahLst/>
              <a:cxnLst/>
              <a:rect l="l" t="t" r="r" b="b"/>
              <a:pathLst>
                <a:path w="749935" h="210185">
                  <a:moveTo>
                    <a:pt x="749515" y="0"/>
                  </a:moveTo>
                  <a:lnTo>
                    <a:pt x="0" y="0"/>
                  </a:lnTo>
                  <a:lnTo>
                    <a:pt x="0" y="209880"/>
                  </a:lnTo>
                  <a:lnTo>
                    <a:pt x="374764" y="209880"/>
                  </a:lnTo>
                  <a:lnTo>
                    <a:pt x="749515" y="209880"/>
                  </a:lnTo>
                  <a:lnTo>
                    <a:pt x="749515" y="0"/>
                  </a:lnTo>
                  <a:close/>
                </a:path>
              </a:pathLst>
            </a:custGeom>
            <a:solidFill>
              <a:srgbClr val="1D4D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703320" y="3693962"/>
            <a:ext cx="749935" cy="210185"/>
          </a:xfrm>
          <a:prstGeom prst="rect">
            <a:avLst/>
          </a:prstGeom>
          <a:ln w="12599">
            <a:solidFill>
              <a:srgbClr val="1D4DD7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45"/>
              </a:spcBef>
            </a:pPr>
            <a:r>
              <a:rPr sz="800" b="1" spc="-20" dirty="0">
                <a:solidFill>
                  <a:srgbClr val="FFFFFF"/>
                </a:solidFill>
                <a:latin typeface="Calibri"/>
                <a:cs typeface="Calibri"/>
              </a:rPr>
              <a:t>Built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11480" y="3620886"/>
            <a:ext cx="4133215" cy="1207135"/>
          </a:xfrm>
          <a:prstGeom prst="rect">
            <a:avLst/>
          </a:prstGeom>
          <a:ln w="9359">
            <a:solidFill>
              <a:srgbClr val="94A3B8"/>
            </a:solidFill>
          </a:ln>
        </p:spPr>
        <p:txBody>
          <a:bodyPr vert="horz" wrap="square" lIns="0" tIns="114935" rIns="0" bIns="0" rtlCol="0">
            <a:spAutoFit/>
          </a:bodyPr>
          <a:lstStyle/>
          <a:p>
            <a:pPr marL="202565">
              <a:lnSpc>
                <a:spcPct val="100000"/>
              </a:lnSpc>
              <a:spcBef>
                <a:spcPts val="905"/>
              </a:spcBef>
              <a:tabLst>
                <a:tab pos="456565" algn="l"/>
              </a:tabLst>
            </a:pPr>
            <a:r>
              <a:rPr sz="1000" b="1" spc="-50" dirty="0">
                <a:solidFill>
                  <a:srgbClr val="FFFFFF"/>
                </a:solidFill>
                <a:latin typeface="Meiryo UI"/>
                <a:cs typeface="Meiryo UI"/>
              </a:rPr>
              <a:t>3</a:t>
            </a:r>
            <a:r>
              <a:rPr sz="1000" b="1" dirty="0">
                <a:solidFill>
                  <a:srgbClr val="FFFFFF"/>
                </a:solidFill>
                <a:latin typeface="Meiryo UI"/>
                <a:cs typeface="Meiryo UI"/>
              </a:rPr>
              <a:t>	</a:t>
            </a:r>
            <a:r>
              <a:rPr sz="1150" b="1" dirty="0">
                <a:solidFill>
                  <a:srgbClr val="0E162A"/>
                </a:solidFill>
                <a:latin typeface="Meiryo UI"/>
                <a:cs typeface="Meiryo UI"/>
              </a:rPr>
              <a:t>ACO</a:t>
            </a:r>
            <a:r>
              <a:rPr sz="1150" b="1" spc="140" dirty="0">
                <a:solidFill>
                  <a:srgbClr val="0E162A"/>
                </a:solidFill>
                <a:latin typeface="Meiryo UI"/>
                <a:cs typeface="Meiryo UI"/>
              </a:rPr>
              <a:t> </a:t>
            </a:r>
            <a:r>
              <a:rPr sz="1150" b="1" spc="-10" dirty="0">
                <a:solidFill>
                  <a:srgbClr val="0E162A"/>
                </a:solidFill>
                <a:latin typeface="Meiryo UI"/>
                <a:cs typeface="Meiryo UI"/>
              </a:rPr>
              <a:t>Implementation</a:t>
            </a:r>
            <a:endParaRPr sz="1150">
              <a:latin typeface="Meiryo UI"/>
              <a:cs typeface="Meiryo UI"/>
            </a:endParaRPr>
          </a:p>
          <a:p>
            <a:pPr marL="109220" marR="227965">
              <a:lnSpc>
                <a:spcPct val="129800"/>
              </a:lnSpc>
              <a:spcBef>
                <a:spcPts val="1235"/>
              </a:spcBef>
            </a:pP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Built</a:t>
            </a:r>
            <a:r>
              <a:rPr sz="1050" spc="-1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465469"/>
                </a:solidFill>
                <a:latin typeface="Calibri"/>
                <a:cs typeface="Calibri"/>
              </a:rPr>
              <a:t>pheromone</a:t>
            </a:r>
            <a:r>
              <a:rPr sz="1050" spc="-1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matrix</a:t>
            </a:r>
            <a:r>
              <a:rPr sz="1050" spc="-1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with</a:t>
            </a:r>
            <a:r>
              <a:rPr sz="1050" spc="-10" dirty="0">
                <a:solidFill>
                  <a:srgbClr val="465469"/>
                </a:solidFill>
                <a:latin typeface="Calibri"/>
                <a:cs typeface="Calibri"/>
              </a:rPr>
              <a:t> τ₀=1/(n·mean_dist).</a:t>
            </a:r>
            <a:r>
              <a:rPr sz="1050" spc="-1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spc="-20" dirty="0">
                <a:solidFill>
                  <a:srgbClr val="465469"/>
                </a:solidFill>
                <a:latin typeface="Calibri"/>
                <a:cs typeface="Calibri"/>
              </a:rPr>
              <a:t>Tuned</a:t>
            </a:r>
            <a:r>
              <a:rPr sz="1050" spc="-1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α=1,</a:t>
            </a:r>
            <a:r>
              <a:rPr sz="1050" spc="-1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spc="-20" dirty="0">
                <a:solidFill>
                  <a:srgbClr val="465469"/>
                </a:solidFill>
                <a:latin typeface="Calibri"/>
                <a:cs typeface="Calibri"/>
              </a:rPr>
              <a:t>β=3, </a:t>
            </a:r>
            <a:r>
              <a:rPr sz="1050" spc="-10" dirty="0">
                <a:solidFill>
                  <a:srgbClr val="465469"/>
                </a:solidFill>
                <a:latin typeface="Calibri"/>
                <a:cs typeface="Calibri"/>
              </a:rPr>
              <a:t>ρ=0.1.</a:t>
            </a:r>
            <a:r>
              <a:rPr sz="10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Found</a:t>
            </a:r>
            <a:r>
              <a:rPr sz="10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ACO</a:t>
            </a:r>
            <a:r>
              <a:rPr sz="1050" spc="-3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7×</a:t>
            </a:r>
            <a:r>
              <a:rPr sz="1050" spc="-2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465469"/>
                </a:solidFill>
                <a:latin typeface="Calibri"/>
                <a:cs typeface="Calibri"/>
              </a:rPr>
              <a:t>slower</a:t>
            </a:r>
            <a:r>
              <a:rPr sz="1050" spc="-3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than</a:t>
            </a:r>
            <a:r>
              <a:rPr sz="1050" spc="-3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GLS</a:t>
            </a:r>
            <a:r>
              <a:rPr sz="10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per</a:t>
            </a:r>
            <a:r>
              <a:rPr sz="10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465469"/>
                </a:solidFill>
                <a:latin typeface="Calibri"/>
                <a:cs typeface="Calibri"/>
              </a:rPr>
              <a:t>cluster</a:t>
            </a:r>
            <a:r>
              <a:rPr sz="10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but</a:t>
            </a:r>
            <a:r>
              <a:rPr sz="1050" spc="-3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5%</a:t>
            </a:r>
            <a:r>
              <a:rPr sz="10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465469"/>
                </a:solidFill>
                <a:latin typeface="Calibri"/>
                <a:cs typeface="Calibri"/>
              </a:rPr>
              <a:t>better</a:t>
            </a:r>
            <a:r>
              <a:rPr sz="10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465469"/>
                </a:solidFill>
                <a:latin typeface="Calibri"/>
                <a:cs typeface="Calibri"/>
              </a:rPr>
              <a:t>quality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at</a:t>
            </a:r>
            <a:r>
              <a:rPr sz="1050" spc="-3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equal</a:t>
            </a:r>
            <a:r>
              <a:rPr sz="10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time</a:t>
            </a:r>
            <a:r>
              <a:rPr sz="1050" spc="-3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465469"/>
                </a:solidFill>
                <a:latin typeface="Calibri"/>
                <a:cs typeface="Calibri"/>
              </a:rPr>
              <a:t>budgets.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767478" y="880188"/>
            <a:ext cx="4218940" cy="1292225"/>
            <a:chOff x="4767478" y="880188"/>
            <a:chExt cx="4218940" cy="1292225"/>
          </a:xfrm>
        </p:grpSpPr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7478" y="880188"/>
              <a:ext cx="4218482" cy="1292059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4818964" y="914402"/>
              <a:ext cx="4133215" cy="1207135"/>
            </a:xfrm>
            <a:custGeom>
              <a:avLst/>
              <a:gdLst/>
              <a:ahLst/>
              <a:cxnLst/>
              <a:rect l="l" t="t" r="r" b="b"/>
              <a:pathLst>
                <a:path w="4133215" h="1207135">
                  <a:moveTo>
                    <a:pt x="4132795" y="0"/>
                  </a:moveTo>
                  <a:lnTo>
                    <a:pt x="0" y="0"/>
                  </a:lnTo>
                  <a:lnTo>
                    <a:pt x="0" y="1206715"/>
                  </a:lnTo>
                  <a:lnTo>
                    <a:pt x="2066391" y="1206715"/>
                  </a:lnTo>
                  <a:lnTo>
                    <a:pt x="4132795" y="1206715"/>
                  </a:lnTo>
                  <a:lnTo>
                    <a:pt x="41327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928400" y="987122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274320" h="274319">
                  <a:moveTo>
                    <a:pt x="137160" y="0"/>
                  </a:moveTo>
                  <a:lnTo>
                    <a:pt x="84712" y="10479"/>
                  </a:lnTo>
                  <a:lnTo>
                    <a:pt x="40184" y="40139"/>
                  </a:lnTo>
                  <a:lnTo>
                    <a:pt x="10479" y="84562"/>
                  </a:lnTo>
                  <a:lnTo>
                    <a:pt x="0" y="137160"/>
                  </a:lnTo>
                  <a:lnTo>
                    <a:pt x="1197" y="155136"/>
                  </a:lnTo>
                  <a:lnTo>
                    <a:pt x="18364" y="205562"/>
                  </a:lnTo>
                  <a:lnTo>
                    <a:pt x="53745" y="246008"/>
                  </a:lnTo>
                  <a:lnTo>
                    <a:pt x="101611" y="269595"/>
                  </a:lnTo>
                  <a:lnTo>
                    <a:pt x="137160" y="274320"/>
                  </a:lnTo>
                  <a:lnTo>
                    <a:pt x="155141" y="273122"/>
                  </a:lnTo>
                  <a:lnTo>
                    <a:pt x="205917" y="255955"/>
                  </a:lnTo>
                  <a:lnTo>
                    <a:pt x="246013" y="220574"/>
                  </a:lnTo>
                  <a:lnTo>
                    <a:pt x="269595" y="172708"/>
                  </a:lnTo>
                  <a:lnTo>
                    <a:pt x="274320" y="137160"/>
                  </a:lnTo>
                  <a:lnTo>
                    <a:pt x="273122" y="119178"/>
                  </a:lnTo>
                  <a:lnTo>
                    <a:pt x="255955" y="68402"/>
                  </a:lnTo>
                  <a:lnTo>
                    <a:pt x="220724" y="28306"/>
                  </a:lnTo>
                  <a:lnTo>
                    <a:pt x="172753" y="4724"/>
                  </a:lnTo>
                  <a:lnTo>
                    <a:pt x="137160" y="0"/>
                  </a:lnTo>
                  <a:close/>
                </a:path>
              </a:pathLst>
            </a:custGeom>
            <a:solidFill>
              <a:srgbClr val="F49D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928400" y="987122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274320" h="274319">
                  <a:moveTo>
                    <a:pt x="0" y="137160"/>
                  </a:moveTo>
                  <a:lnTo>
                    <a:pt x="1197" y="119178"/>
                  </a:lnTo>
                  <a:lnTo>
                    <a:pt x="4724" y="101566"/>
                  </a:lnTo>
                  <a:lnTo>
                    <a:pt x="28311" y="53595"/>
                  </a:lnTo>
                  <a:lnTo>
                    <a:pt x="68757" y="18364"/>
                  </a:lnTo>
                  <a:lnTo>
                    <a:pt x="119183" y="1197"/>
                  </a:lnTo>
                  <a:lnTo>
                    <a:pt x="137160" y="0"/>
                  </a:lnTo>
                  <a:lnTo>
                    <a:pt x="189757" y="10479"/>
                  </a:lnTo>
                  <a:lnTo>
                    <a:pt x="234180" y="40139"/>
                  </a:lnTo>
                  <a:lnTo>
                    <a:pt x="263840" y="84562"/>
                  </a:lnTo>
                  <a:lnTo>
                    <a:pt x="274320" y="137160"/>
                  </a:lnTo>
                  <a:lnTo>
                    <a:pt x="273122" y="155136"/>
                  </a:lnTo>
                  <a:lnTo>
                    <a:pt x="269595" y="172708"/>
                  </a:lnTo>
                  <a:lnTo>
                    <a:pt x="246013" y="220574"/>
                  </a:lnTo>
                  <a:lnTo>
                    <a:pt x="205917" y="255955"/>
                  </a:lnTo>
                  <a:lnTo>
                    <a:pt x="155141" y="273122"/>
                  </a:lnTo>
                  <a:lnTo>
                    <a:pt x="137160" y="274320"/>
                  </a:lnTo>
                  <a:lnTo>
                    <a:pt x="84712" y="263840"/>
                  </a:lnTo>
                  <a:lnTo>
                    <a:pt x="40184" y="234135"/>
                  </a:lnTo>
                  <a:lnTo>
                    <a:pt x="10479" y="189607"/>
                  </a:lnTo>
                  <a:lnTo>
                    <a:pt x="1197" y="155136"/>
                  </a:lnTo>
                  <a:lnTo>
                    <a:pt x="0" y="137160"/>
                  </a:lnTo>
                  <a:close/>
                </a:path>
              </a:pathLst>
            </a:custGeom>
            <a:ln w="12599">
              <a:solidFill>
                <a:srgbClr val="F49D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110804" y="987122"/>
              <a:ext cx="749935" cy="210185"/>
            </a:xfrm>
            <a:custGeom>
              <a:avLst/>
              <a:gdLst/>
              <a:ahLst/>
              <a:cxnLst/>
              <a:rect l="l" t="t" r="r" b="b"/>
              <a:pathLst>
                <a:path w="749934" h="210184">
                  <a:moveTo>
                    <a:pt x="749515" y="0"/>
                  </a:moveTo>
                  <a:lnTo>
                    <a:pt x="0" y="0"/>
                  </a:lnTo>
                  <a:lnTo>
                    <a:pt x="0" y="209880"/>
                  </a:lnTo>
                  <a:lnTo>
                    <a:pt x="374751" y="209880"/>
                  </a:lnTo>
                  <a:lnTo>
                    <a:pt x="749515" y="209880"/>
                  </a:lnTo>
                  <a:lnTo>
                    <a:pt x="749515" y="0"/>
                  </a:lnTo>
                  <a:close/>
                </a:path>
              </a:pathLst>
            </a:custGeom>
            <a:solidFill>
              <a:srgbClr val="F49D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8110804" y="987122"/>
            <a:ext cx="749935" cy="210185"/>
          </a:xfrm>
          <a:prstGeom prst="rect">
            <a:avLst/>
          </a:prstGeom>
          <a:ln w="12599">
            <a:solidFill>
              <a:srgbClr val="F49D0A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156845">
              <a:lnSpc>
                <a:spcPct val="100000"/>
              </a:lnSpc>
              <a:spcBef>
                <a:spcPts val="345"/>
              </a:spcBef>
            </a:pPr>
            <a:r>
              <a:rPr sz="800" b="1" spc="-10" dirty="0">
                <a:solidFill>
                  <a:srgbClr val="FFFFFF"/>
                </a:solidFill>
                <a:latin typeface="Calibri"/>
                <a:cs typeface="Calibri"/>
              </a:rPr>
              <a:t>Optimized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818964" y="914402"/>
            <a:ext cx="4133215" cy="1207135"/>
          </a:xfrm>
          <a:prstGeom prst="rect">
            <a:avLst/>
          </a:prstGeom>
          <a:ln w="9359">
            <a:solidFill>
              <a:srgbClr val="94A3B8"/>
            </a:solidFill>
          </a:ln>
        </p:spPr>
        <p:txBody>
          <a:bodyPr vert="horz" wrap="square" lIns="0" tIns="114300" rIns="0" bIns="0" rtlCol="0">
            <a:spAutoFit/>
          </a:bodyPr>
          <a:lstStyle/>
          <a:p>
            <a:pPr marL="202565">
              <a:lnSpc>
                <a:spcPct val="100000"/>
              </a:lnSpc>
              <a:spcBef>
                <a:spcPts val="900"/>
              </a:spcBef>
              <a:tabLst>
                <a:tab pos="456565" algn="l"/>
              </a:tabLst>
            </a:pPr>
            <a:r>
              <a:rPr sz="1000" b="1" spc="-50" dirty="0">
                <a:solidFill>
                  <a:srgbClr val="FFFFFF"/>
                </a:solidFill>
                <a:latin typeface="Meiryo UI"/>
                <a:cs typeface="Meiryo UI"/>
              </a:rPr>
              <a:t>4</a:t>
            </a:r>
            <a:r>
              <a:rPr sz="1000" b="1" dirty="0">
                <a:solidFill>
                  <a:srgbClr val="FFFFFF"/>
                </a:solidFill>
                <a:latin typeface="Meiryo UI"/>
                <a:cs typeface="Meiryo UI"/>
              </a:rPr>
              <a:t>	</a:t>
            </a:r>
            <a:r>
              <a:rPr sz="1150" b="1" spc="55" dirty="0">
                <a:solidFill>
                  <a:srgbClr val="0E162A"/>
                </a:solidFill>
                <a:latin typeface="Meiryo UI"/>
                <a:cs typeface="Meiryo UI"/>
              </a:rPr>
              <a:t>Speed</a:t>
            </a:r>
            <a:r>
              <a:rPr sz="1150" b="1" spc="20" dirty="0">
                <a:solidFill>
                  <a:srgbClr val="0E162A"/>
                </a:solidFill>
                <a:latin typeface="Meiryo UI"/>
                <a:cs typeface="Meiryo UI"/>
              </a:rPr>
              <a:t> </a:t>
            </a:r>
            <a:r>
              <a:rPr sz="1150" b="1" spc="-10" dirty="0">
                <a:solidFill>
                  <a:srgbClr val="0E162A"/>
                </a:solidFill>
                <a:latin typeface="Meiryo UI"/>
                <a:cs typeface="Meiryo UI"/>
              </a:rPr>
              <a:t>Optimization</a:t>
            </a:r>
            <a:endParaRPr sz="1150">
              <a:latin typeface="Meiryo UI"/>
              <a:cs typeface="Meiryo UI"/>
            </a:endParaRPr>
          </a:p>
          <a:p>
            <a:pPr marL="109220" marR="146685">
              <a:lnSpc>
                <a:spcPct val="129800"/>
              </a:lnSpc>
              <a:spcBef>
                <a:spcPts val="1240"/>
              </a:spcBef>
            </a:pPr>
            <a:r>
              <a:rPr sz="1050" spc="-10" dirty="0">
                <a:solidFill>
                  <a:srgbClr val="465469"/>
                </a:solidFill>
                <a:latin typeface="Calibri"/>
                <a:cs typeface="Calibri"/>
              </a:rPr>
              <a:t>Moved</a:t>
            </a:r>
            <a:r>
              <a:rPr sz="1050" spc="-3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from</a:t>
            </a:r>
            <a:r>
              <a:rPr sz="1050" spc="-3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naive</a:t>
            </a:r>
            <a:r>
              <a:rPr sz="1050" spc="-3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Python</a:t>
            </a:r>
            <a:r>
              <a:rPr sz="1050" spc="-3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loops</a:t>
            </a:r>
            <a:r>
              <a:rPr sz="1050" spc="-3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to</a:t>
            </a:r>
            <a:r>
              <a:rPr sz="1050" spc="-3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NumPy</a:t>
            </a:r>
            <a:r>
              <a:rPr sz="1050" spc="-3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465469"/>
                </a:solidFill>
                <a:latin typeface="Calibri"/>
                <a:cs typeface="Calibri"/>
              </a:rPr>
              <a:t>batched</a:t>
            </a:r>
            <a:r>
              <a:rPr sz="1050" spc="-35" dirty="0">
                <a:solidFill>
                  <a:srgbClr val="465469"/>
                </a:solidFill>
                <a:latin typeface="Calibri"/>
                <a:cs typeface="Calibri"/>
              </a:rPr>
              <a:t> k-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means</a:t>
            </a:r>
            <a:r>
              <a:rPr sz="1050" spc="-3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(115k</a:t>
            </a:r>
            <a:r>
              <a:rPr sz="1050" spc="-3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465469"/>
                </a:solidFill>
                <a:latin typeface="Calibri"/>
                <a:cs typeface="Calibri"/>
              </a:rPr>
              <a:t>cities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in</a:t>
            </a:r>
            <a:r>
              <a:rPr sz="10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7s</a:t>
            </a:r>
            <a:r>
              <a:rPr sz="1050" spc="-2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vs.</a:t>
            </a:r>
            <a:r>
              <a:rPr sz="10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465469"/>
                </a:solidFill>
                <a:latin typeface="Calibri"/>
                <a:cs typeface="Calibri"/>
              </a:rPr>
              <a:t>minutes).</a:t>
            </a:r>
            <a:r>
              <a:rPr sz="1050" spc="-2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Used</a:t>
            </a:r>
            <a:r>
              <a:rPr sz="10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Linux</a:t>
            </a:r>
            <a:r>
              <a:rPr sz="1050" spc="-2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fork()</a:t>
            </a:r>
            <a:r>
              <a:rPr sz="1050" spc="-2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465469"/>
                </a:solidFill>
                <a:latin typeface="Calibri"/>
                <a:cs typeface="Calibri"/>
              </a:rPr>
              <a:t>multiprocessing</a:t>
            </a:r>
            <a:r>
              <a:rPr sz="10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—</a:t>
            </a:r>
            <a:r>
              <a:rPr sz="10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4</a:t>
            </a:r>
            <a:r>
              <a:rPr sz="1050" spc="-2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465469"/>
                </a:solidFill>
                <a:latin typeface="Calibri"/>
                <a:cs typeface="Calibri"/>
              </a:rPr>
              <a:t>workers</a:t>
            </a:r>
            <a:r>
              <a:rPr sz="1050" spc="-25" dirty="0">
                <a:solidFill>
                  <a:srgbClr val="465469"/>
                </a:solidFill>
                <a:latin typeface="Calibri"/>
                <a:cs typeface="Calibri"/>
              </a:rPr>
              <a:t> cut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pipeline</a:t>
            </a:r>
            <a:r>
              <a:rPr sz="1050" spc="-4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from</a:t>
            </a:r>
            <a:r>
              <a:rPr sz="1050" spc="-3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~5</a:t>
            </a:r>
            <a:r>
              <a:rPr sz="1050" spc="-3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min</a:t>
            </a:r>
            <a:r>
              <a:rPr sz="1050" spc="-3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to</a:t>
            </a:r>
            <a:r>
              <a:rPr sz="1050" spc="-3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spc="-20" dirty="0">
                <a:solidFill>
                  <a:srgbClr val="465469"/>
                </a:solidFill>
                <a:latin typeface="Calibri"/>
                <a:cs typeface="Calibri"/>
              </a:rPr>
              <a:t>~20s.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767478" y="2233436"/>
            <a:ext cx="4218940" cy="1292225"/>
            <a:chOff x="4767478" y="2233436"/>
            <a:chExt cx="4218940" cy="1292225"/>
          </a:xfrm>
        </p:grpSpPr>
        <p:pic>
          <p:nvPicPr>
            <p:cNvPr id="36" name="object 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7478" y="2233436"/>
              <a:ext cx="4218482" cy="1292047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4818964" y="2267637"/>
              <a:ext cx="4133215" cy="1207135"/>
            </a:xfrm>
            <a:custGeom>
              <a:avLst/>
              <a:gdLst/>
              <a:ahLst/>
              <a:cxnLst/>
              <a:rect l="l" t="t" r="r" b="b"/>
              <a:pathLst>
                <a:path w="4133215" h="1207135">
                  <a:moveTo>
                    <a:pt x="4132795" y="0"/>
                  </a:moveTo>
                  <a:lnTo>
                    <a:pt x="0" y="0"/>
                  </a:lnTo>
                  <a:lnTo>
                    <a:pt x="0" y="1206728"/>
                  </a:lnTo>
                  <a:lnTo>
                    <a:pt x="2066391" y="1206728"/>
                  </a:lnTo>
                  <a:lnTo>
                    <a:pt x="4132795" y="1206728"/>
                  </a:lnTo>
                  <a:lnTo>
                    <a:pt x="41327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928400" y="2340358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274320" h="274319">
                  <a:moveTo>
                    <a:pt x="137160" y="0"/>
                  </a:moveTo>
                  <a:lnTo>
                    <a:pt x="84712" y="10485"/>
                  </a:lnTo>
                  <a:lnTo>
                    <a:pt x="40184" y="40184"/>
                  </a:lnTo>
                  <a:lnTo>
                    <a:pt x="10479" y="84712"/>
                  </a:lnTo>
                  <a:lnTo>
                    <a:pt x="0" y="137160"/>
                  </a:lnTo>
                  <a:lnTo>
                    <a:pt x="1197" y="155147"/>
                  </a:lnTo>
                  <a:lnTo>
                    <a:pt x="18364" y="205917"/>
                  </a:lnTo>
                  <a:lnTo>
                    <a:pt x="53745" y="246019"/>
                  </a:lnTo>
                  <a:lnTo>
                    <a:pt x="101611" y="269597"/>
                  </a:lnTo>
                  <a:lnTo>
                    <a:pt x="137160" y="274320"/>
                  </a:lnTo>
                  <a:lnTo>
                    <a:pt x="155141" y="273122"/>
                  </a:lnTo>
                  <a:lnTo>
                    <a:pt x="205917" y="255968"/>
                  </a:lnTo>
                  <a:lnTo>
                    <a:pt x="246013" y="220724"/>
                  </a:lnTo>
                  <a:lnTo>
                    <a:pt x="269595" y="172758"/>
                  </a:lnTo>
                  <a:lnTo>
                    <a:pt x="274320" y="137160"/>
                  </a:lnTo>
                  <a:lnTo>
                    <a:pt x="273122" y="119183"/>
                  </a:lnTo>
                  <a:lnTo>
                    <a:pt x="255955" y="68757"/>
                  </a:lnTo>
                  <a:lnTo>
                    <a:pt x="220724" y="28311"/>
                  </a:lnTo>
                  <a:lnTo>
                    <a:pt x="172753" y="4729"/>
                  </a:lnTo>
                  <a:lnTo>
                    <a:pt x="137160" y="0"/>
                  </a:lnTo>
                  <a:close/>
                </a:path>
              </a:pathLst>
            </a:custGeom>
            <a:solidFill>
              <a:srgbClr val="7B3A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928400" y="2340358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274320" h="274319">
                  <a:moveTo>
                    <a:pt x="0" y="137160"/>
                  </a:moveTo>
                  <a:lnTo>
                    <a:pt x="1197" y="119183"/>
                  </a:lnTo>
                  <a:lnTo>
                    <a:pt x="4724" y="101611"/>
                  </a:lnTo>
                  <a:lnTo>
                    <a:pt x="28311" y="53745"/>
                  </a:lnTo>
                  <a:lnTo>
                    <a:pt x="68757" y="18364"/>
                  </a:lnTo>
                  <a:lnTo>
                    <a:pt x="119183" y="1199"/>
                  </a:lnTo>
                  <a:lnTo>
                    <a:pt x="137160" y="0"/>
                  </a:lnTo>
                  <a:lnTo>
                    <a:pt x="189757" y="10485"/>
                  </a:lnTo>
                  <a:lnTo>
                    <a:pt x="234180" y="40184"/>
                  </a:lnTo>
                  <a:lnTo>
                    <a:pt x="263840" y="84712"/>
                  </a:lnTo>
                  <a:lnTo>
                    <a:pt x="274320" y="137160"/>
                  </a:lnTo>
                  <a:lnTo>
                    <a:pt x="273122" y="155147"/>
                  </a:lnTo>
                  <a:lnTo>
                    <a:pt x="269595" y="172758"/>
                  </a:lnTo>
                  <a:lnTo>
                    <a:pt x="246013" y="220724"/>
                  </a:lnTo>
                  <a:lnTo>
                    <a:pt x="205917" y="255968"/>
                  </a:lnTo>
                  <a:lnTo>
                    <a:pt x="155141" y="273122"/>
                  </a:lnTo>
                  <a:lnTo>
                    <a:pt x="137160" y="274320"/>
                  </a:lnTo>
                  <a:lnTo>
                    <a:pt x="84712" y="263845"/>
                  </a:lnTo>
                  <a:lnTo>
                    <a:pt x="40184" y="234181"/>
                  </a:lnTo>
                  <a:lnTo>
                    <a:pt x="10479" y="189759"/>
                  </a:lnTo>
                  <a:lnTo>
                    <a:pt x="1197" y="155147"/>
                  </a:lnTo>
                  <a:lnTo>
                    <a:pt x="0" y="137160"/>
                  </a:lnTo>
                  <a:close/>
                </a:path>
              </a:pathLst>
            </a:custGeom>
            <a:ln w="12599">
              <a:solidFill>
                <a:srgbClr val="7B3A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8110804" y="2340358"/>
              <a:ext cx="749935" cy="210185"/>
            </a:xfrm>
            <a:custGeom>
              <a:avLst/>
              <a:gdLst/>
              <a:ahLst/>
              <a:cxnLst/>
              <a:rect l="l" t="t" r="r" b="b"/>
              <a:pathLst>
                <a:path w="749934" h="210185">
                  <a:moveTo>
                    <a:pt x="749515" y="0"/>
                  </a:moveTo>
                  <a:lnTo>
                    <a:pt x="0" y="0"/>
                  </a:lnTo>
                  <a:lnTo>
                    <a:pt x="0" y="209880"/>
                  </a:lnTo>
                  <a:lnTo>
                    <a:pt x="374751" y="209880"/>
                  </a:lnTo>
                  <a:lnTo>
                    <a:pt x="749515" y="209880"/>
                  </a:lnTo>
                  <a:lnTo>
                    <a:pt x="749515" y="0"/>
                  </a:lnTo>
                  <a:close/>
                </a:path>
              </a:pathLst>
            </a:custGeom>
            <a:solidFill>
              <a:srgbClr val="7B3A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8110804" y="2340358"/>
            <a:ext cx="749935" cy="210185"/>
          </a:xfrm>
          <a:prstGeom prst="rect">
            <a:avLst/>
          </a:prstGeom>
          <a:ln w="12599">
            <a:solidFill>
              <a:srgbClr val="7B3AEC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179070">
              <a:lnSpc>
                <a:spcPct val="100000"/>
              </a:lnSpc>
              <a:spcBef>
                <a:spcPts val="345"/>
              </a:spcBef>
            </a:pPr>
            <a:r>
              <a:rPr sz="800" b="1" spc="-10" dirty="0">
                <a:solidFill>
                  <a:srgbClr val="FFFFFF"/>
                </a:solidFill>
                <a:latin typeface="Calibri"/>
                <a:cs typeface="Calibri"/>
              </a:rPr>
              <a:t>Designed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818964" y="2267637"/>
            <a:ext cx="4133215" cy="1207135"/>
          </a:xfrm>
          <a:prstGeom prst="rect">
            <a:avLst/>
          </a:prstGeom>
          <a:ln w="9359">
            <a:solidFill>
              <a:srgbClr val="94A3B8"/>
            </a:solidFill>
          </a:ln>
        </p:spPr>
        <p:txBody>
          <a:bodyPr vert="horz" wrap="square" lIns="0" tIns="114300" rIns="0" bIns="0" rtlCol="0">
            <a:spAutoFit/>
          </a:bodyPr>
          <a:lstStyle/>
          <a:p>
            <a:pPr marL="202565">
              <a:lnSpc>
                <a:spcPct val="100000"/>
              </a:lnSpc>
              <a:spcBef>
                <a:spcPts val="900"/>
              </a:spcBef>
              <a:tabLst>
                <a:tab pos="456565" algn="l"/>
              </a:tabLst>
            </a:pPr>
            <a:r>
              <a:rPr sz="1000" b="1" spc="-50" dirty="0">
                <a:solidFill>
                  <a:srgbClr val="FFFFFF"/>
                </a:solidFill>
                <a:latin typeface="Meiryo UI"/>
                <a:cs typeface="Meiryo UI"/>
              </a:rPr>
              <a:t>5</a:t>
            </a:r>
            <a:r>
              <a:rPr sz="1000" b="1" dirty="0">
                <a:solidFill>
                  <a:srgbClr val="FFFFFF"/>
                </a:solidFill>
                <a:latin typeface="Meiryo UI"/>
                <a:cs typeface="Meiryo UI"/>
              </a:rPr>
              <a:t>	</a:t>
            </a:r>
            <a:r>
              <a:rPr sz="1150" b="1" dirty="0">
                <a:solidFill>
                  <a:srgbClr val="0E162A"/>
                </a:solidFill>
                <a:latin typeface="Meiryo UI"/>
                <a:cs typeface="Meiryo UI"/>
              </a:rPr>
              <a:t>Stitching</a:t>
            </a:r>
            <a:r>
              <a:rPr sz="1150" b="1" spc="390" dirty="0">
                <a:solidFill>
                  <a:srgbClr val="0E162A"/>
                </a:solidFill>
                <a:latin typeface="Meiryo UI"/>
                <a:cs typeface="Meiryo UI"/>
              </a:rPr>
              <a:t> </a:t>
            </a:r>
            <a:r>
              <a:rPr sz="1150" b="1" spc="35" dirty="0">
                <a:solidFill>
                  <a:srgbClr val="0E162A"/>
                </a:solidFill>
                <a:latin typeface="Meiryo UI"/>
                <a:cs typeface="Meiryo UI"/>
              </a:rPr>
              <a:t>Strategy</a:t>
            </a:r>
            <a:endParaRPr sz="1150">
              <a:latin typeface="Meiryo UI"/>
              <a:cs typeface="Meiryo UI"/>
            </a:endParaRPr>
          </a:p>
          <a:p>
            <a:pPr marL="109220" marR="116839">
              <a:lnSpc>
                <a:spcPct val="129800"/>
              </a:lnSpc>
              <a:spcBef>
                <a:spcPts val="1240"/>
              </a:spcBef>
            </a:pPr>
            <a:r>
              <a:rPr sz="1050" spc="-10" dirty="0">
                <a:solidFill>
                  <a:srgbClr val="465469"/>
                </a:solidFill>
                <a:latin typeface="Calibri"/>
                <a:cs typeface="Calibri"/>
              </a:rPr>
              <a:t>Tried</a:t>
            </a:r>
            <a:r>
              <a:rPr sz="10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random</a:t>
            </a:r>
            <a:r>
              <a:rPr sz="1050" spc="-3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465469"/>
                </a:solidFill>
                <a:latin typeface="Calibri"/>
                <a:cs typeface="Calibri"/>
              </a:rPr>
              <a:t>cluster</a:t>
            </a:r>
            <a:r>
              <a:rPr sz="1050" spc="-2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465469"/>
                </a:solidFill>
                <a:latin typeface="Calibri"/>
                <a:cs typeface="Calibri"/>
              </a:rPr>
              <a:t>ordering</a:t>
            </a:r>
            <a:r>
              <a:rPr sz="1050" spc="-3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(bad).</a:t>
            </a:r>
            <a:r>
              <a:rPr sz="1050" spc="-2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Added</a:t>
            </a:r>
            <a:r>
              <a:rPr sz="10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SA</a:t>
            </a:r>
            <a:r>
              <a:rPr sz="1050" spc="-3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on</a:t>
            </a:r>
            <a:r>
              <a:rPr sz="10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465469"/>
                </a:solidFill>
                <a:latin typeface="Calibri"/>
                <a:cs typeface="Calibri"/>
              </a:rPr>
              <a:t>centroids</a:t>
            </a:r>
            <a:r>
              <a:rPr sz="10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for</a:t>
            </a:r>
            <a:r>
              <a:rPr sz="10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465469"/>
                </a:solidFill>
                <a:latin typeface="Calibri"/>
                <a:cs typeface="Calibri"/>
              </a:rPr>
              <a:t>ordering. Greedy</a:t>
            </a:r>
            <a:r>
              <a:rPr sz="1050" spc="-2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465469"/>
                </a:solidFill>
                <a:latin typeface="Calibri"/>
                <a:cs typeface="Calibri"/>
              </a:rPr>
              <a:t>boundary-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city</a:t>
            </a:r>
            <a:r>
              <a:rPr sz="1050" spc="-1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465469"/>
                </a:solidFill>
                <a:latin typeface="Calibri"/>
                <a:cs typeface="Calibri"/>
              </a:rPr>
              <a:t>stitching:</a:t>
            </a:r>
            <a:r>
              <a:rPr sz="1050" spc="-2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exit</a:t>
            </a:r>
            <a:r>
              <a:rPr sz="1050" spc="-1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=</a:t>
            </a:r>
            <a:r>
              <a:rPr sz="1050" spc="-1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city</a:t>
            </a:r>
            <a:r>
              <a:rPr sz="1050" spc="-2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465469"/>
                </a:solidFill>
                <a:latin typeface="Calibri"/>
                <a:cs typeface="Calibri"/>
              </a:rPr>
              <a:t>closest</a:t>
            </a:r>
            <a:r>
              <a:rPr sz="1050" spc="-1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to</a:t>
            </a:r>
            <a:r>
              <a:rPr sz="1050" spc="-1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next</a:t>
            </a:r>
            <a:r>
              <a:rPr sz="10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465469"/>
                </a:solidFill>
                <a:latin typeface="Calibri"/>
                <a:cs typeface="Calibri"/>
              </a:rPr>
              <a:t>centroid,</a:t>
            </a:r>
            <a:r>
              <a:rPr sz="1050" spc="-1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465469"/>
                </a:solidFill>
                <a:latin typeface="Calibri"/>
                <a:cs typeface="Calibri"/>
              </a:rPr>
              <a:t>entry</a:t>
            </a:r>
            <a:endParaRPr sz="1050">
              <a:latin typeface="Calibri"/>
              <a:cs typeface="Calibri"/>
            </a:endParaRPr>
          </a:p>
          <a:p>
            <a:pPr marL="109220">
              <a:lnSpc>
                <a:spcPct val="100000"/>
              </a:lnSpc>
              <a:spcBef>
                <a:spcPts val="380"/>
              </a:spcBef>
            </a:pP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=</a:t>
            </a:r>
            <a:r>
              <a:rPr sz="1050" spc="-3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city</a:t>
            </a:r>
            <a:r>
              <a:rPr sz="1050" spc="-2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465469"/>
                </a:solidFill>
                <a:latin typeface="Calibri"/>
                <a:cs typeface="Calibri"/>
              </a:rPr>
              <a:t>closest</a:t>
            </a:r>
            <a:r>
              <a:rPr sz="1050" spc="-2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to</a:t>
            </a:r>
            <a:r>
              <a:rPr sz="1050" spc="-3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prev</a:t>
            </a:r>
            <a:r>
              <a:rPr sz="10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465469"/>
                </a:solidFill>
                <a:latin typeface="Calibri"/>
                <a:cs typeface="Calibri"/>
              </a:rPr>
              <a:t>centroid.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4767478" y="3586672"/>
            <a:ext cx="4218940" cy="1292225"/>
            <a:chOff x="4767478" y="3586672"/>
            <a:chExt cx="4218940" cy="1292225"/>
          </a:xfrm>
        </p:grpSpPr>
        <p:pic>
          <p:nvPicPr>
            <p:cNvPr id="44" name="object 4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7478" y="3586672"/>
              <a:ext cx="4218482" cy="1292047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4818964" y="3620886"/>
              <a:ext cx="4133215" cy="1207135"/>
            </a:xfrm>
            <a:custGeom>
              <a:avLst/>
              <a:gdLst/>
              <a:ahLst/>
              <a:cxnLst/>
              <a:rect l="l" t="t" r="r" b="b"/>
              <a:pathLst>
                <a:path w="4133215" h="1207135">
                  <a:moveTo>
                    <a:pt x="4132795" y="0"/>
                  </a:moveTo>
                  <a:lnTo>
                    <a:pt x="0" y="0"/>
                  </a:lnTo>
                  <a:lnTo>
                    <a:pt x="0" y="1206715"/>
                  </a:lnTo>
                  <a:lnTo>
                    <a:pt x="2066391" y="1206715"/>
                  </a:lnTo>
                  <a:lnTo>
                    <a:pt x="4132795" y="1206715"/>
                  </a:lnTo>
                  <a:lnTo>
                    <a:pt x="41327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928400" y="3693962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274320" h="274320">
                  <a:moveTo>
                    <a:pt x="137160" y="0"/>
                  </a:moveTo>
                  <a:lnTo>
                    <a:pt x="84712" y="10479"/>
                  </a:lnTo>
                  <a:lnTo>
                    <a:pt x="40184" y="40184"/>
                  </a:lnTo>
                  <a:lnTo>
                    <a:pt x="10479" y="84712"/>
                  </a:lnTo>
                  <a:lnTo>
                    <a:pt x="0" y="137160"/>
                  </a:lnTo>
                  <a:lnTo>
                    <a:pt x="1197" y="155141"/>
                  </a:lnTo>
                  <a:lnTo>
                    <a:pt x="18364" y="205917"/>
                  </a:lnTo>
                  <a:lnTo>
                    <a:pt x="53745" y="246013"/>
                  </a:lnTo>
                  <a:lnTo>
                    <a:pt x="101611" y="269595"/>
                  </a:lnTo>
                  <a:lnTo>
                    <a:pt x="137160" y="274320"/>
                  </a:lnTo>
                  <a:lnTo>
                    <a:pt x="155141" y="273122"/>
                  </a:lnTo>
                  <a:lnTo>
                    <a:pt x="205917" y="255955"/>
                  </a:lnTo>
                  <a:lnTo>
                    <a:pt x="246013" y="220724"/>
                  </a:lnTo>
                  <a:lnTo>
                    <a:pt x="269595" y="172753"/>
                  </a:lnTo>
                  <a:lnTo>
                    <a:pt x="274320" y="137160"/>
                  </a:lnTo>
                  <a:lnTo>
                    <a:pt x="273122" y="119183"/>
                  </a:lnTo>
                  <a:lnTo>
                    <a:pt x="255955" y="68757"/>
                  </a:lnTo>
                  <a:lnTo>
                    <a:pt x="220724" y="28311"/>
                  </a:lnTo>
                  <a:lnTo>
                    <a:pt x="172753" y="4724"/>
                  </a:lnTo>
                  <a:lnTo>
                    <a:pt x="137160" y="0"/>
                  </a:lnTo>
                  <a:close/>
                </a:path>
              </a:pathLst>
            </a:custGeom>
            <a:solidFill>
              <a:srgbClr val="0FB9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928400" y="3693962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274320" h="274320">
                  <a:moveTo>
                    <a:pt x="0" y="137160"/>
                  </a:moveTo>
                  <a:lnTo>
                    <a:pt x="1197" y="119183"/>
                  </a:lnTo>
                  <a:lnTo>
                    <a:pt x="4724" y="101611"/>
                  </a:lnTo>
                  <a:lnTo>
                    <a:pt x="28311" y="53745"/>
                  </a:lnTo>
                  <a:lnTo>
                    <a:pt x="68757" y="18364"/>
                  </a:lnTo>
                  <a:lnTo>
                    <a:pt x="119183" y="1197"/>
                  </a:lnTo>
                  <a:lnTo>
                    <a:pt x="137160" y="0"/>
                  </a:lnTo>
                  <a:lnTo>
                    <a:pt x="189757" y="10479"/>
                  </a:lnTo>
                  <a:lnTo>
                    <a:pt x="234180" y="40184"/>
                  </a:lnTo>
                  <a:lnTo>
                    <a:pt x="263840" y="84712"/>
                  </a:lnTo>
                  <a:lnTo>
                    <a:pt x="274320" y="137160"/>
                  </a:lnTo>
                  <a:lnTo>
                    <a:pt x="273122" y="155141"/>
                  </a:lnTo>
                  <a:lnTo>
                    <a:pt x="269595" y="172753"/>
                  </a:lnTo>
                  <a:lnTo>
                    <a:pt x="246013" y="220724"/>
                  </a:lnTo>
                  <a:lnTo>
                    <a:pt x="205917" y="255955"/>
                  </a:lnTo>
                  <a:lnTo>
                    <a:pt x="155141" y="273122"/>
                  </a:lnTo>
                  <a:lnTo>
                    <a:pt x="137160" y="274320"/>
                  </a:lnTo>
                  <a:lnTo>
                    <a:pt x="84712" y="263840"/>
                  </a:lnTo>
                  <a:lnTo>
                    <a:pt x="40184" y="234180"/>
                  </a:lnTo>
                  <a:lnTo>
                    <a:pt x="10479" y="189757"/>
                  </a:lnTo>
                  <a:lnTo>
                    <a:pt x="1197" y="155141"/>
                  </a:lnTo>
                  <a:lnTo>
                    <a:pt x="0" y="137160"/>
                  </a:lnTo>
                  <a:close/>
                </a:path>
              </a:pathLst>
            </a:custGeom>
            <a:ln w="12599">
              <a:solidFill>
                <a:srgbClr val="0FB9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110804" y="3693962"/>
              <a:ext cx="749935" cy="210185"/>
            </a:xfrm>
            <a:custGeom>
              <a:avLst/>
              <a:gdLst/>
              <a:ahLst/>
              <a:cxnLst/>
              <a:rect l="l" t="t" r="r" b="b"/>
              <a:pathLst>
                <a:path w="749934" h="210185">
                  <a:moveTo>
                    <a:pt x="749515" y="0"/>
                  </a:moveTo>
                  <a:lnTo>
                    <a:pt x="0" y="0"/>
                  </a:lnTo>
                  <a:lnTo>
                    <a:pt x="0" y="209880"/>
                  </a:lnTo>
                  <a:lnTo>
                    <a:pt x="374751" y="209880"/>
                  </a:lnTo>
                  <a:lnTo>
                    <a:pt x="749515" y="209880"/>
                  </a:lnTo>
                  <a:lnTo>
                    <a:pt x="749515" y="0"/>
                  </a:lnTo>
                  <a:close/>
                </a:path>
              </a:pathLst>
            </a:custGeom>
            <a:solidFill>
              <a:srgbClr val="0FB9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8110804" y="3693962"/>
            <a:ext cx="749935" cy="210185"/>
          </a:xfrm>
          <a:prstGeom prst="rect">
            <a:avLst/>
          </a:prstGeom>
          <a:ln w="12599">
            <a:solidFill>
              <a:srgbClr val="0FB980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243204">
              <a:lnSpc>
                <a:spcPct val="100000"/>
              </a:lnSpc>
              <a:spcBef>
                <a:spcPts val="345"/>
              </a:spcBef>
            </a:pPr>
            <a:r>
              <a:rPr sz="800" b="1" spc="-10" dirty="0">
                <a:solidFill>
                  <a:srgbClr val="FFFFFF"/>
                </a:solidFill>
                <a:latin typeface="Calibri"/>
                <a:cs typeface="Calibri"/>
              </a:rPr>
              <a:t>Result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818964" y="3620886"/>
            <a:ext cx="4133215" cy="1207135"/>
          </a:xfrm>
          <a:prstGeom prst="rect">
            <a:avLst/>
          </a:prstGeom>
          <a:ln w="9359">
            <a:solidFill>
              <a:srgbClr val="94A3B8"/>
            </a:solidFill>
          </a:ln>
        </p:spPr>
        <p:txBody>
          <a:bodyPr vert="horz" wrap="square" lIns="0" tIns="114935" rIns="0" bIns="0" rtlCol="0">
            <a:spAutoFit/>
          </a:bodyPr>
          <a:lstStyle/>
          <a:p>
            <a:pPr marL="202565">
              <a:lnSpc>
                <a:spcPct val="100000"/>
              </a:lnSpc>
              <a:spcBef>
                <a:spcPts val="905"/>
              </a:spcBef>
              <a:tabLst>
                <a:tab pos="456565" algn="l"/>
              </a:tabLst>
            </a:pPr>
            <a:r>
              <a:rPr sz="1000" b="1" spc="-50" dirty="0">
                <a:solidFill>
                  <a:srgbClr val="FFFFFF"/>
                </a:solidFill>
                <a:latin typeface="Meiryo UI"/>
                <a:cs typeface="Meiryo UI"/>
              </a:rPr>
              <a:t>6</a:t>
            </a:r>
            <a:r>
              <a:rPr sz="1000" b="1" dirty="0">
                <a:solidFill>
                  <a:srgbClr val="FFFFFF"/>
                </a:solidFill>
                <a:latin typeface="Meiryo UI"/>
                <a:cs typeface="Meiryo UI"/>
              </a:rPr>
              <a:t>	</a:t>
            </a:r>
            <a:r>
              <a:rPr sz="1150" b="1" dirty="0">
                <a:solidFill>
                  <a:srgbClr val="0E162A"/>
                </a:solidFill>
                <a:latin typeface="Meiryo UI"/>
                <a:cs typeface="Meiryo UI"/>
              </a:rPr>
              <a:t>Full</a:t>
            </a:r>
            <a:r>
              <a:rPr sz="1150" b="1" spc="80" dirty="0">
                <a:solidFill>
                  <a:srgbClr val="0E162A"/>
                </a:solidFill>
                <a:latin typeface="Meiryo UI"/>
                <a:cs typeface="Meiryo UI"/>
              </a:rPr>
              <a:t> </a:t>
            </a:r>
            <a:r>
              <a:rPr sz="1150" b="1" spc="45" dirty="0">
                <a:solidFill>
                  <a:srgbClr val="0E162A"/>
                </a:solidFill>
                <a:latin typeface="Meiryo UI"/>
                <a:cs typeface="Meiryo UI"/>
              </a:rPr>
              <a:t>Pipeline</a:t>
            </a:r>
            <a:r>
              <a:rPr sz="1150" b="1" spc="75" dirty="0">
                <a:solidFill>
                  <a:srgbClr val="0E162A"/>
                </a:solidFill>
                <a:latin typeface="Meiryo UI"/>
                <a:cs typeface="Meiryo UI"/>
              </a:rPr>
              <a:t> </a:t>
            </a:r>
            <a:r>
              <a:rPr sz="1150" b="1" dirty="0">
                <a:solidFill>
                  <a:srgbClr val="0E162A"/>
                </a:solidFill>
                <a:latin typeface="Meiryo UI"/>
                <a:cs typeface="Meiryo UI"/>
              </a:rPr>
              <a:t>&amp;</a:t>
            </a:r>
            <a:r>
              <a:rPr sz="1150" b="1" spc="80" dirty="0">
                <a:solidFill>
                  <a:srgbClr val="0E162A"/>
                </a:solidFill>
                <a:latin typeface="Meiryo UI"/>
                <a:cs typeface="Meiryo UI"/>
              </a:rPr>
              <a:t> </a:t>
            </a:r>
            <a:r>
              <a:rPr sz="1150" b="1" spc="-10" dirty="0">
                <a:solidFill>
                  <a:srgbClr val="0E162A"/>
                </a:solidFill>
                <a:latin typeface="Meiryo UI"/>
                <a:cs typeface="Meiryo UI"/>
              </a:rPr>
              <a:t>Tuning</a:t>
            </a:r>
            <a:endParaRPr sz="1150">
              <a:latin typeface="Meiryo UI"/>
              <a:cs typeface="Meiryo UI"/>
            </a:endParaRPr>
          </a:p>
          <a:p>
            <a:pPr marL="109220" marR="189865" algn="just">
              <a:lnSpc>
                <a:spcPct val="129800"/>
              </a:lnSpc>
              <a:spcBef>
                <a:spcPts val="1235"/>
              </a:spcBef>
            </a:pP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GLS</a:t>
            </a:r>
            <a:r>
              <a:rPr sz="1050" spc="-3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(15r</a:t>
            </a:r>
            <a:r>
              <a:rPr sz="10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×</a:t>
            </a:r>
            <a:r>
              <a:rPr sz="1050" spc="-2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465469"/>
                </a:solidFill>
                <a:latin typeface="Calibri"/>
                <a:cs typeface="Calibri"/>
              </a:rPr>
              <a:t>500s,</a:t>
            </a:r>
            <a:r>
              <a:rPr sz="10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465469"/>
                </a:solidFill>
                <a:latin typeface="Calibri"/>
                <a:cs typeface="Calibri"/>
              </a:rPr>
              <a:t>λ=0.3):</a:t>
            </a:r>
            <a:r>
              <a:rPr sz="1050" spc="-3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465469"/>
                </a:solidFill>
                <a:latin typeface="Calibri"/>
                <a:cs typeface="Calibri"/>
              </a:rPr>
              <a:t>17.6M</a:t>
            </a:r>
            <a:r>
              <a:rPr sz="10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spc="-20" dirty="0">
                <a:solidFill>
                  <a:srgbClr val="465469"/>
                </a:solidFill>
                <a:latin typeface="Calibri"/>
                <a:cs typeface="Calibri"/>
              </a:rPr>
              <a:t>tour,</a:t>
            </a:r>
            <a:r>
              <a:rPr sz="10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465469"/>
                </a:solidFill>
                <a:latin typeface="Calibri"/>
                <a:cs typeface="Calibri"/>
              </a:rPr>
              <a:t>91.8%</a:t>
            </a:r>
            <a:r>
              <a:rPr sz="1050" spc="-3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465469"/>
                </a:solidFill>
                <a:latin typeface="Calibri"/>
                <a:cs typeface="Calibri"/>
              </a:rPr>
              <a:t>improvement.</a:t>
            </a:r>
            <a:r>
              <a:rPr sz="1050" spc="-2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ACO</a:t>
            </a:r>
            <a:r>
              <a:rPr sz="1050" spc="-3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(4</a:t>
            </a:r>
            <a:r>
              <a:rPr sz="10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ants</a:t>
            </a:r>
            <a:r>
              <a:rPr sz="1050" spc="-2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spc="-50" dirty="0">
                <a:solidFill>
                  <a:srgbClr val="465469"/>
                </a:solidFill>
                <a:latin typeface="Calibri"/>
                <a:cs typeface="Calibri"/>
              </a:rPr>
              <a:t>×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 10</a:t>
            </a:r>
            <a:r>
              <a:rPr sz="1050" spc="-2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465469"/>
                </a:solidFill>
                <a:latin typeface="Calibri"/>
                <a:cs typeface="Calibri"/>
              </a:rPr>
              <a:t>iters):</a:t>
            </a:r>
            <a:r>
              <a:rPr sz="1050" spc="-2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465469"/>
                </a:solidFill>
                <a:latin typeface="Calibri"/>
                <a:cs typeface="Calibri"/>
              </a:rPr>
              <a:t>18.5M</a:t>
            </a:r>
            <a:r>
              <a:rPr sz="1050" spc="-20" dirty="0">
                <a:solidFill>
                  <a:srgbClr val="465469"/>
                </a:solidFill>
                <a:latin typeface="Calibri"/>
                <a:cs typeface="Calibri"/>
              </a:rPr>
              <a:t> tour, </a:t>
            </a:r>
            <a:r>
              <a:rPr sz="1050" spc="-10" dirty="0">
                <a:solidFill>
                  <a:srgbClr val="465469"/>
                </a:solidFill>
                <a:latin typeface="Calibri"/>
                <a:cs typeface="Calibri"/>
              </a:rPr>
              <a:t>91.4%</a:t>
            </a:r>
            <a:r>
              <a:rPr sz="1050" spc="-2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465469"/>
                </a:solidFill>
                <a:latin typeface="Calibri"/>
                <a:cs typeface="Calibri"/>
              </a:rPr>
              <a:t>improvement.</a:t>
            </a:r>
            <a:r>
              <a:rPr sz="1050" spc="-1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GLS</a:t>
            </a:r>
            <a:r>
              <a:rPr sz="10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wins</a:t>
            </a:r>
            <a:r>
              <a:rPr sz="1050" spc="-2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465469"/>
                </a:solidFill>
                <a:latin typeface="Calibri"/>
                <a:cs typeface="Calibri"/>
              </a:rPr>
              <a:t>end-</a:t>
            </a:r>
            <a:r>
              <a:rPr sz="1050" spc="-20" dirty="0">
                <a:solidFill>
                  <a:srgbClr val="465469"/>
                </a:solidFill>
                <a:latin typeface="Calibri"/>
                <a:cs typeface="Calibri"/>
              </a:rPr>
              <a:t>to-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end</a:t>
            </a:r>
            <a:r>
              <a:rPr sz="1050" spc="-1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due</a:t>
            </a:r>
            <a:r>
              <a:rPr sz="1050" spc="-25" dirty="0">
                <a:solidFill>
                  <a:srgbClr val="465469"/>
                </a:solidFill>
                <a:latin typeface="Calibri"/>
                <a:cs typeface="Calibri"/>
              </a:rPr>
              <a:t> to </a:t>
            </a:r>
            <a:r>
              <a:rPr sz="1050" dirty="0">
                <a:solidFill>
                  <a:srgbClr val="465469"/>
                </a:solidFill>
                <a:latin typeface="Calibri"/>
                <a:cs typeface="Calibri"/>
              </a:rPr>
              <a:t>speed</a:t>
            </a:r>
            <a:r>
              <a:rPr sz="1050" spc="-5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465469"/>
                </a:solidFill>
                <a:latin typeface="Calibri"/>
                <a:cs typeface="Calibri"/>
              </a:rPr>
              <a:t>advantage.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0" dirty="0"/>
              <a:t>Per-</a:t>
            </a:r>
            <a:r>
              <a:rPr spc="90" dirty="0"/>
              <a:t>Cluster</a:t>
            </a:r>
            <a:r>
              <a:rPr spc="50" dirty="0"/>
              <a:t> </a:t>
            </a:r>
            <a:r>
              <a:rPr spc="75" dirty="0"/>
              <a:t>Benchmark:</a:t>
            </a:r>
            <a:r>
              <a:rPr spc="45" dirty="0"/>
              <a:t> </a:t>
            </a:r>
            <a:r>
              <a:rPr spc="100" dirty="0"/>
              <a:t>GLS</a:t>
            </a:r>
            <a:r>
              <a:rPr spc="50" dirty="0"/>
              <a:t> </a:t>
            </a:r>
            <a:r>
              <a:rPr spc="100" dirty="0"/>
              <a:t>vs</a:t>
            </a:r>
            <a:r>
              <a:rPr spc="55" dirty="0"/>
              <a:t> </a:t>
            </a:r>
            <a:r>
              <a:rPr spc="95" dirty="0"/>
              <a:t>ACO</a:t>
            </a:r>
            <a:r>
              <a:rPr spc="50" dirty="0"/>
              <a:t> </a:t>
            </a:r>
            <a:r>
              <a:rPr spc="100" dirty="0"/>
              <a:t>vs</a:t>
            </a:r>
            <a:r>
              <a:rPr spc="50" dirty="0"/>
              <a:t> </a:t>
            </a:r>
            <a:r>
              <a:rPr spc="70" dirty="0"/>
              <a:t>SA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8424" y="846977"/>
            <a:ext cx="55594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solidFill>
                  <a:srgbClr val="465469"/>
                </a:solidFill>
                <a:latin typeface="Calibri"/>
                <a:cs typeface="Calibri"/>
              </a:rPr>
              <a:t>10</a:t>
            </a:r>
            <a:r>
              <a:rPr sz="1200" i="1" spc="-4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465469"/>
                </a:solidFill>
                <a:latin typeface="Calibri"/>
                <a:cs typeface="Calibri"/>
              </a:rPr>
              <a:t>clusters</a:t>
            </a:r>
            <a:r>
              <a:rPr sz="1200" i="1" spc="-4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465469"/>
                </a:solidFill>
                <a:latin typeface="Calibri"/>
                <a:cs typeface="Calibri"/>
              </a:rPr>
              <a:t>near</a:t>
            </a:r>
            <a:r>
              <a:rPr sz="1200" i="1" spc="-3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465469"/>
                </a:solidFill>
                <a:latin typeface="Calibri"/>
                <a:cs typeface="Calibri"/>
              </a:rPr>
              <a:t>median</a:t>
            </a:r>
            <a:r>
              <a:rPr sz="1200" i="1" spc="-4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465469"/>
                </a:solidFill>
                <a:latin typeface="Calibri"/>
                <a:cs typeface="Calibri"/>
              </a:rPr>
              <a:t>size</a:t>
            </a:r>
            <a:r>
              <a:rPr sz="1200" i="1" spc="-3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465469"/>
                </a:solidFill>
                <a:latin typeface="Calibri"/>
                <a:cs typeface="Calibri"/>
              </a:rPr>
              <a:t>(~107–</a:t>
            </a:r>
            <a:r>
              <a:rPr sz="1200" i="1" dirty="0">
                <a:solidFill>
                  <a:srgbClr val="465469"/>
                </a:solidFill>
                <a:latin typeface="Calibri"/>
                <a:cs typeface="Calibri"/>
              </a:rPr>
              <a:t>112</a:t>
            </a:r>
            <a:r>
              <a:rPr sz="1200" i="1" spc="-4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465469"/>
                </a:solidFill>
                <a:latin typeface="Calibri"/>
                <a:cs typeface="Calibri"/>
              </a:rPr>
              <a:t>cities).</a:t>
            </a:r>
            <a:r>
              <a:rPr sz="1200" i="1" spc="-3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465469"/>
                </a:solidFill>
                <a:latin typeface="Calibri"/>
                <a:cs typeface="Calibri"/>
              </a:rPr>
              <a:t>Equal</a:t>
            </a:r>
            <a:r>
              <a:rPr sz="1200" i="1" spc="-4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465469"/>
                </a:solidFill>
                <a:latin typeface="Calibri"/>
                <a:cs typeface="Calibri"/>
              </a:rPr>
              <a:t>conditions.</a:t>
            </a:r>
            <a:r>
              <a:rPr sz="1200" i="1" spc="-3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465469"/>
                </a:solidFill>
                <a:latin typeface="Calibri"/>
                <a:cs typeface="Calibri"/>
              </a:rPr>
              <a:t>SA</a:t>
            </a:r>
            <a:r>
              <a:rPr sz="1200" i="1" spc="-4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465469"/>
                </a:solidFill>
                <a:latin typeface="Calibri"/>
                <a:cs typeface="Calibri"/>
              </a:rPr>
              <a:t>given</a:t>
            </a:r>
            <a:r>
              <a:rPr sz="1200" i="1" spc="-3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465469"/>
                </a:solidFill>
                <a:latin typeface="Calibri"/>
                <a:cs typeface="Calibri"/>
              </a:rPr>
              <a:t>5,000</a:t>
            </a:r>
            <a:r>
              <a:rPr sz="1200" i="1" spc="-4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465469"/>
                </a:solidFill>
                <a:latin typeface="Calibri"/>
                <a:cs typeface="Calibri"/>
              </a:rPr>
              <a:t>iterations.</a:t>
            </a:r>
            <a:endParaRPr sz="12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08621" y="1167499"/>
          <a:ext cx="6675118" cy="14147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36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Algorithm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5719" marB="0">
                    <a:lnL w="6350">
                      <a:solidFill>
                        <a:srgbClr val="E1E8F0"/>
                      </a:solidFill>
                      <a:prstDash val="solid"/>
                    </a:lnL>
                    <a:lnR w="6350">
                      <a:solidFill>
                        <a:srgbClr val="E1E8F0"/>
                      </a:solidFill>
                      <a:prstDash val="solid"/>
                    </a:lnR>
                    <a:lnT w="6350">
                      <a:solidFill>
                        <a:srgbClr val="E1E8F0"/>
                      </a:solidFill>
                      <a:prstDash val="solid"/>
                    </a:lnT>
                    <a:lnB w="6350">
                      <a:solidFill>
                        <a:srgbClr val="E1E8F0"/>
                      </a:solidFill>
                      <a:prstDash val="solid"/>
                    </a:lnB>
                    <a:solidFill>
                      <a:srgbClr val="0E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Avg</a:t>
                      </a:r>
                      <a:r>
                        <a:rPr sz="1200" b="1" spc="-6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Tour</a:t>
                      </a:r>
                      <a:r>
                        <a:rPr sz="12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Length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5719" marB="0">
                    <a:lnL w="6350">
                      <a:solidFill>
                        <a:srgbClr val="E1E8F0"/>
                      </a:solidFill>
                      <a:prstDash val="solid"/>
                    </a:lnL>
                    <a:lnR w="6350">
                      <a:solidFill>
                        <a:srgbClr val="E1E8F0"/>
                      </a:solidFill>
                      <a:prstDash val="solid"/>
                    </a:lnR>
                    <a:lnT w="6350">
                      <a:solidFill>
                        <a:srgbClr val="E1E8F0"/>
                      </a:solidFill>
                      <a:prstDash val="solid"/>
                    </a:lnT>
                    <a:lnB w="6350">
                      <a:solidFill>
                        <a:srgbClr val="E1E8F0"/>
                      </a:solidFill>
                      <a:prstDash val="solid"/>
                    </a:lnB>
                    <a:solidFill>
                      <a:srgbClr val="0E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Avg</a:t>
                      </a:r>
                      <a:r>
                        <a:rPr sz="1200" b="1" spc="-6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Time/Cluster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5719" marB="0">
                    <a:lnL w="6350">
                      <a:solidFill>
                        <a:srgbClr val="E1E8F0"/>
                      </a:solidFill>
                      <a:prstDash val="solid"/>
                    </a:lnL>
                    <a:lnR w="6350">
                      <a:solidFill>
                        <a:srgbClr val="E1E8F0"/>
                      </a:solidFill>
                      <a:prstDash val="solid"/>
                    </a:lnR>
                    <a:lnT w="6350">
                      <a:solidFill>
                        <a:srgbClr val="E1E8F0"/>
                      </a:solidFill>
                      <a:prstDash val="solid"/>
                    </a:lnT>
                    <a:lnB w="6350">
                      <a:solidFill>
                        <a:srgbClr val="E1E8F0"/>
                      </a:solidFill>
                      <a:prstDash val="solid"/>
                    </a:lnB>
                    <a:solidFill>
                      <a:srgbClr val="0E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vs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SA</a:t>
                      </a:r>
                      <a:r>
                        <a:rPr sz="12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Baseline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5719" marB="0">
                    <a:lnL w="6350">
                      <a:solidFill>
                        <a:srgbClr val="E1E8F0"/>
                      </a:solidFill>
                      <a:prstDash val="solid"/>
                    </a:lnL>
                    <a:lnR w="6350">
                      <a:solidFill>
                        <a:srgbClr val="E1E8F0"/>
                      </a:solidFill>
                      <a:prstDash val="solid"/>
                    </a:lnR>
                    <a:lnT w="6350">
                      <a:solidFill>
                        <a:srgbClr val="E1E8F0"/>
                      </a:solidFill>
                      <a:prstDash val="solid"/>
                    </a:lnT>
                    <a:lnB w="6350">
                      <a:solidFill>
                        <a:srgbClr val="E1E8F0"/>
                      </a:solidFill>
                      <a:prstDash val="solid"/>
                    </a:lnB>
                    <a:solidFill>
                      <a:srgbClr val="0E16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69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20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SA</a:t>
                      </a:r>
                      <a:r>
                        <a:rPr sz="1200" spc="24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(5k</a:t>
                      </a:r>
                      <a:r>
                        <a:rPr sz="1200" spc="-15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iters)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5719" marB="0">
                    <a:lnL w="6350">
                      <a:solidFill>
                        <a:srgbClr val="E1E8F0"/>
                      </a:solidFill>
                      <a:prstDash val="solid"/>
                    </a:lnL>
                    <a:lnR w="6350">
                      <a:solidFill>
                        <a:srgbClr val="E1E8F0"/>
                      </a:solidFill>
                      <a:prstDash val="solid"/>
                    </a:lnR>
                    <a:lnT w="6350">
                      <a:solidFill>
                        <a:srgbClr val="E1E8F0"/>
                      </a:solidFill>
                      <a:prstDash val="solid"/>
                    </a:lnT>
                    <a:lnB w="6350">
                      <a:solidFill>
                        <a:srgbClr val="E1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20,078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5719" marB="0">
                    <a:lnL w="6350">
                      <a:solidFill>
                        <a:srgbClr val="E1E8F0"/>
                      </a:solidFill>
                      <a:prstDash val="solid"/>
                    </a:lnL>
                    <a:lnR w="6350">
                      <a:solidFill>
                        <a:srgbClr val="E1E8F0"/>
                      </a:solidFill>
                      <a:prstDash val="solid"/>
                    </a:lnR>
                    <a:lnT w="6350">
                      <a:solidFill>
                        <a:srgbClr val="E1E8F0"/>
                      </a:solidFill>
                      <a:prstDash val="solid"/>
                    </a:lnT>
                    <a:lnB w="6350">
                      <a:solidFill>
                        <a:srgbClr val="E1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~2.0s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5719" marB="0">
                    <a:lnL w="6350">
                      <a:solidFill>
                        <a:srgbClr val="E1E8F0"/>
                      </a:solidFill>
                      <a:prstDash val="solid"/>
                    </a:lnL>
                    <a:lnR w="6350">
                      <a:solidFill>
                        <a:srgbClr val="E1E8F0"/>
                      </a:solidFill>
                      <a:prstDash val="solid"/>
                    </a:lnR>
                    <a:lnT w="6350">
                      <a:solidFill>
                        <a:srgbClr val="E1E8F0"/>
                      </a:solidFill>
                      <a:prstDash val="solid"/>
                    </a:lnT>
                    <a:lnB w="6350">
                      <a:solidFill>
                        <a:srgbClr val="E1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200" i="1" spc="-10" dirty="0">
                          <a:solidFill>
                            <a:srgbClr val="465469"/>
                          </a:solidFill>
                          <a:latin typeface="Calibri"/>
                          <a:cs typeface="Calibri"/>
                        </a:rPr>
                        <a:t>baseline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5719" marB="0">
                    <a:lnL w="6350">
                      <a:solidFill>
                        <a:srgbClr val="E1E8F0"/>
                      </a:solidFill>
                      <a:prstDash val="solid"/>
                    </a:lnL>
                    <a:lnR w="6350">
                      <a:solidFill>
                        <a:srgbClr val="E1E8F0"/>
                      </a:solidFill>
                      <a:prstDash val="solid"/>
                    </a:lnR>
                    <a:lnT w="6350">
                      <a:solidFill>
                        <a:srgbClr val="E1E8F0"/>
                      </a:solidFill>
                      <a:prstDash val="solid"/>
                    </a:lnT>
                    <a:lnB w="6350">
                      <a:solidFill>
                        <a:srgbClr val="E1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69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200" b="1" dirty="0">
                          <a:solidFill>
                            <a:srgbClr val="0E162A"/>
                          </a:solidFill>
                          <a:latin typeface="Calibri"/>
                          <a:cs typeface="Calibri"/>
                        </a:rPr>
                        <a:t>GLS</a:t>
                      </a:r>
                      <a:r>
                        <a:rPr sz="1200" b="1" spc="229" dirty="0">
                          <a:solidFill>
                            <a:srgbClr val="0E16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0E162A"/>
                          </a:solidFill>
                          <a:latin typeface="Calibri"/>
                          <a:cs typeface="Calibri"/>
                        </a:rPr>
                        <a:t>(15r</a:t>
                      </a:r>
                      <a:r>
                        <a:rPr sz="1200" b="1" spc="-20" dirty="0">
                          <a:solidFill>
                            <a:srgbClr val="0E16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0E162A"/>
                          </a:solidFill>
                          <a:latin typeface="Calibri"/>
                          <a:cs typeface="Calibri"/>
                        </a:rPr>
                        <a:t>×</a:t>
                      </a:r>
                      <a:r>
                        <a:rPr sz="1200" b="1" spc="-25" dirty="0">
                          <a:solidFill>
                            <a:srgbClr val="0E16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0E162A"/>
                          </a:solidFill>
                          <a:latin typeface="Calibri"/>
                          <a:cs typeface="Calibri"/>
                        </a:rPr>
                        <a:t>500s,</a:t>
                      </a:r>
                      <a:r>
                        <a:rPr sz="1200" b="1" spc="-20" dirty="0">
                          <a:solidFill>
                            <a:srgbClr val="0E16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0E162A"/>
                          </a:solidFill>
                          <a:latin typeface="Calibri"/>
                          <a:cs typeface="Calibri"/>
                        </a:rPr>
                        <a:t>λ=0.3)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5719" marB="0">
                    <a:lnL w="6350">
                      <a:solidFill>
                        <a:srgbClr val="E1E8F0"/>
                      </a:solidFill>
                      <a:prstDash val="solid"/>
                    </a:lnL>
                    <a:lnR w="6350">
                      <a:solidFill>
                        <a:srgbClr val="E1E8F0"/>
                      </a:solidFill>
                      <a:prstDash val="solid"/>
                    </a:lnR>
                    <a:lnT w="6350">
                      <a:solidFill>
                        <a:srgbClr val="E1E8F0"/>
                      </a:solidFill>
                      <a:prstDash val="solid"/>
                    </a:lnT>
                    <a:lnB w="6350">
                      <a:solidFill>
                        <a:srgbClr val="E1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200" b="1" spc="-10" dirty="0">
                          <a:solidFill>
                            <a:srgbClr val="0D9487"/>
                          </a:solidFill>
                          <a:latin typeface="Calibri"/>
                          <a:cs typeface="Calibri"/>
                        </a:rPr>
                        <a:t>7,916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5719" marB="0">
                    <a:lnL w="6350">
                      <a:solidFill>
                        <a:srgbClr val="E1E8F0"/>
                      </a:solidFill>
                      <a:prstDash val="solid"/>
                    </a:lnL>
                    <a:lnR w="6350">
                      <a:solidFill>
                        <a:srgbClr val="E1E8F0"/>
                      </a:solidFill>
                      <a:prstDash val="solid"/>
                    </a:lnR>
                    <a:lnT w="6350">
                      <a:solidFill>
                        <a:srgbClr val="E1E8F0"/>
                      </a:solidFill>
                      <a:prstDash val="solid"/>
                    </a:lnT>
                    <a:lnB w="6350">
                      <a:solidFill>
                        <a:srgbClr val="E1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200" b="1" spc="-20" dirty="0">
                          <a:solidFill>
                            <a:srgbClr val="0FB980"/>
                          </a:solidFill>
                          <a:latin typeface="Calibri"/>
                          <a:cs typeface="Calibri"/>
                        </a:rPr>
                        <a:t>0.3s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5719" marB="0">
                    <a:lnL w="6350">
                      <a:solidFill>
                        <a:srgbClr val="E1E8F0"/>
                      </a:solidFill>
                      <a:prstDash val="solid"/>
                    </a:lnL>
                    <a:lnR w="6350">
                      <a:solidFill>
                        <a:srgbClr val="E1E8F0"/>
                      </a:solidFill>
                      <a:prstDash val="solid"/>
                    </a:lnR>
                    <a:lnT w="6350">
                      <a:solidFill>
                        <a:srgbClr val="E1E8F0"/>
                      </a:solidFill>
                      <a:prstDash val="solid"/>
                    </a:lnT>
                    <a:lnB w="6350">
                      <a:solidFill>
                        <a:srgbClr val="E1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200" b="1" dirty="0">
                          <a:solidFill>
                            <a:srgbClr val="0FB980"/>
                          </a:solidFill>
                          <a:latin typeface="Calibri"/>
                          <a:cs typeface="Calibri"/>
                        </a:rPr>
                        <a:t>+60.6%</a:t>
                      </a:r>
                      <a:r>
                        <a:rPr sz="1200" b="1" spc="-55" dirty="0">
                          <a:solidFill>
                            <a:srgbClr val="0FB9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0FB980"/>
                          </a:solidFill>
                          <a:latin typeface="Calibri"/>
                          <a:cs typeface="Calibri"/>
                        </a:rPr>
                        <a:t>better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5719" marB="0">
                    <a:lnL w="6350">
                      <a:solidFill>
                        <a:srgbClr val="E1E8F0"/>
                      </a:solidFill>
                      <a:prstDash val="solid"/>
                    </a:lnL>
                    <a:lnR w="6350">
                      <a:solidFill>
                        <a:srgbClr val="E1E8F0"/>
                      </a:solidFill>
                      <a:prstDash val="solid"/>
                    </a:lnR>
                    <a:lnT w="6350">
                      <a:solidFill>
                        <a:srgbClr val="E1E8F0"/>
                      </a:solidFill>
                      <a:prstDash val="solid"/>
                    </a:lnT>
                    <a:lnB w="6350">
                      <a:solidFill>
                        <a:srgbClr val="E1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69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200" b="1" dirty="0">
                          <a:solidFill>
                            <a:srgbClr val="0E162A"/>
                          </a:solidFill>
                          <a:latin typeface="Calibri"/>
                          <a:cs typeface="Calibri"/>
                        </a:rPr>
                        <a:t>ACO</a:t>
                      </a:r>
                      <a:r>
                        <a:rPr sz="1200" b="1" spc="229" dirty="0">
                          <a:solidFill>
                            <a:srgbClr val="0E16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0E162A"/>
                          </a:solidFill>
                          <a:latin typeface="Calibri"/>
                          <a:cs typeface="Calibri"/>
                        </a:rPr>
                        <a:t>(4</a:t>
                      </a:r>
                      <a:r>
                        <a:rPr sz="1200" b="1" spc="-25" dirty="0">
                          <a:solidFill>
                            <a:srgbClr val="0E16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0E162A"/>
                          </a:solidFill>
                          <a:latin typeface="Calibri"/>
                          <a:cs typeface="Calibri"/>
                        </a:rPr>
                        <a:t>ants</a:t>
                      </a:r>
                      <a:r>
                        <a:rPr sz="1200" b="1" spc="-25" dirty="0">
                          <a:solidFill>
                            <a:srgbClr val="0E16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0E162A"/>
                          </a:solidFill>
                          <a:latin typeface="Calibri"/>
                          <a:cs typeface="Calibri"/>
                        </a:rPr>
                        <a:t>×</a:t>
                      </a:r>
                      <a:r>
                        <a:rPr sz="1200" b="1" spc="-25" dirty="0">
                          <a:solidFill>
                            <a:srgbClr val="0E16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0E162A"/>
                          </a:solidFill>
                          <a:latin typeface="Calibri"/>
                          <a:cs typeface="Calibri"/>
                        </a:rPr>
                        <a:t>10</a:t>
                      </a:r>
                      <a:r>
                        <a:rPr sz="1200" b="1" spc="-20" dirty="0">
                          <a:solidFill>
                            <a:srgbClr val="0E16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0E162A"/>
                          </a:solidFill>
                          <a:latin typeface="Calibri"/>
                          <a:cs typeface="Calibri"/>
                        </a:rPr>
                        <a:t>iters)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5719" marB="0">
                    <a:lnL w="6350">
                      <a:solidFill>
                        <a:srgbClr val="E1E8F0"/>
                      </a:solidFill>
                      <a:prstDash val="solid"/>
                    </a:lnL>
                    <a:lnR w="6350">
                      <a:solidFill>
                        <a:srgbClr val="E1E8F0"/>
                      </a:solidFill>
                      <a:prstDash val="solid"/>
                    </a:lnR>
                    <a:lnT w="6350">
                      <a:solidFill>
                        <a:srgbClr val="E1E8F0"/>
                      </a:solidFill>
                      <a:prstDash val="solid"/>
                    </a:lnT>
                    <a:lnB w="6350">
                      <a:solidFill>
                        <a:srgbClr val="E1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200" b="1" spc="-10" dirty="0">
                          <a:solidFill>
                            <a:srgbClr val="1D4DD7"/>
                          </a:solidFill>
                          <a:latin typeface="Calibri"/>
                          <a:cs typeface="Calibri"/>
                        </a:rPr>
                        <a:t>7,527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5719" marB="0">
                    <a:lnL w="6350">
                      <a:solidFill>
                        <a:srgbClr val="E1E8F0"/>
                      </a:solidFill>
                      <a:prstDash val="solid"/>
                    </a:lnL>
                    <a:lnR w="6350">
                      <a:solidFill>
                        <a:srgbClr val="E1E8F0"/>
                      </a:solidFill>
                      <a:prstDash val="solid"/>
                    </a:lnR>
                    <a:lnT w="6350">
                      <a:solidFill>
                        <a:srgbClr val="E1E8F0"/>
                      </a:solidFill>
                      <a:prstDash val="solid"/>
                    </a:lnT>
                    <a:lnB w="6350">
                      <a:solidFill>
                        <a:srgbClr val="E1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0.7s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5719" marB="0">
                    <a:lnL w="6350">
                      <a:solidFill>
                        <a:srgbClr val="E1E8F0"/>
                      </a:solidFill>
                      <a:prstDash val="solid"/>
                    </a:lnL>
                    <a:lnR w="6350">
                      <a:solidFill>
                        <a:srgbClr val="E1E8F0"/>
                      </a:solidFill>
                      <a:prstDash val="solid"/>
                    </a:lnR>
                    <a:lnT w="6350">
                      <a:solidFill>
                        <a:srgbClr val="E1E8F0"/>
                      </a:solidFill>
                      <a:prstDash val="solid"/>
                    </a:lnT>
                    <a:lnB w="6350">
                      <a:solidFill>
                        <a:srgbClr val="E1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200" b="1" dirty="0">
                          <a:solidFill>
                            <a:srgbClr val="1D4DD7"/>
                          </a:solidFill>
                          <a:latin typeface="Calibri"/>
                          <a:cs typeface="Calibri"/>
                        </a:rPr>
                        <a:t>+62.5%</a:t>
                      </a:r>
                      <a:r>
                        <a:rPr sz="1200" b="1" spc="-55" dirty="0">
                          <a:solidFill>
                            <a:srgbClr val="1D4DD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1D4DD7"/>
                          </a:solidFill>
                          <a:latin typeface="Calibri"/>
                          <a:cs typeface="Calibri"/>
                        </a:rPr>
                        <a:t>better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5719" marB="0">
                    <a:lnL w="6350">
                      <a:solidFill>
                        <a:srgbClr val="E1E8F0"/>
                      </a:solidFill>
                      <a:prstDash val="solid"/>
                    </a:lnL>
                    <a:lnR w="6350">
                      <a:solidFill>
                        <a:srgbClr val="E1E8F0"/>
                      </a:solidFill>
                      <a:prstDash val="solid"/>
                    </a:lnR>
                    <a:lnT w="6350">
                      <a:solidFill>
                        <a:srgbClr val="E1E8F0"/>
                      </a:solidFill>
                      <a:prstDash val="solid"/>
                    </a:lnT>
                    <a:lnB w="6350">
                      <a:solidFill>
                        <a:srgbClr val="E1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411480" y="2724837"/>
            <a:ext cx="8321040" cy="2194560"/>
            <a:chOff x="411480" y="2724837"/>
            <a:chExt cx="8321040" cy="2194560"/>
          </a:xfrm>
        </p:grpSpPr>
        <p:sp>
          <p:nvSpPr>
            <p:cNvPr id="6" name="object 6"/>
            <p:cNvSpPr/>
            <p:nvPr/>
          </p:nvSpPr>
          <p:spPr>
            <a:xfrm>
              <a:off x="411480" y="2724837"/>
              <a:ext cx="8321040" cy="2194560"/>
            </a:xfrm>
            <a:custGeom>
              <a:avLst/>
              <a:gdLst/>
              <a:ahLst/>
              <a:cxnLst/>
              <a:rect l="l" t="t" r="r" b="b"/>
              <a:pathLst>
                <a:path w="8321040" h="2194560">
                  <a:moveTo>
                    <a:pt x="8320684" y="0"/>
                  </a:moveTo>
                  <a:lnTo>
                    <a:pt x="0" y="0"/>
                  </a:lnTo>
                  <a:lnTo>
                    <a:pt x="0" y="2194204"/>
                  </a:lnTo>
                  <a:lnTo>
                    <a:pt x="4160520" y="2194204"/>
                  </a:lnTo>
                  <a:lnTo>
                    <a:pt x="8320684" y="2194204"/>
                  </a:lnTo>
                  <a:lnTo>
                    <a:pt x="8320684" y="0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91882" y="4623119"/>
              <a:ext cx="7473950" cy="0"/>
            </a:xfrm>
            <a:custGeom>
              <a:avLst/>
              <a:gdLst/>
              <a:ahLst/>
              <a:cxnLst/>
              <a:rect l="l" t="t" r="r" b="b"/>
              <a:pathLst>
                <a:path w="7473950">
                  <a:moveTo>
                    <a:pt x="7473594" y="0"/>
                  </a:moveTo>
                  <a:lnTo>
                    <a:pt x="0" y="0"/>
                  </a:lnTo>
                </a:path>
              </a:pathLst>
            </a:custGeom>
            <a:ln w="6479">
              <a:solidFill>
                <a:srgbClr val="E1E8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91882" y="3615844"/>
              <a:ext cx="7473950" cy="755650"/>
            </a:xfrm>
            <a:custGeom>
              <a:avLst/>
              <a:gdLst/>
              <a:ahLst/>
              <a:cxnLst/>
              <a:rect l="l" t="t" r="r" b="b"/>
              <a:pathLst>
                <a:path w="7473950" h="755650">
                  <a:moveTo>
                    <a:pt x="0" y="755281"/>
                  </a:moveTo>
                  <a:lnTo>
                    <a:pt x="124561" y="755281"/>
                  </a:lnTo>
                </a:path>
                <a:path w="7473950" h="755650">
                  <a:moveTo>
                    <a:pt x="290512" y="755281"/>
                  </a:moveTo>
                  <a:lnTo>
                    <a:pt x="871918" y="755281"/>
                  </a:lnTo>
                </a:path>
                <a:path w="7473950" h="755650">
                  <a:moveTo>
                    <a:pt x="1370152" y="755281"/>
                  </a:moveTo>
                  <a:lnTo>
                    <a:pt x="1619275" y="755281"/>
                  </a:lnTo>
                </a:path>
                <a:path w="7473950" h="755650">
                  <a:moveTo>
                    <a:pt x="1785239" y="755281"/>
                  </a:moveTo>
                  <a:lnTo>
                    <a:pt x="2366632" y="755281"/>
                  </a:lnTo>
                </a:path>
                <a:path w="7473950" h="755650">
                  <a:moveTo>
                    <a:pt x="2532951" y="755281"/>
                  </a:moveTo>
                  <a:lnTo>
                    <a:pt x="3114001" y="755281"/>
                  </a:lnTo>
                </a:path>
                <a:path w="7473950" h="755650">
                  <a:moveTo>
                    <a:pt x="3280321" y="755281"/>
                  </a:moveTo>
                  <a:lnTo>
                    <a:pt x="3861358" y="755281"/>
                  </a:lnTo>
                </a:path>
                <a:path w="7473950" h="755650">
                  <a:moveTo>
                    <a:pt x="4027322" y="755281"/>
                  </a:moveTo>
                  <a:lnTo>
                    <a:pt x="4608715" y="755281"/>
                  </a:lnTo>
                </a:path>
                <a:path w="7473950" h="755650">
                  <a:moveTo>
                    <a:pt x="4774679" y="755281"/>
                  </a:moveTo>
                  <a:lnTo>
                    <a:pt x="5356072" y="755281"/>
                  </a:lnTo>
                </a:path>
                <a:path w="7473950" h="755650">
                  <a:moveTo>
                    <a:pt x="5522036" y="755281"/>
                  </a:moveTo>
                  <a:lnTo>
                    <a:pt x="6103442" y="755281"/>
                  </a:lnTo>
                </a:path>
                <a:path w="7473950" h="755650">
                  <a:moveTo>
                    <a:pt x="6269761" y="755281"/>
                  </a:moveTo>
                  <a:lnTo>
                    <a:pt x="6850799" y="755281"/>
                  </a:lnTo>
                </a:path>
                <a:path w="7473950" h="755650">
                  <a:moveTo>
                    <a:pt x="7017118" y="755281"/>
                  </a:moveTo>
                  <a:lnTo>
                    <a:pt x="7473594" y="755281"/>
                  </a:lnTo>
                </a:path>
                <a:path w="7473950" h="755650">
                  <a:moveTo>
                    <a:pt x="0" y="503275"/>
                  </a:moveTo>
                  <a:lnTo>
                    <a:pt x="871918" y="503275"/>
                  </a:lnTo>
                </a:path>
                <a:path w="7473950" h="755650">
                  <a:moveTo>
                    <a:pt x="1203833" y="503275"/>
                  </a:moveTo>
                  <a:lnTo>
                    <a:pt x="4608715" y="503275"/>
                  </a:lnTo>
                </a:path>
                <a:path w="7473950" h="755650">
                  <a:moveTo>
                    <a:pt x="4774679" y="503275"/>
                  </a:moveTo>
                  <a:lnTo>
                    <a:pt x="6103442" y="503275"/>
                  </a:lnTo>
                </a:path>
                <a:path w="7473950" h="755650">
                  <a:moveTo>
                    <a:pt x="6269761" y="503275"/>
                  </a:moveTo>
                  <a:lnTo>
                    <a:pt x="7473594" y="503275"/>
                  </a:lnTo>
                </a:path>
                <a:path w="7473950" h="755650">
                  <a:moveTo>
                    <a:pt x="0" y="251637"/>
                  </a:moveTo>
                  <a:lnTo>
                    <a:pt x="871918" y="251637"/>
                  </a:lnTo>
                </a:path>
                <a:path w="7473950" h="755650">
                  <a:moveTo>
                    <a:pt x="1037882" y="251637"/>
                  </a:moveTo>
                  <a:lnTo>
                    <a:pt x="7473594" y="251637"/>
                  </a:lnTo>
                </a:path>
                <a:path w="7473950" h="755650">
                  <a:moveTo>
                    <a:pt x="0" y="0"/>
                  </a:moveTo>
                  <a:lnTo>
                    <a:pt x="871918" y="0"/>
                  </a:lnTo>
                </a:path>
                <a:path w="7473950" h="755650">
                  <a:moveTo>
                    <a:pt x="1037882" y="0"/>
                  </a:moveTo>
                  <a:lnTo>
                    <a:pt x="7473594" y="0"/>
                  </a:lnTo>
                </a:path>
              </a:pathLst>
            </a:custGeom>
            <a:ln w="6479">
              <a:solidFill>
                <a:srgbClr val="E1E8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91882" y="3363838"/>
              <a:ext cx="7473950" cy="0"/>
            </a:xfrm>
            <a:custGeom>
              <a:avLst/>
              <a:gdLst/>
              <a:ahLst/>
              <a:cxnLst/>
              <a:rect l="l" t="t" r="r" b="b"/>
              <a:pathLst>
                <a:path w="7473950">
                  <a:moveTo>
                    <a:pt x="0" y="0"/>
                  </a:moveTo>
                  <a:lnTo>
                    <a:pt x="871918" y="0"/>
                  </a:lnTo>
                </a:path>
                <a:path w="7473950">
                  <a:moveTo>
                    <a:pt x="1037882" y="0"/>
                  </a:moveTo>
                  <a:lnTo>
                    <a:pt x="7473594" y="0"/>
                  </a:lnTo>
                </a:path>
              </a:pathLst>
            </a:custGeom>
            <a:ln w="6479">
              <a:solidFill>
                <a:srgbClr val="E1E8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91882" y="3112200"/>
              <a:ext cx="7473950" cy="0"/>
            </a:xfrm>
            <a:custGeom>
              <a:avLst/>
              <a:gdLst/>
              <a:ahLst/>
              <a:cxnLst/>
              <a:rect l="l" t="t" r="r" b="b"/>
              <a:pathLst>
                <a:path w="7473950">
                  <a:moveTo>
                    <a:pt x="7473594" y="0"/>
                  </a:moveTo>
                  <a:lnTo>
                    <a:pt x="0" y="0"/>
                  </a:lnTo>
                </a:path>
              </a:pathLst>
            </a:custGeom>
            <a:ln w="6479">
              <a:solidFill>
                <a:srgbClr val="E1E8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37882" y="3112200"/>
              <a:ext cx="7527925" cy="1565275"/>
            </a:xfrm>
            <a:custGeom>
              <a:avLst/>
              <a:gdLst/>
              <a:ahLst/>
              <a:cxnLst/>
              <a:rect l="l" t="t" r="r" b="b"/>
              <a:pathLst>
                <a:path w="7527925" h="1565275">
                  <a:moveTo>
                    <a:pt x="54000" y="1564919"/>
                  </a:moveTo>
                  <a:lnTo>
                    <a:pt x="54000" y="1510919"/>
                  </a:lnTo>
                </a:path>
                <a:path w="7527925" h="1565275">
                  <a:moveTo>
                    <a:pt x="801357" y="1564919"/>
                  </a:moveTo>
                  <a:lnTo>
                    <a:pt x="801357" y="1510919"/>
                  </a:lnTo>
                </a:path>
                <a:path w="7527925" h="1565275">
                  <a:moveTo>
                    <a:pt x="1548714" y="1564919"/>
                  </a:moveTo>
                  <a:lnTo>
                    <a:pt x="1548714" y="1510919"/>
                  </a:lnTo>
                </a:path>
                <a:path w="7527925" h="1565275">
                  <a:moveTo>
                    <a:pt x="2296083" y="1564919"/>
                  </a:moveTo>
                  <a:lnTo>
                    <a:pt x="2296083" y="1510919"/>
                  </a:lnTo>
                </a:path>
                <a:path w="7527925" h="1565275">
                  <a:moveTo>
                    <a:pt x="3043440" y="1564919"/>
                  </a:moveTo>
                  <a:lnTo>
                    <a:pt x="3043440" y="1510919"/>
                  </a:lnTo>
                </a:path>
                <a:path w="7527925" h="1565275">
                  <a:moveTo>
                    <a:pt x="3790441" y="1564919"/>
                  </a:moveTo>
                  <a:lnTo>
                    <a:pt x="3790441" y="1510919"/>
                  </a:lnTo>
                </a:path>
                <a:path w="7527925" h="1565275">
                  <a:moveTo>
                    <a:pt x="4538154" y="1564919"/>
                  </a:moveTo>
                  <a:lnTo>
                    <a:pt x="4538154" y="1510919"/>
                  </a:lnTo>
                </a:path>
                <a:path w="7527925" h="1565275">
                  <a:moveTo>
                    <a:pt x="5285524" y="1564919"/>
                  </a:moveTo>
                  <a:lnTo>
                    <a:pt x="5285524" y="1510919"/>
                  </a:lnTo>
                </a:path>
                <a:path w="7527925" h="1565275">
                  <a:moveTo>
                    <a:pt x="6032881" y="1564919"/>
                  </a:moveTo>
                  <a:lnTo>
                    <a:pt x="6032881" y="1510919"/>
                  </a:lnTo>
                </a:path>
                <a:path w="7527925" h="1565275">
                  <a:moveTo>
                    <a:pt x="6780237" y="1564919"/>
                  </a:moveTo>
                  <a:lnTo>
                    <a:pt x="6780237" y="1510919"/>
                  </a:lnTo>
                </a:path>
                <a:path w="7527925" h="1565275">
                  <a:moveTo>
                    <a:pt x="7527594" y="1564919"/>
                  </a:moveTo>
                  <a:lnTo>
                    <a:pt x="7527594" y="1510919"/>
                  </a:lnTo>
                </a:path>
                <a:path w="7527925" h="1565275">
                  <a:moveTo>
                    <a:pt x="54000" y="1510919"/>
                  </a:moveTo>
                  <a:lnTo>
                    <a:pt x="7527594" y="1510919"/>
                  </a:lnTo>
                </a:path>
                <a:path w="7527925" h="1565275">
                  <a:moveTo>
                    <a:pt x="0" y="1510919"/>
                  </a:moveTo>
                  <a:lnTo>
                    <a:pt x="54000" y="1510919"/>
                  </a:lnTo>
                </a:path>
                <a:path w="7527925" h="1565275">
                  <a:moveTo>
                    <a:pt x="0" y="1258925"/>
                  </a:moveTo>
                  <a:lnTo>
                    <a:pt x="54000" y="1258925"/>
                  </a:lnTo>
                </a:path>
                <a:path w="7527925" h="1565275">
                  <a:moveTo>
                    <a:pt x="0" y="1006919"/>
                  </a:moveTo>
                  <a:lnTo>
                    <a:pt x="54000" y="1006919"/>
                  </a:lnTo>
                </a:path>
                <a:path w="7527925" h="1565275">
                  <a:moveTo>
                    <a:pt x="0" y="755281"/>
                  </a:moveTo>
                  <a:lnTo>
                    <a:pt x="54000" y="755281"/>
                  </a:lnTo>
                </a:path>
                <a:path w="7527925" h="1565275">
                  <a:moveTo>
                    <a:pt x="0" y="503643"/>
                  </a:moveTo>
                  <a:lnTo>
                    <a:pt x="54000" y="503643"/>
                  </a:lnTo>
                </a:path>
                <a:path w="7527925" h="1565275">
                  <a:moveTo>
                    <a:pt x="0" y="251637"/>
                  </a:moveTo>
                  <a:lnTo>
                    <a:pt x="54000" y="251637"/>
                  </a:lnTo>
                </a:path>
                <a:path w="7527925" h="1565275">
                  <a:moveTo>
                    <a:pt x="0" y="0"/>
                  </a:moveTo>
                  <a:lnTo>
                    <a:pt x="54000" y="0"/>
                  </a:lnTo>
                </a:path>
                <a:path w="7527925" h="1565275">
                  <a:moveTo>
                    <a:pt x="54000" y="1510919"/>
                  </a:moveTo>
                  <a:lnTo>
                    <a:pt x="54000" y="0"/>
                  </a:lnTo>
                </a:path>
              </a:pathLst>
            </a:custGeom>
            <a:ln w="12599">
              <a:solidFill>
                <a:srgbClr val="8787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16444" y="3308402"/>
              <a:ext cx="6892925" cy="1315085"/>
            </a:xfrm>
            <a:custGeom>
              <a:avLst/>
              <a:gdLst/>
              <a:ahLst/>
              <a:cxnLst/>
              <a:rect l="l" t="t" r="r" b="b"/>
              <a:pathLst>
                <a:path w="6892925" h="1315085">
                  <a:moveTo>
                    <a:pt x="165950" y="873353"/>
                  </a:moveTo>
                  <a:lnTo>
                    <a:pt x="0" y="873353"/>
                  </a:lnTo>
                  <a:lnTo>
                    <a:pt x="0" y="1314716"/>
                  </a:lnTo>
                  <a:lnTo>
                    <a:pt x="165950" y="1314716"/>
                  </a:lnTo>
                  <a:lnTo>
                    <a:pt x="165950" y="873353"/>
                  </a:lnTo>
                  <a:close/>
                </a:path>
                <a:path w="6892925" h="1315085">
                  <a:moveTo>
                    <a:pt x="913320" y="0"/>
                  </a:moveTo>
                  <a:lnTo>
                    <a:pt x="747356" y="0"/>
                  </a:lnTo>
                  <a:lnTo>
                    <a:pt x="747356" y="1314716"/>
                  </a:lnTo>
                  <a:lnTo>
                    <a:pt x="913320" y="1314716"/>
                  </a:lnTo>
                  <a:lnTo>
                    <a:pt x="913320" y="0"/>
                  </a:lnTo>
                  <a:close/>
                </a:path>
                <a:path w="6892925" h="1315085">
                  <a:moveTo>
                    <a:pt x="1660677" y="944994"/>
                  </a:moveTo>
                  <a:lnTo>
                    <a:pt x="1494713" y="944994"/>
                  </a:lnTo>
                  <a:lnTo>
                    <a:pt x="1494713" y="1314716"/>
                  </a:lnTo>
                  <a:lnTo>
                    <a:pt x="1660677" y="1314716"/>
                  </a:lnTo>
                  <a:lnTo>
                    <a:pt x="1660677" y="944994"/>
                  </a:lnTo>
                  <a:close/>
                </a:path>
                <a:path w="6892925" h="1315085">
                  <a:moveTo>
                    <a:pt x="2408390" y="1028877"/>
                  </a:moveTo>
                  <a:lnTo>
                    <a:pt x="2242070" y="1028877"/>
                  </a:lnTo>
                  <a:lnTo>
                    <a:pt x="2242070" y="1314716"/>
                  </a:lnTo>
                  <a:lnTo>
                    <a:pt x="2408390" y="1314716"/>
                  </a:lnTo>
                  <a:lnTo>
                    <a:pt x="2408390" y="1028877"/>
                  </a:lnTo>
                  <a:close/>
                </a:path>
                <a:path w="6892925" h="1315085">
                  <a:moveTo>
                    <a:pt x="3155759" y="952563"/>
                  </a:moveTo>
                  <a:lnTo>
                    <a:pt x="2989440" y="952563"/>
                  </a:lnTo>
                  <a:lnTo>
                    <a:pt x="2989440" y="1314716"/>
                  </a:lnTo>
                  <a:lnTo>
                    <a:pt x="3155759" y="1314716"/>
                  </a:lnTo>
                  <a:lnTo>
                    <a:pt x="3155759" y="952563"/>
                  </a:lnTo>
                  <a:close/>
                </a:path>
                <a:path w="6892925" h="1315085">
                  <a:moveTo>
                    <a:pt x="3902760" y="938517"/>
                  </a:moveTo>
                  <a:lnTo>
                    <a:pt x="3736797" y="938517"/>
                  </a:lnTo>
                  <a:lnTo>
                    <a:pt x="3736797" y="1314716"/>
                  </a:lnTo>
                  <a:lnTo>
                    <a:pt x="3902760" y="1314716"/>
                  </a:lnTo>
                  <a:lnTo>
                    <a:pt x="3902760" y="938517"/>
                  </a:lnTo>
                  <a:close/>
                </a:path>
                <a:path w="6892925" h="1315085">
                  <a:moveTo>
                    <a:pt x="4650117" y="662762"/>
                  </a:moveTo>
                  <a:lnTo>
                    <a:pt x="4484154" y="662762"/>
                  </a:lnTo>
                  <a:lnTo>
                    <a:pt x="4484154" y="1314716"/>
                  </a:lnTo>
                  <a:lnTo>
                    <a:pt x="4650117" y="1314716"/>
                  </a:lnTo>
                  <a:lnTo>
                    <a:pt x="4650117" y="662762"/>
                  </a:lnTo>
                  <a:close/>
                </a:path>
                <a:path w="6892925" h="1315085">
                  <a:moveTo>
                    <a:pt x="5397462" y="1036434"/>
                  </a:moveTo>
                  <a:lnTo>
                    <a:pt x="5231511" y="1036434"/>
                  </a:lnTo>
                  <a:lnTo>
                    <a:pt x="5231511" y="1314716"/>
                  </a:lnTo>
                  <a:lnTo>
                    <a:pt x="5397462" y="1314716"/>
                  </a:lnTo>
                  <a:lnTo>
                    <a:pt x="5397462" y="1036434"/>
                  </a:lnTo>
                  <a:close/>
                </a:path>
                <a:path w="6892925" h="1315085">
                  <a:moveTo>
                    <a:pt x="6145200" y="790194"/>
                  </a:moveTo>
                  <a:lnTo>
                    <a:pt x="5978880" y="790194"/>
                  </a:lnTo>
                  <a:lnTo>
                    <a:pt x="5978880" y="1314716"/>
                  </a:lnTo>
                  <a:lnTo>
                    <a:pt x="6145200" y="1314716"/>
                  </a:lnTo>
                  <a:lnTo>
                    <a:pt x="6145200" y="790194"/>
                  </a:lnTo>
                  <a:close/>
                </a:path>
                <a:path w="6892925" h="1315085">
                  <a:moveTo>
                    <a:pt x="6892557" y="861123"/>
                  </a:moveTo>
                  <a:lnTo>
                    <a:pt x="6726237" y="861123"/>
                  </a:lnTo>
                  <a:lnTo>
                    <a:pt x="6726237" y="1314716"/>
                  </a:lnTo>
                  <a:lnTo>
                    <a:pt x="6892557" y="1314716"/>
                  </a:lnTo>
                  <a:lnTo>
                    <a:pt x="6892557" y="861123"/>
                  </a:lnTo>
                  <a:close/>
                </a:path>
              </a:pathLst>
            </a:custGeom>
            <a:solidFill>
              <a:srgbClr val="94A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382395" y="4099320"/>
              <a:ext cx="6892925" cy="523875"/>
            </a:xfrm>
            <a:custGeom>
              <a:avLst/>
              <a:gdLst/>
              <a:ahLst/>
              <a:cxnLst/>
              <a:rect l="l" t="t" r="r" b="b"/>
              <a:pathLst>
                <a:path w="6892925" h="523875">
                  <a:moveTo>
                    <a:pt x="165963" y="360362"/>
                  </a:moveTo>
                  <a:lnTo>
                    <a:pt x="0" y="360362"/>
                  </a:lnTo>
                  <a:lnTo>
                    <a:pt x="0" y="523798"/>
                  </a:lnTo>
                  <a:lnTo>
                    <a:pt x="165963" y="523798"/>
                  </a:lnTo>
                  <a:lnTo>
                    <a:pt x="165963" y="360362"/>
                  </a:lnTo>
                  <a:close/>
                </a:path>
                <a:path w="6892925" h="523875">
                  <a:moveTo>
                    <a:pt x="913320" y="0"/>
                  </a:moveTo>
                  <a:lnTo>
                    <a:pt x="747369" y="0"/>
                  </a:lnTo>
                  <a:lnTo>
                    <a:pt x="747369" y="523798"/>
                  </a:lnTo>
                  <a:lnTo>
                    <a:pt x="913320" y="523798"/>
                  </a:lnTo>
                  <a:lnTo>
                    <a:pt x="913320" y="0"/>
                  </a:lnTo>
                  <a:close/>
                </a:path>
                <a:path w="6892925" h="523875">
                  <a:moveTo>
                    <a:pt x="1661045" y="352806"/>
                  </a:moveTo>
                  <a:lnTo>
                    <a:pt x="1494726" y="352806"/>
                  </a:lnTo>
                  <a:lnTo>
                    <a:pt x="1494726" y="523798"/>
                  </a:lnTo>
                  <a:lnTo>
                    <a:pt x="1661045" y="523798"/>
                  </a:lnTo>
                  <a:lnTo>
                    <a:pt x="1661045" y="352806"/>
                  </a:lnTo>
                  <a:close/>
                </a:path>
                <a:path w="6892925" h="523875">
                  <a:moveTo>
                    <a:pt x="2408402" y="408241"/>
                  </a:moveTo>
                  <a:lnTo>
                    <a:pt x="2242439" y="408241"/>
                  </a:lnTo>
                  <a:lnTo>
                    <a:pt x="2242439" y="523798"/>
                  </a:lnTo>
                  <a:lnTo>
                    <a:pt x="2408402" y="523798"/>
                  </a:lnTo>
                  <a:lnTo>
                    <a:pt x="2408402" y="408241"/>
                  </a:lnTo>
                  <a:close/>
                </a:path>
                <a:path w="6892925" h="523875">
                  <a:moveTo>
                    <a:pt x="3155759" y="378002"/>
                  </a:moveTo>
                  <a:lnTo>
                    <a:pt x="2989808" y="378002"/>
                  </a:lnTo>
                  <a:lnTo>
                    <a:pt x="2989808" y="523798"/>
                  </a:lnTo>
                  <a:lnTo>
                    <a:pt x="3155759" y="523798"/>
                  </a:lnTo>
                  <a:lnTo>
                    <a:pt x="3155759" y="378002"/>
                  </a:lnTo>
                  <a:close/>
                </a:path>
                <a:path w="6892925" h="523875">
                  <a:moveTo>
                    <a:pt x="3902760" y="387718"/>
                  </a:moveTo>
                  <a:lnTo>
                    <a:pt x="3736810" y="387718"/>
                  </a:lnTo>
                  <a:lnTo>
                    <a:pt x="3736810" y="523798"/>
                  </a:lnTo>
                  <a:lnTo>
                    <a:pt x="3902760" y="523798"/>
                  </a:lnTo>
                  <a:lnTo>
                    <a:pt x="3902760" y="387718"/>
                  </a:lnTo>
                  <a:close/>
                </a:path>
                <a:path w="6892925" h="523875">
                  <a:moveTo>
                    <a:pt x="4650130" y="273240"/>
                  </a:moveTo>
                  <a:lnTo>
                    <a:pt x="4484167" y="273240"/>
                  </a:lnTo>
                  <a:lnTo>
                    <a:pt x="4484167" y="523798"/>
                  </a:lnTo>
                  <a:lnTo>
                    <a:pt x="4650130" y="523798"/>
                  </a:lnTo>
                  <a:lnTo>
                    <a:pt x="4650130" y="273240"/>
                  </a:lnTo>
                  <a:close/>
                </a:path>
                <a:path w="6892925" h="523875">
                  <a:moveTo>
                    <a:pt x="5397843" y="404647"/>
                  </a:moveTo>
                  <a:lnTo>
                    <a:pt x="5231511" y="404647"/>
                  </a:lnTo>
                  <a:lnTo>
                    <a:pt x="5231511" y="523798"/>
                  </a:lnTo>
                  <a:lnTo>
                    <a:pt x="5397843" y="523798"/>
                  </a:lnTo>
                  <a:lnTo>
                    <a:pt x="5397843" y="404647"/>
                  </a:lnTo>
                  <a:close/>
                </a:path>
                <a:path w="6892925" h="523875">
                  <a:moveTo>
                    <a:pt x="6145200" y="332282"/>
                  </a:moveTo>
                  <a:lnTo>
                    <a:pt x="5979249" y="332282"/>
                  </a:lnTo>
                  <a:lnTo>
                    <a:pt x="5979249" y="523798"/>
                  </a:lnTo>
                  <a:lnTo>
                    <a:pt x="6145200" y="523798"/>
                  </a:lnTo>
                  <a:lnTo>
                    <a:pt x="6145200" y="332282"/>
                  </a:lnTo>
                  <a:close/>
                </a:path>
                <a:path w="6892925" h="523875">
                  <a:moveTo>
                    <a:pt x="6892569" y="344881"/>
                  </a:moveTo>
                  <a:lnTo>
                    <a:pt x="6726606" y="344881"/>
                  </a:lnTo>
                  <a:lnTo>
                    <a:pt x="6726606" y="523798"/>
                  </a:lnTo>
                  <a:lnTo>
                    <a:pt x="6892569" y="523798"/>
                  </a:lnTo>
                  <a:lnTo>
                    <a:pt x="6892569" y="344881"/>
                  </a:lnTo>
                  <a:close/>
                </a:path>
              </a:pathLst>
            </a:custGeom>
            <a:solidFill>
              <a:srgbClr val="0D94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548358" y="4157638"/>
              <a:ext cx="6892925" cy="466090"/>
            </a:xfrm>
            <a:custGeom>
              <a:avLst/>
              <a:gdLst/>
              <a:ahLst/>
              <a:cxnLst/>
              <a:rect l="l" t="t" r="r" b="b"/>
              <a:pathLst>
                <a:path w="6892925" h="466089">
                  <a:moveTo>
                    <a:pt x="166319" y="287642"/>
                  </a:moveTo>
                  <a:lnTo>
                    <a:pt x="0" y="287642"/>
                  </a:lnTo>
                  <a:lnTo>
                    <a:pt x="0" y="465480"/>
                  </a:lnTo>
                  <a:lnTo>
                    <a:pt x="166319" y="465480"/>
                  </a:lnTo>
                  <a:lnTo>
                    <a:pt x="166319" y="287642"/>
                  </a:lnTo>
                  <a:close/>
                </a:path>
                <a:path w="6892925" h="466089">
                  <a:moveTo>
                    <a:pt x="913676" y="0"/>
                  </a:moveTo>
                  <a:lnTo>
                    <a:pt x="747356" y="0"/>
                  </a:lnTo>
                  <a:lnTo>
                    <a:pt x="747356" y="465480"/>
                  </a:lnTo>
                  <a:lnTo>
                    <a:pt x="913676" y="465480"/>
                  </a:lnTo>
                  <a:lnTo>
                    <a:pt x="913676" y="0"/>
                  </a:lnTo>
                  <a:close/>
                </a:path>
                <a:path w="6892925" h="466089">
                  <a:moveTo>
                    <a:pt x="1661045" y="310324"/>
                  </a:moveTo>
                  <a:lnTo>
                    <a:pt x="1495082" y="310324"/>
                  </a:lnTo>
                  <a:lnTo>
                    <a:pt x="1495082" y="465480"/>
                  </a:lnTo>
                  <a:lnTo>
                    <a:pt x="1661045" y="465480"/>
                  </a:lnTo>
                  <a:lnTo>
                    <a:pt x="1661045" y="310324"/>
                  </a:lnTo>
                  <a:close/>
                </a:path>
                <a:path w="6892925" h="466089">
                  <a:moveTo>
                    <a:pt x="2408402" y="355688"/>
                  </a:moveTo>
                  <a:lnTo>
                    <a:pt x="2242439" y="355688"/>
                  </a:lnTo>
                  <a:lnTo>
                    <a:pt x="2242439" y="465480"/>
                  </a:lnTo>
                  <a:lnTo>
                    <a:pt x="2408402" y="465480"/>
                  </a:lnTo>
                  <a:lnTo>
                    <a:pt x="2408402" y="355688"/>
                  </a:lnTo>
                  <a:close/>
                </a:path>
                <a:path w="6892925" h="466089">
                  <a:moveTo>
                    <a:pt x="3155404" y="327964"/>
                  </a:moveTo>
                  <a:lnTo>
                    <a:pt x="2989796" y="327964"/>
                  </a:lnTo>
                  <a:lnTo>
                    <a:pt x="2989796" y="465480"/>
                  </a:lnTo>
                  <a:lnTo>
                    <a:pt x="3155404" y="465480"/>
                  </a:lnTo>
                  <a:lnTo>
                    <a:pt x="3155404" y="327964"/>
                  </a:lnTo>
                  <a:close/>
                </a:path>
                <a:path w="6892925" h="466089">
                  <a:moveTo>
                    <a:pt x="3903116" y="320763"/>
                  </a:moveTo>
                  <a:lnTo>
                    <a:pt x="3736797" y="320763"/>
                  </a:lnTo>
                  <a:lnTo>
                    <a:pt x="3736797" y="465480"/>
                  </a:lnTo>
                  <a:lnTo>
                    <a:pt x="3903116" y="465480"/>
                  </a:lnTo>
                  <a:lnTo>
                    <a:pt x="3903116" y="320763"/>
                  </a:lnTo>
                  <a:close/>
                </a:path>
                <a:path w="6892925" h="466089">
                  <a:moveTo>
                    <a:pt x="4650486" y="239039"/>
                  </a:moveTo>
                  <a:lnTo>
                    <a:pt x="4484167" y="239039"/>
                  </a:lnTo>
                  <a:lnTo>
                    <a:pt x="4484167" y="465480"/>
                  </a:lnTo>
                  <a:lnTo>
                    <a:pt x="4650486" y="465480"/>
                  </a:lnTo>
                  <a:lnTo>
                    <a:pt x="4650486" y="239039"/>
                  </a:lnTo>
                  <a:close/>
                </a:path>
                <a:path w="6892925" h="466089">
                  <a:moveTo>
                    <a:pt x="5397843" y="349199"/>
                  </a:moveTo>
                  <a:lnTo>
                    <a:pt x="5231879" y="349199"/>
                  </a:lnTo>
                  <a:lnTo>
                    <a:pt x="5231879" y="465480"/>
                  </a:lnTo>
                  <a:lnTo>
                    <a:pt x="5397843" y="465480"/>
                  </a:lnTo>
                  <a:lnTo>
                    <a:pt x="5397843" y="349199"/>
                  </a:lnTo>
                  <a:close/>
                </a:path>
                <a:path w="6892925" h="466089">
                  <a:moveTo>
                    <a:pt x="6145200" y="275043"/>
                  </a:moveTo>
                  <a:lnTo>
                    <a:pt x="5979236" y="275043"/>
                  </a:lnTo>
                  <a:lnTo>
                    <a:pt x="5979236" y="465480"/>
                  </a:lnTo>
                  <a:lnTo>
                    <a:pt x="6145200" y="465480"/>
                  </a:lnTo>
                  <a:lnTo>
                    <a:pt x="6145200" y="275043"/>
                  </a:lnTo>
                  <a:close/>
                </a:path>
                <a:path w="6892925" h="466089">
                  <a:moveTo>
                    <a:pt x="6892557" y="291960"/>
                  </a:moveTo>
                  <a:lnTo>
                    <a:pt x="6726606" y="291960"/>
                  </a:lnTo>
                  <a:lnTo>
                    <a:pt x="6726606" y="465480"/>
                  </a:lnTo>
                  <a:lnTo>
                    <a:pt x="6892557" y="465480"/>
                  </a:lnTo>
                  <a:lnTo>
                    <a:pt x="6892557" y="291960"/>
                  </a:lnTo>
                  <a:close/>
                </a:path>
              </a:pathLst>
            </a:custGeom>
            <a:solidFill>
              <a:srgbClr val="1D4D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326083" y="4681285"/>
            <a:ext cx="27940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261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73414" y="4681285"/>
            <a:ext cx="27940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448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820733" y="4681285"/>
            <a:ext cx="27940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762</a:t>
            </a:r>
            <a:endParaRPr sz="12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568065" y="4681285"/>
            <a:ext cx="27940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193</a:t>
            </a:r>
            <a:endParaRPr sz="12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15396" y="4681285"/>
            <a:ext cx="27940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656</a:t>
            </a:r>
            <a:endParaRPr sz="12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063083" y="4681285"/>
            <a:ext cx="27940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389</a:t>
            </a:r>
            <a:endParaRPr sz="12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895009" y="4681285"/>
            <a:ext cx="110489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50" dirty="0">
                <a:solidFill>
                  <a:srgbClr val="465469"/>
                </a:solidFill>
                <a:latin typeface="Arial"/>
                <a:cs typeface="Arial"/>
              </a:rPr>
              <a:t>7</a:t>
            </a:r>
            <a:endParaRPr sz="12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557733" y="4681285"/>
            <a:ext cx="27940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542</a:t>
            </a:r>
            <a:endParaRPr sz="12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305065" y="4681285"/>
            <a:ext cx="27940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467</a:t>
            </a:r>
            <a:endParaRPr sz="12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052396" y="4681285"/>
            <a:ext cx="27940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5" dirty="0">
                <a:solidFill>
                  <a:srgbClr val="465469"/>
                </a:solidFill>
                <a:latin typeface="Arial"/>
                <a:cs typeface="Arial"/>
              </a:rPr>
              <a:t>152</a:t>
            </a:r>
            <a:endParaRPr sz="12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65429" y="2930753"/>
            <a:ext cx="449580" cy="178816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R="5715" algn="r">
              <a:lnSpc>
                <a:spcPct val="100000"/>
              </a:lnSpc>
              <a:spcBef>
                <a:spcPts val="640"/>
              </a:spcBef>
            </a:pPr>
            <a:r>
              <a:rPr sz="1200" spc="-10" dirty="0">
                <a:solidFill>
                  <a:srgbClr val="465469"/>
                </a:solidFill>
                <a:latin typeface="Arial"/>
                <a:cs typeface="Arial"/>
              </a:rPr>
              <a:t>60000</a:t>
            </a:r>
            <a:endParaRPr sz="1200">
              <a:latin typeface="Arial"/>
              <a:cs typeface="Arial"/>
            </a:endParaRPr>
          </a:p>
          <a:p>
            <a:pPr marR="5715" algn="r">
              <a:lnSpc>
                <a:spcPct val="100000"/>
              </a:lnSpc>
              <a:spcBef>
                <a:spcPts val="540"/>
              </a:spcBef>
            </a:pPr>
            <a:r>
              <a:rPr sz="1200" spc="-10" dirty="0">
                <a:solidFill>
                  <a:srgbClr val="465469"/>
                </a:solidFill>
                <a:latin typeface="Arial"/>
                <a:cs typeface="Arial"/>
              </a:rPr>
              <a:t>50000</a:t>
            </a:r>
            <a:endParaRPr sz="1200">
              <a:latin typeface="Arial"/>
              <a:cs typeface="Arial"/>
            </a:endParaRPr>
          </a:p>
          <a:p>
            <a:pPr marR="5715" algn="r">
              <a:lnSpc>
                <a:spcPct val="100000"/>
              </a:lnSpc>
              <a:spcBef>
                <a:spcPts val="545"/>
              </a:spcBef>
            </a:pPr>
            <a:r>
              <a:rPr sz="1200" spc="-10" dirty="0">
                <a:solidFill>
                  <a:srgbClr val="465469"/>
                </a:solidFill>
                <a:latin typeface="Arial"/>
                <a:cs typeface="Arial"/>
              </a:rPr>
              <a:t>40000</a:t>
            </a:r>
            <a:endParaRPr sz="1200">
              <a:latin typeface="Arial"/>
              <a:cs typeface="Arial"/>
            </a:endParaRPr>
          </a:p>
          <a:p>
            <a:pPr marR="5715" algn="r">
              <a:lnSpc>
                <a:spcPct val="100000"/>
              </a:lnSpc>
              <a:spcBef>
                <a:spcPts val="545"/>
              </a:spcBef>
            </a:pPr>
            <a:r>
              <a:rPr sz="1200" spc="-10" dirty="0">
                <a:solidFill>
                  <a:srgbClr val="465469"/>
                </a:solidFill>
                <a:latin typeface="Arial"/>
                <a:cs typeface="Arial"/>
              </a:rPr>
              <a:t>30000</a:t>
            </a:r>
            <a:endParaRPr sz="1200">
              <a:latin typeface="Arial"/>
              <a:cs typeface="Arial"/>
            </a:endParaRPr>
          </a:p>
          <a:p>
            <a:pPr marR="5715" algn="r">
              <a:lnSpc>
                <a:spcPct val="100000"/>
              </a:lnSpc>
              <a:spcBef>
                <a:spcPts val="540"/>
              </a:spcBef>
            </a:pPr>
            <a:r>
              <a:rPr sz="1200" spc="-10" dirty="0">
                <a:solidFill>
                  <a:srgbClr val="465469"/>
                </a:solidFill>
                <a:latin typeface="Arial"/>
                <a:cs typeface="Arial"/>
              </a:rPr>
              <a:t>20000</a:t>
            </a:r>
            <a:endParaRPr sz="1200">
              <a:latin typeface="Arial"/>
              <a:cs typeface="Arial"/>
            </a:endParaRPr>
          </a:p>
          <a:p>
            <a:pPr marR="5715" algn="r">
              <a:lnSpc>
                <a:spcPct val="100000"/>
              </a:lnSpc>
              <a:spcBef>
                <a:spcPts val="545"/>
              </a:spcBef>
            </a:pPr>
            <a:r>
              <a:rPr sz="1200" spc="-10" dirty="0">
                <a:solidFill>
                  <a:srgbClr val="465469"/>
                </a:solidFill>
                <a:latin typeface="Arial"/>
                <a:cs typeface="Arial"/>
              </a:rPr>
              <a:t>10000</a:t>
            </a:r>
            <a:endParaRPr sz="12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545"/>
              </a:spcBef>
            </a:pPr>
            <a:r>
              <a:rPr sz="1200" spc="-50" dirty="0">
                <a:solidFill>
                  <a:srgbClr val="465469"/>
                </a:solidFill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051795" y="2851558"/>
            <a:ext cx="784225" cy="76200"/>
            <a:chOff x="4051795" y="2851558"/>
            <a:chExt cx="784225" cy="76200"/>
          </a:xfrm>
        </p:grpSpPr>
        <p:sp>
          <p:nvSpPr>
            <p:cNvPr id="27" name="object 27"/>
            <p:cNvSpPr/>
            <p:nvPr/>
          </p:nvSpPr>
          <p:spPr>
            <a:xfrm>
              <a:off x="4051795" y="285155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5958" y="0"/>
                  </a:moveTo>
                  <a:lnTo>
                    <a:pt x="0" y="0"/>
                  </a:lnTo>
                  <a:lnTo>
                    <a:pt x="0" y="75958"/>
                  </a:lnTo>
                  <a:lnTo>
                    <a:pt x="37807" y="75958"/>
                  </a:lnTo>
                  <a:lnTo>
                    <a:pt x="75958" y="75958"/>
                  </a:lnTo>
                  <a:lnTo>
                    <a:pt x="75958" y="0"/>
                  </a:lnTo>
                  <a:close/>
                </a:path>
              </a:pathLst>
            </a:custGeom>
            <a:solidFill>
              <a:srgbClr val="94A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376521" y="285155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5958" y="0"/>
                  </a:moveTo>
                  <a:lnTo>
                    <a:pt x="0" y="0"/>
                  </a:lnTo>
                  <a:lnTo>
                    <a:pt x="0" y="75958"/>
                  </a:lnTo>
                  <a:lnTo>
                    <a:pt x="37795" y="75958"/>
                  </a:lnTo>
                  <a:lnTo>
                    <a:pt x="75958" y="75958"/>
                  </a:lnTo>
                  <a:lnTo>
                    <a:pt x="75958" y="0"/>
                  </a:lnTo>
                  <a:close/>
                </a:path>
              </a:pathLst>
            </a:custGeom>
            <a:solidFill>
              <a:srgbClr val="0D94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759566" y="285155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5958" y="0"/>
                  </a:moveTo>
                  <a:lnTo>
                    <a:pt x="0" y="0"/>
                  </a:lnTo>
                  <a:lnTo>
                    <a:pt x="0" y="75958"/>
                  </a:lnTo>
                  <a:lnTo>
                    <a:pt x="38150" y="75958"/>
                  </a:lnTo>
                  <a:lnTo>
                    <a:pt x="75958" y="75958"/>
                  </a:lnTo>
                  <a:lnTo>
                    <a:pt x="75958" y="0"/>
                  </a:lnTo>
                  <a:close/>
                </a:path>
              </a:pathLst>
            </a:custGeom>
            <a:solidFill>
              <a:srgbClr val="1D4D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150880" y="2782965"/>
            <a:ext cx="95567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7185" algn="l"/>
                <a:tab pos="720725" algn="l"/>
              </a:tabLst>
            </a:pPr>
            <a:r>
              <a:rPr sz="1000" spc="-25" dirty="0">
                <a:latin typeface="Calibri"/>
                <a:cs typeface="Calibri"/>
              </a:rPr>
              <a:t>SA</a:t>
            </a:r>
            <a:r>
              <a:rPr sz="1000" dirty="0">
                <a:latin typeface="Calibri"/>
                <a:cs typeface="Calibri"/>
              </a:rPr>
              <a:t>	</a:t>
            </a:r>
            <a:r>
              <a:rPr sz="1000" spc="-25" dirty="0">
                <a:latin typeface="Calibri"/>
                <a:cs typeface="Calibri"/>
              </a:rPr>
              <a:t>GLS</a:t>
            </a:r>
            <a:r>
              <a:rPr sz="1000" dirty="0">
                <a:latin typeface="Calibri"/>
                <a:cs typeface="Calibri"/>
              </a:rPr>
              <a:t>	</a:t>
            </a:r>
            <a:r>
              <a:rPr sz="1000" spc="-25" dirty="0">
                <a:latin typeface="Calibri"/>
                <a:cs typeface="Calibri"/>
              </a:rPr>
              <a:t>ACO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1480" y="1005841"/>
            <a:ext cx="1965960" cy="1325880"/>
          </a:xfrm>
          <a:prstGeom prst="rect">
            <a:avLst/>
          </a:prstGeom>
          <a:ln w="25559">
            <a:solidFill>
              <a:srgbClr val="465469"/>
            </a:solidFill>
          </a:ln>
        </p:spPr>
        <p:txBody>
          <a:bodyPr vert="horz" wrap="square" lIns="0" tIns="1612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70"/>
              </a:spcBef>
            </a:pPr>
            <a:r>
              <a:rPr sz="2800" b="1" spc="60" dirty="0">
                <a:solidFill>
                  <a:srgbClr val="465469"/>
                </a:solidFill>
                <a:latin typeface="Meiryo UI"/>
                <a:cs typeface="Meiryo UI"/>
              </a:rPr>
              <a:t>213.9M</a:t>
            </a:r>
            <a:endParaRPr sz="2800">
              <a:latin typeface="Meiryo UI"/>
              <a:cs typeface="Meiryo UI"/>
            </a:endParaRPr>
          </a:p>
          <a:p>
            <a:pPr marL="533400" marR="525780" algn="ctr">
              <a:lnSpc>
                <a:spcPct val="100000"/>
              </a:lnSpc>
              <a:spcBef>
                <a:spcPts val="1739"/>
              </a:spcBef>
            </a:pPr>
            <a:r>
              <a:rPr sz="1050" spc="-10" dirty="0">
                <a:solidFill>
                  <a:srgbClr val="94A3B8"/>
                </a:solidFill>
                <a:latin typeface="Calibri"/>
                <a:cs typeface="Calibri"/>
              </a:rPr>
              <a:t>Default (sequential</a:t>
            </a:r>
            <a:r>
              <a:rPr sz="1050" spc="2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94A3B8"/>
                </a:solidFill>
                <a:latin typeface="Calibri"/>
                <a:cs typeface="Calibri"/>
              </a:rPr>
              <a:t>tour)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560320" y="1005841"/>
            <a:ext cx="1965960" cy="1325880"/>
          </a:xfrm>
          <a:custGeom>
            <a:avLst/>
            <a:gdLst/>
            <a:ahLst/>
            <a:cxnLst/>
            <a:rect l="l" t="t" r="r" b="b"/>
            <a:pathLst>
              <a:path w="1965960" h="1325880">
                <a:moveTo>
                  <a:pt x="1965604" y="0"/>
                </a:moveTo>
                <a:lnTo>
                  <a:pt x="0" y="0"/>
                </a:lnTo>
                <a:lnTo>
                  <a:pt x="0" y="1325524"/>
                </a:lnTo>
                <a:lnTo>
                  <a:pt x="982802" y="1325524"/>
                </a:lnTo>
                <a:lnTo>
                  <a:pt x="1965604" y="1325524"/>
                </a:lnTo>
                <a:lnTo>
                  <a:pt x="1965604" y="0"/>
                </a:lnTo>
                <a:close/>
              </a:path>
            </a:pathLst>
          </a:custGeom>
          <a:solidFill>
            <a:srgbClr val="1D28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560320" y="1005841"/>
            <a:ext cx="1965960" cy="1325880"/>
          </a:xfrm>
          <a:prstGeom prst="rect">
            <a:avLst/>
          </a:prstGeom>
          <a:ln w="25559">
            <a:solidFill>
              <a:srgbClr val="0D9487"/>
            </a:solidFill>
          </a:ln>
        </p:spPr>
        <p:txBody>
          <a:bodyPr vert="horz" wrap="square" lIns="0" tIns="1612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70"/>
              </a:spcBef>
            </a:pPr>
            <a:r>
              <a:rPr sz="2800" b="1" spc="65" dirty="0">
                <a:solidFill>
                  <a:srgbClr val="0D9487"/>
                </a:solidFill>
                <a:latin typeface="Meiryo UI"/>
                <a:cs typeface="Meiryo UI"/>
              </a:rPr>
              <a:t>17.6M</a:t>
            </a:r>
            <a:endParaRPr sz="2800">
              <a:latin typeface="Meiryo UI"/>
              <a:cs typeface="Meiryo UI"/>
            </a:endParaRPr>
          </a:p>
          <a:p>
            <a:pPr marL="527050" marR="520065" algn="ctr">
              <a:lnSpc>
                <a:spcPct val="100000"/>
              </a:lnSpc>
              <a:spcBef>
                <a:spcPts val="1739"/>
              </a:spcBef>
            </a:pPr>
            <a:r>
              <a:rPr sz="1050" dirty="0">
                <a:solidFill>
                  <a:srgbClr val="94A3B8"/>
                </a:solidFill>
                <a:latin typeface="Calibri"/>
                <a:cs typeface="Calibri"/>
              </a:rPr>
              <a:t>GLS</a:t>
            </a:r>
            <a:r>
              <a:rPr sz="1050" spc="-4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94A3B8"/>
                </a:solidFill>
                <a:latin typeface="Calibri"/>
                <a:cs typeface="Calibri"/>
              </a:rPr>
              <a:t>Pipeline (91.8%</a:t>
            </a:r>
            <a:r>
              <a:rPr sz="1050" spc="-2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94A3B8"/>
                </a:solidFill>
                <a:latin typeface="Calibri"/>
                <a:cs typeface="Calibri"/>
              </a:rPr>
              <a:t>better </a:t>
            </a:r>
            <a:r>
              <a:rPr sz="1050" spc="90" dirty="0">
                <a:solidFill>
                  <a:srgbClr val="94A3B8"/>
                </a:solidFill>
                <a:latin typeface="Adobe Clean SemiCondensed"/>
                <a:cs typeface="Adobe Clean SemiCondensed"/>
              </a:rPr>
              <a:t>✓</a:t>
            </a:r>
            <a:r>
              <a:rPr sz="1050" spc="90" dirty="0">
                <a:solidFill>
                  <a:srgbClr val="94A3B8"/>
                </a:solidFill>
                <a:latin typeface="Calibri"/>
                <a:cs typeface="Calibri"/>
              </a:rPr>
              <a:t>)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709159" y="1005841"/>
            <a:ext cx="1965960" cy="1325880"/>
          </a:xfrm>
          <a:custGeom>
            <a:avLst/>
            <a:gdLst/>
            <a:ahLst/>
            <a:cxnLst/>
            <a:rect l="l" t="t" r="r" b="b"/>
            <a:pathLst>
              <a:path w="1965959" h="1325880">
                <a:moveTo>
                  <a:pt x="1965604" y="0"/>
                </a:moveTo>
                <a:lnTo>
                  <a:pt x="0" y="0"/>
                </a:lnTo>
                <a:lnTo>
                  <a:pt x="0" y="1325524"/>
                </a:lnTo>
                <a:lnTo>
                  <a:pt x="982802" y="1325524"/>
                </a:lnTo>
                <a:lnTo>
                  <a:pt x="1965604" y="1325524"/>
                </a:lnTo>
                <a:lnTo>
                  <a:pt x="1965604" y="0"/>
                </a:lnTo>
                <a:close/>
              </a:path>
            </a:pathLst>
          </a:custGeom>
          <a:solidFill>
            <a:srgbClr val="1D28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709159" y="1005841"/>
            <a:ext cx="1965960" cy="1325880"/>
          </a:xfrm>
          <a:prstGeom prst="rect">
            <a:avLst/>
          </a:prstGeom>
          <a:ln w="25559">
            <a:solidFill>
              <a:srgbClr val="1D4DD7"/>
            </a:solidFill>
          </a:ln>
        </p:spPr>
        <p:txBody>
          <a:bodyPr vert="horz" wrap="square" lIns="0" tIns="1612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70"/>
              </a:spcBef>
            </a:pPr>
            <a:r>
              <a:rPr sz="2800" b="1" spc="65" dirty="0">
                <a:solidFill>
                  <a:srgbClr val="1D4DD7"/>
                </a:solidFill>
                <a:latin typeface="Meiryo UI"/>
                <a:cs typeface="Meiryo UI"/>
              </a:rPr>
              <a:t>18.5M</a:t>
            </a:r>
            <a:endParaRPr sz="2800">
              <a:latin typeface="Meiryo UI"/>
              <a:cs typeface="Meiryo UI"/>
            </a:endParaRPr>
          </a:p>
          <a:p>
            <a:pPr marL="597535" marR="590550" algn="ctr">
              <a:lnSpc>
                <a:spcPct val="100000"/>
              </a:lnSpc>
              <a:spcBef>
                <a:spcPts val="1739"/>
              </a:spcBef>
            </a:pPr>
            <a:r>
              <a:rPr sz="1050" dirty="0">
                <a:solidFill>
                  <a:srgbClr val="94A3B8"/>
                </a:solidFill>
                <a:latin typeface="Calibri"/>
                <a:cs typeface="Calibri"/>
              </a:rPr>
              <a:t>ACO</a:t>
            </a:r>
            <a:r>
              <a:rPr sz="1050" spc="-6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94A3B8"/>
                </a:solidFill>
                <a:latin typeface="Calibri"/>
                <a:cs typeface="Calibri"/>
              </a:rPr>
              <a:t>Pipeline (91.4%</a:t>
            </a:r>
            <a:r>
              <a:rPr sz="1050" spc="-1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94A3B8"/>
                </a:solidFill>
                <a:latin typeface="Calibri"/>
                <a:cs typeface="Calibri"/>
              </a:rPr>
              <a:t>better)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858000" y="1005841"/>
            <a:ext cx="1965960" cy="1325880"/>
          </a:xfrm>
          <a:custGeom>
            <a:avLst/>
            <a:gdLst/>
            <a:ahLst/>
            <a:cxnLst/>
            <a:rect l="l" t="t" r="r" b="b"/>
            <a:pathLst>
              <a:path w="1965959" h="1325880">
                <a:moveTo>
                  <a:pt x="1965604" y="0"/>
                </a:moveTo>
                <a:lnTo>
                  <a:pt x="0" y="0"/>
                </a:lnTo>
                <a:lnTo>
                  <a:pt x="0" y="1325524"/>
                </a:lnTo>
                <a:lnTo>
                  <a:pt x="982802" y="1325524"/>
                </a:lnTo>
                <a:lnTo>
                  <a:pt x="1965604" y="1325524"/>
                </a:lnTo>
                <a:lnTo>
                  <a:pt x="1965604" y="0"/>
                </a:lnTo>
                <a:close/>
              </a:path>
            </a:pathLst>
          </a:custGeom>
          <a:solidFill>
            <a:srgbClr val="1D28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858000" y="1005841"/>
            <a:ext cx="1965960" cy="1325880"/>
          </a:xfrm>
          <a:prstGeom prst="rect">
            <a:avLst/>
          </a:prstGeom>
          <a:ln w="25559">
            <a:solidFill>
              <a:srgbClr val="F49D0A"/>
            </a:solidFill>
          </a:ln>
        </p:spPr>
        <p:txBody>
          <a:bodyPr vert="horz" wrap="square" lIns="0" tIns="1612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70"/>
              </a:spcBef>
            </a:pPr>
            <a:r>
              <a:rPr sz="2800" b="1" spc="-20" dirty="0">
                <a:solidFill>
                  <a:srgbClr val="F49D0A"/>
                </a:solidFill>
                <a:latin typeface="Meiryo UI"/>
                <a:cs typeface="Meiryo UI"/>
              </a:rPr>
              <a:t>4.7%</a:t>
            </a:r>
            <a:endParaRPr sz="2800">
              <a:latin typeface="Meiryo UI"/>
              <a:cs typeface="Meiryo UI"/>
            </a:endParaRPr>
          </a:p>
          <a:p>
            <a:pPr marL="482600" marR="475615" algn="ctr">
              <a:lnSpc>
                <a:spcPct val="100000"/>
              </a:lnSpc>
              <a:spcBef>
                <a:spcPts val="1739"/>
              </a:spcBef>
            </a:pPr>
            <a:r>
              <a:rPr sz="1050" dirty="0">
                <a:solidFill>
                  <a:srgbClr val="94A3B8"/>
                </a:solidFill>
                <a:latin typeface="Calibri"/>
                <a:cs typeface="Calibri"/>
              </a:rPr>
              <a:t>GLS</a:t>
            </a:r>
            <a:r>
              <a:rPr sz="1050" spc="-4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94A3B8"/>
                </a:solidFill>
                <a:latin typeface="Calibri"/>
                <a:cs typeface="Calibri"/>
              </a:rPr>
              <a:t>advantage </a:t>
            </a:r>
            <a:r>
              <a:rPr sz="1050" dirty="0">
                <a:solidFill>
                  <a:srgbClr val="94A3B8"/>
                </a:solidFill>
                <a:latin typeface="Calibri"/>
                <a:cs typeface="Calibri"/>
              </a:rPr>
              <a:t>over</a:t>
            </a:r>
            <a:r>
              <a:rPr sz="1050" spc="-4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4A3B8"/>
                </a:solidFill>
                <a:latin typeface="Calibri"/>
                <a:cs typeface="Calibri"/>
              </a:rPr>
              <a:t>ACO</a:t>
            </a:r>
            <a:r>
              <a:rPr sz="1050" spc="-4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4A3B8"/>
                </a:solidFill>
                <a:latin typeface="Calibri"/>
                <a:cs typeface="Calibri"/>
              </a:rPr>
              <a:t>(full</a:t>
            </a:r>
            <a:r>
              <a:rPr sz="1050" spc="-4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050" spc="-20" dirty="0">
                <a:solidFill>
                  <a:srgbClr val="94A3B8"/>
                </a:solidFill>
                <a:latin typeface="Calibri"/>
                <a:cs typeface="Calibri"/>
              </a:rPr>
              <a:t>run)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11480" y="2487246"/>
            <a:ext cx="8321040" cy="2423160"/>
            <a:chOff x="411480" y="2487246"/>
            <a:chExt cx="8321040" cy="2423160"/>
          </a:xfrm>
        </p:grpSpPr>
        <p:sp>
          <p:nvSpPr>
            <p:cNvPr id="10" name="object 10"/>
            <p:cNvSpPr/>
            <p:nvPr/>
          </p:nvSpPr>
          <p:spPr>
            <a:xfrm>
              <a:off x="411480" y="2487246"/>
              <a:ext cx="8321040" cy="2423160"/>
            </a:xfrm>
            <a:custGeom>
              <a:avLst/>
              <a:gdLst/>
              <a:ahLst/>
              <a:cxnLst/>
              <a:rect l="l" t="t" r="r" b="b"/>
              <a:pathLst>
                <a:path w="8321040" h="2423160">
                  <a:moveTo>
                    <a:pt x="8320684" y="0"/>
                  </a:moveTo>
                  <a:lnTo>
                    <a:pt x="0" y="0"/>
                  </a:lnTo>
                  <a:lnTo>
                    <a:pt x="0" y="2422791"/>
                  </a:lnTo>
                  <a:lnTo>
                    <a:pt x="4160520" y="2422791"/>
                  </a:lnTo>
                  <a:lnTo>
                    <a:pt x="8320684" y="2422791"/>
                  </a:lnTo>
                  <a:lnTo>
                    <a:pt x="8320684" y="0"/>
                  </a:lnTo>
                  <a:close/>
                </a:path>
              </a:pathLst>
            </a:custGeom>
            <a:solidFill>
              <a:srgbClr val="1D28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22324" y="4609441"/>
              <a:ext cx="7644130" cy="0"/>
            </a:xfrm>
            <a:custGeom>
              <a:avLst/>
              <a:gdLst/>
              <a:ahLst/>
              <a:cxnLst/>
              <a:rect l="l" t="t" r="r" b="b"/>
              <a:pathLst>
                <a:path w="7644130">
                  <a:moveTo>
                    <a:pt x="7643520" y="0"/>
                  </a:moveTo>
                  <a:lnTo>
                    <a:pt x="0" y="0"/>
                  </a:lnTo>
                </a:path>
              </a:pathLst>
            </a:custGeom>
            <a:ln w="6479">
              <a:solidFill>
                <a:srgbClr val="3341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22324" y="3812046"/>
              <a:ext cx="7644130" cy="398780"/>
            </a:xfrm>
            <a:custGeom>
              <a:avLst/>
              <a:gdLst/>
              <a:ahLst/>
              <a:cxnLst/>
              <a:rect l="l" t="t" r="r" b="b"/>
              <a:pathLst>
                <a:path w="7644130" h="398779">
                  <a:moveTo>
                    <a:pt x="0" y="398513"/>
                  </a:moveTo>
                  <a:lnTo>
                    <a:pt x="764273" y="398513"/>
                  </a:lnTo>
                </a:path>
                <a:path w="7644130" h="398779">
                  <a:moveTo>
                    <a:pt x="1783435" y="398513"/>
                  </a:moveTo>
                  <a:lnTo>
                    <a:pt x="7643520" y="398513"/>
                  </a:lnTo>
                </a:path>
                <a:path w="7644130" h="398779">
                  <a:moveTo>
                    <a:pt x="0" y="0"/>
                  </a:moveTo>
                  <a:lnTo>
                    <a:pt x="764273" y="0"/>
                  </a:lnTo>
                </a:path>
                <a:path w="7644130" h="398779">
                  <a:moveTo>
                    <a:pt x="1783435" y="0"/>
                  </a:moveTo>
                  <a:lnTo>
                    <a:pt x="7643520" y="0"/>
                  </a:lnTo>
                </a:path>
              </a:pathLst>
            </a:custGeom>
            <a:ln w="6479">
              <a:solidFill>
                <a:srgbClr val="3341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22324" y="3015007"/>
              <a:ext cx="7644130" cy="398780"/>
            </a:xfrm>
            <a:custGeom>
              <a:avLst/>
              <a:gdLst/>
              <a:ahLst/>
              <a:cxnLst/>
              <a:rect l="l" t="t" r="r" b="b"/>
              <a:pathLst>
                <a:path w="7644130" h="398779">
                  <a:moveTo>
                    <a:pt x="0" y="398513"/>
                  </a:moveTo>
                  <a:lnTo>
                    <a:pt x="764273" y="398513"/>
                  </a:lnTo>
                </a:path>
                <a:path w="7644130" h="398779">
                  <a:moveTo>
                    <a:pt x="1783435" y="398513"/>
                  </a:moveTo>
                  <a:lnTo>
                    <a:pt x="7643520" y="398513"/>
                  </a:lnTo>
                </a:path>
                <a:path w="7644130" h="398779">
                  <a:moveTo>
                    <a:pt x="0" y="0"/>
                  </a:moveTo>
                  <a:lnTo>
                    <a:pt x="764273" y="0"/>
                  </a:lnTo>
                </a:path>
                <a:path w="7644130" h="398779">
                  <a:moveTo>
                    <a:pt x="1783435" y="0"/>
                  </a:moveTo>
                  <a:lnTo>
                    <a:pt x="7643520" y="0"/>
                  </a:lnTo>
                </a:path>
              </a:pathLst>
            </a:custGeom>
            <a:ln w="6479">
              <a:solidFill>
                <a:srgbClr val="3341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22324" y="2616481"/>
              <a:ext cx="7644130" cy="0"/>
            </a:xfrm>
            <a:custGeom>
              <a:avLst/>
              <a:gdLst/>
              <a:ahLst/>
              <a:cxnLst/>
              <a:rect l="l" t="t" r="r" b="b"/>
              <a:pathLst>
                <a:path w="7644130">
                  <a:moveTo>
                    <a:pt x="7643520" y="0"/>
                  </a:moveTo>
                  <a:lnTo>
                    <a:pt x="0" y="0"/>
                  </a:lnTo>
                </a:path>
              </a:pathLst>
            </a:custGeom>
            <a:ln w="6479">
              <a:solidFill>
                <a:srgbClr val="3341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68324" y="2616481"/>
              <a:ext cx="7698105" cy="2047239"/>
            </a:xfrm>
            <a:custGeom>
              <a:avLst/>
              <a:gdLst/>
              <a:ahLst/>
              <a:cxnLst/>
              <a:rect l="l" t="t" r="r" b="b"/>
              <a:pathLst>
                <a:path w="7698105" h="2047239">
                  <a:moveTo>
                    <a:pt x="54000" y="2046960"/>
                  </a:moveTo>
                  <a:lnTo>
                    <a:pt x="54000" y="1992960"/>
                  </a:lnTo>
                </a:path>
                <a:path w="7698105" h="2047239">
                  <a:moveTo>
                    <a:pt x="2601709" y="2046960"/>
                  </a:moveTo>
                  <a:lnTo>
                    <a:pt x="2601709" y="1992960"/>
                  </a:lnTo>
                </a:path>
                <a:path w="7698105" h="2047239">
                  <a:moveTo>
                    <a:pt x="5149430" y="2046960"/>
                  </a:moveTo>
                  <a:lnTo>
                    <a:pt x="5149430" y="1992960"/>
                  </a:lnTo>
                </a:path>
                <a:path w="7698105" h="2047239">
                  <a:moveTo>
                    <a:pt x="7697520" y="2046960"/>
                  </a:moveTo>
                  <a:lnTo>
                    <a:pt x="7697520" y="1992960"/>
                  </a:lnTo>
                </a:path>
                <a:path w="7698105" h="2047239">
                  <a:moveTo>
                    <a:pt x="54000" y="1992960"/>
                  </a:moveTo>
                  <a:lnTo>
                    <a:pt x="7697520" y="1992960"/>
                  </a:lnTo>
                </a:path>
                <a:path w="7698105" h="2047239">
                  <a:moveTo>
                    <a:pt x="0" y="1992960"/>
                  </a:moveTo>
                  <a:lnTo>
                    <a:pt x="54000" y="1992960"/>
                  </a:lnTo>
                </a:path>
                <a:path w="7698105" h="2047239">
                  <a:moveTo>
                    <a:pt x="0" y="1594078"/>
                  </a:moveTo>
                  <a:lnTo>
                    <a:pt x="54000" y="1594078"/>
                  </a:lnTo>
                </a:path>
                <a:path w="7698105" h="2047239">
                  <a:moveTo>
                    <a:pt x="0" y="1195565"/>
                  </a:moveTo>
                  <a:lnTo>
                    <a:pt x="54000" y="1195565"/>
                  </a:lnTo>
                </a:path>
                <a:path w="7698105" h="2047239">
                  <a:moveTo>
                    <a:pt x="0" y="797039"/>
                  </a:moveTo>
                  <a:lnTo>
                    <a:pt x="54000" y="797039"/>
                  </a:lnTo>
                </a:path>
                <a:path w="7698105" h="2047239">
                  <a:moveTo>
                    <a:pt x="0" y="398525"/>
                  </a:moveTo>
                  <a:lnTo>
                    <a:pt x="54000" y="398525"/>
                  </a:lnTo>
                </a:path>
                <a:path w="7698105" h="2047239">
                  <a:moveTo>
                    <a:pt x="0" y="0"/>
                  </a:moveTo>
                  <a:lnTo>
                    <a:pt x="54000" y="0"/>
                  </a:lnTo>
                </a:path>
                <a:path w="7698105" h="2047239">
                  <a:moveTo>
                    <a:pt x="54000" y="1992960"/>
                  </a:moveTo>
                  <a:lnTo>
                    <a:pt x="54000" y="0"/>
                  </a:lnTo>
                </a:path>
              </a:pathLst>
            </a:custGeom>
            <a:ln w="12599">
              <a:solidFill>
                <a:srgbClr val="8787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686598" y="2904123"/>
              <a:ext cx="1019175" cy="1705610"/>
            </a:xfrm>
            <a:custGeom>
              <a:avLst/>
              <a:gdLst/>
              <a:ahLst/>
              <a:cxnLst/>
              <a:rect l="l" t="t" r="r" b="b"/>
              <a:pathLst>
                <a:path w="1019175" h="1705610">
                  <a:moveTo>
                    <a:pt x="1019162" y="0"/>
                  </a:moveTo>
                  <a:lnTo>
                    <a:pt x="0" y="0"/>
                  </a:lnTo>
                  <a:lnTo>
                    <a:pt x="0" y="1705317"/>
                  </a:lnTo>
                  <a:lnTo>
                    <a:pt x="1019162" y="1705317"/>
                  </a:lnTo>
                  <a:lnTo>
                    <a:pt x="1019162" y="0"/>
                  </a:lnTo>
                  <a:close/>
                </a:path>
              </a:pathLst>
            </a:custGeom>
            <a:solidFill>
              <a:srgbClr val="94A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34319" y="4461842"/>
              <a:ext cx="1019175" cy="147955"/>
            </a:xfrm>
            <a:custGeom>
              <a:avLst/>
              <a:gdLst/>
              <a:ahLst/>
              <a:cxnLst/>
              <a:rect l="l" t="t" r="r" b="b"/>
              <a:pathLst>
                <a:path w="1019175" h="147954">
                  <a:moveTo>
                    <a:pt x="1019162" y="0"/>
                  </a:moveTo>
                  <a:lnTo>
                    <a:pt x="0" y="0"/>
                  </a:lnTo>
                  <a:lnTo>
                    <a:pt x="0" y="147599"/>
                  </a:lnTo>
                  <a:lnTo>
                    <a:pt x="1019162" y="147599"/>
                  </a:lnTo>
                  <a:lnTo>
                    <a:pt x="1019162" y="0"/>
                  </a:lnTo>
                  <a:close/>
                </a:path>
              </a:pathLst>
            </a:custGeom>
            <a:solidFill>
              <a:srgbClr val="1D4D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782041" y="4469043"/>
              <a:ext cx="1019175" cy="140970"/>
            </a:xfrm>
            <a:custGeom>
              <a:avLst/>
              <a:gdLst/>
              <a:ahLst/>
              <a:cxnLst/>
              <a:rect l="l" t="t" r="r" b="b"/>
              <a:pathLst>
                <a:path w="1019175" h="140970">
                  <a:moveTo>
                    <a:pt x="1019162" y="0"/>
                  </a:moveTo>
                  <a:lnTo>
                    <a:pt x="0" y="0"/>
                  </a:lnTo>
                  <a:lnTo>
                    <a:pt x="0" y="140398"/>
                  </a:lnTo>
                  <a:lnTo>
                    <a:pt x="1019162" y="140398"/>
                  </a:lnTo>
                  <a:lnTo>
                    <a:pt x="1019162" y="0"/>
                  </a:lnTo>
                  <a:close/>
                </a:path>
              </a:pathLst>
            </a:custGeom>
            <a:solidFill>
              <a:srgbClr val="0D94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34987" y="4497072"/>
            <a:ext cx="110489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50" dirty="0">
                <a:solidFill>
                  <a:srgbClr val="94A3B8"/>
                </a:solidFill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50036" y="4098253"/>
            <a:ext cx="194945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5" dirty="0">
                <a:solidFill>
                  <a:srgbClr val="94A3B8"/>
                </a:solidFill>
                <a:latin typeface="Arial"/>
                <a:cs typeface="Arial"/>
              </a:rPr>
              <a:t>50</a:t>
            </a:r>
            <a:endParaRPr sz="12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65429" y="2902510"/>
            <a:ext cx="279400" cy="1005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5" dirty="0">
                <a:solidFill>
                  <a:srgbClr val="94A3B8"/>
                </a:solidFill>
                <a:latin typeface="Arial"/>
                <a:cs typeface="Arial"/>
              </a:rPr>
              <a:t>200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200" spc="-25" dirty="0">
                <a:solidFill>
                  <a:srgbClr val="94A3B8"/>
                </a:solidFill>
                <a:latin typeface="Arial"/>
                <a:cs typeface="Arial"/>
              </a:rPr>
              <a:t>150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200" spc="-25" dirty="0">
                <a:solidFill>
                  <a:srgbClr val="94A3B8"/>
                </a:solidFill>
                <a:latin typeface="Arial"/>
                <a:cs typeface="Arial"/>
              </a:rPr>
              <a:t>100</a:t>
            </a:r>
            <a:endParaRPr sz="12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65429" y="2504048"/>
            <a:ext cx="27940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5" dirty="0">
                <a:solidFill>
                  <a:srgbClr val="94A3B8"/>
                </a:solidFill>
                <a:latin typeface="Arial"/>
                <a:cs typeface="Arial"/>
              </a:rPr>
              <a:t>250</a:t>
            </a:r>
            <a:endParaRPr sz="12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048573" y="2652346"/>
            <a:ext cx="29781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25" dirty="0">
                <a:solidFill>
                  <a:srgbClr val="FFFFFF"/>
                </a:solidFill>
                <a:latin typeface="Arial"/>
                <a:cs typeface="Arial"/>
              </a:rPr>
              <a:t>214</a:t>
            </a:r>
            <a:endParaRPr sz="13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641545" y="4210191"/>
            <a:ext cx="20764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25" dirty="0">
                <a:solidFill>
                  <a:srgbClr val="FFFFFF"/>
                </a:solidFill>
                <a:latin typeface="Arial"/>
                <a:cs typeface="Arial"/>
              </a:rPr>
              <a:t>19</a:t>
            </a:r>
            <a:endParaRPr sz="13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189508" y="4217392"/>
            <a:ext cx="20764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25" dirty="0">
                <a:solidFill>
                  <a:srgbClr val="FFFFFF"/>
                </a:solidFill>
                <a:latin typeface="Arial"/>
                <a:cs typeface="Arial"/>
              </a:rPr>
              <a:t>18</a:t>
            </a:r>
            <a:endParaRPr sz="13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522628" y="4595238"/>
            <a:ext cx="6225540" cy="483234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  <a:tabLst>
                <a:tab pos="2763520" algn="l"/>
                <a:tab pos="5324475" algn="l"/>
              </a:tabLst>
            </a:pPr>
            <a:r>
              <a:rPr sz="1200" dirty="0">
                <a:solidFill>
                  <a:srgbClr val="94A3B8"/>
                </a:solidFill>
                <a:latin typeface="Arial"/>
                <a:cs typeface="Arial"/>
              </a:rPr>
              <a:t>Default</a:t>
            </a:r>
            <a:r>
              <a:rPr sz="1200" spc="-55" dirty="0">
                <a:solidFill>
                  <a:srgbClr val="94A3B8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94A3B8"/>
                </a:solidFill>
                <a:latin typeface="Arial"/>
                <a:cs typeface="Arial"/>
              </a:rPr>
              <a:t>(sequential)</a:t>
            </a:r>
            <a:r>
              <a:rPr sz="1200" dirty="0">
                <a:solidFill>
                  <a:srgbClr val="94A3B8"/>
                </a:solidFill>
                <a:latin typeface="Arial"/>
                <a:cs typeface="Arial"/>
              </a:rPr>
              <a:t>	ACO</a:t>
            </a:r>
            <a:r>
              <a:rPr sz="1200" spc="-45" dirty="0">
                <a:solidFill>
                  <a:srgbClr val="94A3B8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94A3B8"/>
                </a:solidFill>
                <a:latin typeface="Arial"/>
                <a:cs typeface="Arial"/>
              </a:rPr>
              <a:t>Pipeline</a:t>
            </a:r>
            <a:r>
              <a:rPr sz="1200" dirty="0">
                <a:solidFill>
                  <a:srgbClr val="94A3B8"/>
                </a:solidFill>
                <a:latin typeface="Arial"/>
                <a:cs typeface="Arial"/>
              </a:rPr>
              <a:t>	GLS</a:t>
            </a:r>
            <a:r>
              <a:rPr sz="1200" spc="-40" dirty="0">
                <a:solidFill>
                  <a:srgbClr val="94A3B8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94A3B8"/>
                </a:solidFill>
                <a:latin typeface="Arial"/>
                <a:cs typeface="Arial"/>
              </a:rPr>
              <a:t>Pipeline</a:t>
            </a:r>
            <a:endParaRPr sz="1200">
              <a:latin typeface="Arial"/>
              <a:cs typeface="Arial"/>
            </a:endParaRPr>
          </a:p>
          <a:p>
            <a:pPr marL="288290">
              <a:lnSpc>
                <a:spcPct val="100000"/>
              </a:lnSpc>
              <a:spcBef>
                <a:spcPts val="450"/>
              </a:spcBef>
            </a:pPr>
            <a:r>
              <a:rPr sz="950" i="1" dirty="0">
                <a:solidFill>
                  <a:srgbClr val="94A3B8"/>
                </a:solidFill>
                <a:latin typeface="Calibri"/>
                <a:cs typeface="Calibri"/>
              </a:rPr>
              <a:t>Pipeline:</a:t>
            </a:r>
            <a:r>
              <a:rPr sz="950" i="1" spc="-2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950" i="1" spc="-30" dirty="0">
                <a:solidFill>
                  <a:srgbClr val="94A3B8"/>
                </a:solidFill>
                <a:latin typeface="Calibri"/>
                <a:cs typeface="Calibri"/>
              </a:rPr>
              <a:t>k-</a:t>
            </a:r>
            <a:r>
              <a:rPr sz="950" i="1" dirty="0">
                <a:solidFill>
                  <a:srgbClr val="94A3B8"/>
                </a:solidFill>
                <a:latin typeface="Calibri"/>
                <a:cs typeface="Calibri"/>
              </a:rPr>
              <a:t>means</a:t>
            </a:r>
            <a:r>
              <a:rPr sz="950" i="1" spc="-2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94A3B8"/>
                </a:solidFill>
                <a:latin typeface="Calibri"/>
                <a:cs typeface="Calibri"/>
              </a:rPr>
              <a:t>(7s)</a:t>
            </a:r>
            <a:r>
              <a:rPr sz="950" i="1" spc="17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94A3B8"/>
                </a:solidFill>
                <a:latin typeface="Calibri"/>
                <a:cs typeface="Calibri"/>
              </a:rPr>
              <a:t>+</a:t>
            </a:r>
            <a:r>
              <a:rPr sz="950" i="1" spc="17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950" i="1" spc="-10" dirty="0">
                <a:solidFill>
                  <a:srgbClr val="94A3B8"/>
                </a:solidFill>
                <a:latin typeface="Calibri"/>
                <a:cs typeface="Calibri"/>
              </a:rPr>
              <a:t>per-cluster</a:t>
            </a:r>
            <a:r>
              <a:rPr sz="950" i="1" spc="-1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950" i="1" spc="-10" dirty="0">
                <a:solidFill>
                  <a:srgbClr val="94A3B8"/>
                </a:solidFill>
                <a:latin typeface="Calibri"/>
                <a:cs typeface="Calibri"/>
              </a:rPr>
              <a:t>GLS/ACO</a:t>
            </a:r>
            <a:r>
              <a:rPr sz="950" i="1" spc="-2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94A3B8"/>
                </a:solidFill>
                <a:latin typeface="Calibri"/>
                <a:cs typeface="Calibri"/>
              </a:rPr>
              <a:t>(19s,</a:t>
            </a:r>
            <a:r>
              <a:rPr sz="950" i="1" spc="-2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94A3B8"/>
                </a:solidFill>
                <a:latin typeface="Calibri"/>
                <a:cs typeface="Calibri"/>
              </a:rPr>
              <a:t>4</a:t>
            </a:r>
            <a:r>
              <a:rPr sz="950" i="1" spc="-2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94A3B8"/>
                </a:solidFill>
                <a:latin typeface="Calibri"/>
                <a:cs typeface="Calibri"/>
              </a:rPr>
              <a:t>workers)</a:t>
            </a:r>
            <a:r>
              <a:rPr sz="950" i="1" spc="17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94A3B8"/>
                </a:solidFill>
                <a:latin typeface="Calibri"/>
                <a:cs typeface="Calibri"/>
              </a:rPr>
              <a:t>+</a:t>
            </a:r>
            <a:r>
              <a:rPr sz="950" i="1" spc="17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94A3B8"/>
                </a:solidFill>
                <a:latin typeface="Calibri"/>
                <a:cs typeface="Calibri"/>
              </a:rPr>
              <a:t>SA</a:t>
            </a:r>
            <a:r>
              <a:rPr sz="950" i="1" spc="-2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94A3B8"/>
                </a:solidFill>
                <a:latin typeface="Calibri"/>
                <a:cs typeface="Calibri"/>
              </a:rPr>
              <a:t>on</a:t>
            </a:r>
            <a:r>
              <a:rPr sz="950" i="1" spc="-2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950" i="1" spc="-10" dirty="0">
                <a:solidFill>
                  <a:srgbClr val="94A3B8"/>
                </a:solidFill>
                <a:latin typeface="Calibri"/>
                <a:cs typeface="Calibri"/>
              </a:rPr>
              <a:t>centroids</a:t>
            </a:r>
            <a:r>
              <a:rPr sz="950" i="1" spc="-2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94A3B8"/>
                </a:solidFill>
                <a:latin typeface="Calibri"/>
                <a:cs typeface="Calibri"/>
              </a:rPr>
              <a:t>(2s)</a:t>
            </a:r>
            <a:r>
              <a:rPr sz="950" i="1" spc="17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94A3B8"/>
                </a:solidFill>
                <a:latin typeface="Calibri"/>
                <a:cs typeface="Calibri"/>
              </a:rPr>
              <a:t>+</a:t>
            </a:r>
            <a:r>
              <a:rPr sz="950" i="1" spc="17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94A3B8"/>
                </a:solidFill>
                <a:latin typeface="Calibri"/>
                <a:cs typeface="Calibri"/>
              </a:rPr>
              <a:t>greedy</a:t>
            </a:r>
            <a:r>
              <a:rPr sz="950" i="1" spc="-1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94A3B8"/>
                </a:solidFill>
                <a:latin typeface="Calibri"/>
                <a:cs typeface="Calibri"/>
              </a:rPr>
              <a:t>stitch</a:t>
            </a:r>
            <a:r>
              <a:rPr sz="950" i="1" spc="17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94A3B8"/>
                </a:solidFill>
                <a:latin typeface="Calibri"/>
                <a:cs typeface="Calibri"/>
              </a:rPr>
              <a:t>≈</a:t>
            </a:r>
            <a:r>
              <a:rPr sz="950" i="1" spc="17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94A3B8"/>
                </a:solidFill>
                <a:latin typeface="Calibri"/>
                <a:cs typeface="Calibri"/>
              </a:rPr>
              <a:t>30s</a:t>
            </a:r>
            <a:r>
              <a:rPr sz="950" i="1" spc="-2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950" i="1" spc="-10" dirty="0">
                <a:solidFill>
                  <a:srgbClr val="94A3B8"/>
                </a:solidFill>
                <a:latin typeface="Calibri"/>
                <a:cs typeface="Calibri"/>
              </a:rPr>
              <a:t>total</a:t>
            </a:r>
            <a:endParaRPr sz="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5" dirty="0"/>
              <a:t>Key</a:t>
            </a:r>
            <a:r>
              <a:rPr spc="45" dirty="0"/>
              <a:t> </a:t>
            </a:r>
            <a:r>
              <a:rPr spc="-10" dirty="0"/>
              <a:t>Insights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17157" y="902146"/>
            <a:ext cx="4267200" cy="1870710"/>
            <a:chOff x="317157" y="902146"/>
            <a:chExt cx="4267200" cy="18707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7157" y="902146"/>
              <a:ext cx="4266717" cy="187057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11124" y="960122"/>
              <a:ext cx="4114800" cy="1718945"/>
            </a:xfrm>
            <a:custGeom>
              <a:avLst/>
              <a:gdLst/>
              <a:ahLst/>
              <a:cxnLst/>
              <a:rect l="l" t="t" r="r" b="b"/>
              <a:pathLst>
                <a:path w="4114800" h="1718945">
                  <a:moveTo>
                    <a:pt x="4114431" y="0"/>
                  </a:moveTo>
                  <a:lnTo>
                    <a:pt x="0" y="0"/>
                  </a:lnTo>
                  <a:lnTo>
                    <a:pt x="0" y="1718640"/>
                  </a:lnTo>
                  <a:lnTo>
                    <a:pt x="2057400" y="1718640"/>
                  </a:lnTo>
                  <a:lnTo>
                    <a:pt x="4114431" y="1718640"/>
                  </a:lnTo>
                  <a:lnTo>
                    <a:pt x="41144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9280" y="1087922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5" h="329565">
                  <a:moveTo>
                    <a:pt x="164515" y="0"/>
                  </a:moveTo>
                  <a:lnTo>
                    <a:pt x="121950" y="5578"/>
                  </a:lnTo>
                  <a:lnTo>
                    <a:pt x="82080" y="21958"/>
                  </a:lnTo>
                  <a:lnTo>
                    <a:pt x="48104" y="48104"/>
                  </a:lnTo>
                  <a:lnTo>
                    <a:pt x="21958" y="82080"/>
                  </a:lnTo>
                  <a:lnTo>
                    <a:pt x="5578" y="121950"/>
                  </a:lnTo>
                  <a:lnTo>
                    <a:pt x="0" y="164515"/>
                  </a:lnTo>
                  <a:lnTo>
                    <a:pt x="1405" y="185999"/>
                  </a:lnTo>
                  <a:lnTo>
                    <a:pt x="12451" y="227341"/>
                  </a:lnTo>
                  <a:lnTo>
                    <a:pt x="33934" y="264657"/>
                  </a:lnTo>
                  <a:lnTo>
                    <a:pt x="64231" y="295103"/>
                  </a:lnTo>
                  <a:lnTo>
                    <a:pt x="101541" y="316587"/>
                  </a:lnTo>
                  <a:lnTo>
                    <a:pt x="143032" y="327636"/>
                  </a:lnTo>
                  <a:lnTo>
                    <a:pt x="164515" y="329044"/>
                  </a:lnTo>
                  <a:lnTo>
                    <a:pt x="186004" y="327636"/>
                  </a:lnTo>
                  <a:lnTo>
                    <a:pt x="227496" y="316587"/>
                  </a:lnTo>
                  <a:lnTo>
                    <a:pt x="264812" y="295103"/>
                  </a:lnTo>
                  <a:lnTo>
                    <a:pt x="295109" y="264657"/>
                  </a:lnTo>
                  <a:lnTo>
                    <a:pt x="316587" y="227341"/>
                  </a:lnTo>
                  <a:lnTo>
                    <a:pt x="327636" y="185999"/>
                  </a:lnTo>
                  <a:lnTo>
                    <a:pt x="329044" y="164515"/>
                  </a:lnTo>
                  <a:lnTo>
                    <a:pt x="327636" y="143032"/>
                  </a:lnTo>
                  <a:lnTo>
                    <a:pt x="316587" y="101541"/>
                  </a:lnTo>
                  <a:lnTo>
                    <a:pt x="295103" y="64231"/>
                  </a:lnTo>
                  <a:lnTo>
                    <a:pt x="264657" y="33934"/>
                  </a:lnTo>
                  <a:lnTo>
                    <a:pt x="227341" y="12451"/>
                  </a:lnTo>
                  <a:lnTo>
                    <a:pt x="185999" y="1405"/>
                  </a:lnTo>
                  <a:lnTo>
                    <a:pt x="164515" y="0"/>
                  </a:lnTo>
                  <a:close/>
                </a:path>
              </a:pathLst>
            </a:custGeom>
            <a:solidFill>
              <a:srgbClr val="0D94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39280" y="1087922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5" h="329565">
                  <a:moveTo>
                    <a:pt x="0" y="164515"/>
                  </a:moveTo>
                  <a:lnTo>
                    <a:pt x="1405" y="143032"/>
                  </a:lnTo>
                  <a:lnTo>
                    <a:pt x="5578" y="121950"/>
                  </a:lnTo>
                  <a:lnTo>
                    <a:pt x="21958" y="82080"/>
                  </a:lnTo>
                  <a:lnTo>
                    <a:pt x="48104" y="48104"/>
                  </a:lnTo>
                  <a:lnTo>
                    <a:pt x="82080" y="21958"/>
                  </a:lnTo>
                  <a:lnTo>
                    <a:pt x="121950" y="5578"/>
                  </a:lnTo>
                  <a:lnTo>
                    <a:pt x="164515" y="0"/>
                  </a:lnTo>
                  <a:lnTo>
                    <a:pt x="207041" y="5578"/>
                  </a:lnTo>
                  <a:lnTo>
                    <a:pt x="246595" y="21958"/>
                  </a:lnTo>
                  <a:lnTo>
                    <a:pt x="280893" y="48104"/>
                  </a:lnTo>
                  <a:lnTo>
                    <a:pt x="307086" y="82080"/>
                  </a:lnTo>
                  <a:lnTo>
                    <a:pt x="323461" y="121950"/>
                  </a:lnTo>
                  <a:lnTo>
                    <a:pt x="329044" y="164515"/>
                  </a:lnTo>
                  <a:lnTo>
                    <a:pt x="327636" y="185999"/>
                  </a:lnTo>
                  <a:lnTo>
                    <a:pt x="323461" y="207041"/>
                  </a:lnTo>
                  <a:lnTo>
                    <a:pt x="307086" y="246595"/>
                  </a:lnTo>
                  <a:lnTo>
                    <a:pt x="280939" y="280893"/>
                  </a:lnTo>
                  <a:lnTo>
                    <a:pt x="246964" y="307086"/>
                  </a:lnTo>
                  <a:lnTo>
                    <a:pt x="207087" y="323461"/>
                  </a:lnTo>
                  <a:lnTo>
                    <a:pt x="164515" y="329044"/>
                  </a:lnTo>
                  <a:lnTo>
                    <a:pt x="121950" y="323461"/>
                  </a:lnTo>
                  <a:lnTo>
                    <a:pt x="82080" y="307086"/>
                  </a:lnTo>
                  <a:lnTo>
                    <a:pt x="48104" y="280893"/>
                  </a:lnTo>
                  <a:lnTo>
                    <a:pt x="21958" y="246595"/>
                  </a:lnTo>
                  <a:lnTo>
                    <a:pt x="5578" y="207041"/>
                  </a:lnTo>
                  <a:lnTo>
                    <a:pt x="1405" y="185999"/>
                  </a:lnTo>
                  <a:lnTo>
                    <a:pt x="0" y="164515"/>
                  </a:lnTo>
                  <a:close/>
                </a:path>
              </a:pathLst>
            </a:custGeom>
            <a:ln w="12599">
              <a:solidFill>
                <a:srgbClr val="0D94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11124" y="960122"/>
            <a:ext cx="4114800" cy="1718945"/>
          </a:xfrm>
          <a:prstGeom prst="rect">
            <a:avLst/>
          </a:prstGeom>
          <a:ln w="25559">
            <a:solidFill>
              <a:srgbClr val="0D9487"/>
            </a:solidFill>
          </a:ln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endParaRPr sz="1250">
              <a:latin typeface="Times New Roman"/>
              <a:cs typeface="Times New Roman"/>
            </a:endParaRPr>
          </a:p>
          <a:p>
            <a:pPr marL="239395">
              <a:lnSpc>
                <a:spcPct val="100000"/>
              </a:lnSpc>
              <a:tabLst>
                <a:tab pos="548005" algn="l"/>
              </a:tabLst>
            </a:pPr>
            <a:r>
              <a:rPr sz="1200" b="1" spc="-50" dirty="0">
                <a:solidFill>
                  <a:srgbClr val="FFFFFF"/>
                </a:solidFill>
                <a:latin typeface="Meiryo UI"/>
                <a:cs typeface="Meiryo UI"/>
              </a:rPr>
              <a:t>1</a:t>
            </a:r>
            <a:r>
              <a:rPr sz="1200" b="1" dirty="0">
                <a:solidFill>
                  <a:srgbClr val="FFFFFF"/>
                </a:solidFill>
                <a:latin typeface="Meiryo UI"/>
                <a:cs typeface="Meiryo UI"/>
              </a:rPr>
              <a:t>	</a:t>
            </a:r>
            <a:r>
              <a:rPr sz="1250" b="1" dirty="0">
                <a:solidFill>
                  <a:srgbClr val="0D9487"/>
                </a:solidFill>
                <a:latin typeface="Meiryo UI"/>
                <a:cs typeface="Meiryo UI"/>
              </a:rPr>
              <a:t>Clustering</a:t>
            </a:r>
            <a:r>
              <a:rPr sz="1250" b="1" spc="210" dirty="0">
                <a:solidFill>
                  <a:srgbClr val="0D9487"/>
                </a:solidFill>
                <a:latin typeface="Meiryo UI"/>
                <a:cs typeface="Meiryo UI"/>
              </a:rPr>
              <a:t> </a:t>
            </a:r>
            <a:r>
              <a:rPr sz="1250" b="1" dirty="0">
                <a:solidFill>
                  <a:srgbClr val="0D9487"/>
                </a:solidFill>
                <a:latin typeface="Meiryo UI"/>
                <a:cs typeface="Meiryo UI"/>
              </a:rPr>
              <a:t>is</a:t>
            </a:r>
            <a:r>
              <a:rPr sz="1250" b="1" spc="210" dirty="0">
                <a:solidFill>
                  <a:srgbClr val="0D9487"/>
                </a:solidFill>
                <a:latin typeface="Meiryo UI"/>
                <a:cs typeface="Meiryo UI"/>
              </a:rPr>
              <a:t> </a:t>
            </a:r>
            <a:r>
              <a:rPr sz="1250" b="1" spc="50" dirty="0">
                <a:solidFill>
                  <a:srgbClr val="0D9487"/>
                </a:solidFill>
                <a:latin typeface="Meiryo UI"/>
                <a:cs typeface="Meiryo UI"/>
              </a:rPr>
              <a:t>the</a:t>
            </a:r>
            <a:r>
              <a:rPr sz="1250" b="1" spc="210" dirty="0">
                <a:solidFill>
                  <a:srgbClr val="0D9487"/>
                </a:solidFill>
                <a:latin typeface="Meiryo UI"/>
                <a:cs typeface="Meiryo UI"/>
              </a:rPr>
              <a:t> </a:t>
            </a:r>
            <a:r>
              <a:rPr sz="1250" b="1" dirty="0">
                <a:solidFill>
                  <a:srgbClr val="0D9487"/>
                </a:solidFill>
                <a:latin typeface="Meiryo UI"/>
                <a:cs typeface="Meiryo UI"/>
              </a:rPr>
              <a:t>most</a:t>
            </a:r>
            <a:r>
              <a:rPr sz="1250" b="1" spc="210" dirty="0">
                <a:solidFill>
                  <a:srgbClr val="0D9487"/>
                </a:solidFill>
                <a:latin typeface="Meiryo UI"/>
                <a:cs typeface="Meiryo UI"/>
              </a:rPr>
              <a:t> </a:t>
            </a:r>
            <a:r>
              <a:rPr sz="1250" b="1" dirty="0">
                <a:solidFill>
                  <a:srgbClr val="0D9487"/>
                </a:solidFill>
                <a:latin typeface="Meiryo UI"/>
                <a:cs typeface="Meiryo UI"/>
              </a:rPr>
              <a:t>critical</a:t>
            </a:r>
            <a:r>
              <a:rPr sz="1250" b="1" spc="210" dirty="0">
                <a:solidFill>
                  <a:srgbClr val="0D9487"/>
                </a:solidFill>
                <a:latin typeface="Meiryo UI"/>
                <a:cs typeface="Meiryo UI"/>
              </a:rPr>
              <a:t> </a:t>
            </a:r>
            <a:r>
              <a:rPr sz="1250" b="1" spc="35" dirty="0">
                <a:solidFill>
                  <a:srgbClr val="0D9487"/>
                </a:solidFill>
                <a:latin typeface="Meiryo UI"/>
                <a:cs typeface="Meiryo UI"/>
              </a:rPr>
              <a:t>step</a:t>
            </a:r>
            <a:endParaRPr sz="1250">
              <a:latin typeface="Meiryo UI"/>
              <a:cs typeface="Meiryo UI"/>
            </a:endParaRPr>
          </a:p>
          <a:p>
            <a:pPr marL="128270" marR="188595">
              <a:lnSpc>
                <a:spcPct val="135000"/>
              </a:lnSpc>
              <a:spcBef>
                <a:spcPts val="1714"/>
              </a:spcBef>
            </a:pPr>
            <a:r>
              <a:rPr sz="1150" spc="-10" dirty="0">
                <a:solidFill>
                  <a:srgbClr val="465469"/>
                </a:solidFill>
                <a:latin typeface="Calibri"/>
                <a:cs typeface="Calibri"/>
              </a:rPr>
              <a:t>Unclustered</a:t>
            </a:r>
            <a:r>
              <a:rPr sz="1150" spc="-3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SA</a:t>
            </a:r>
            <a:r>
              <a:rPr sz="11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barely</a:t>
            </a:r>
            <a:r>
              <a:rPr sz="1150" spc="-3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moves</a:t>
            </a:r>
            <a:r>
              <a:rPr sz="11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a</a:t>
            </a:r>
            <a:r>
              <a:rPr sz="1150" spc="-3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random</a:t>
            </a:r>
            <a:r>
              <a:rPr sz="1150" spc="-3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tour</a:t>
            </a:r>
            <a:r>
              <a:rPr sz="11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(~507M).</a:t>
            </a:r>
            <a:r>
              <a:rPr sz="1150" spc="-3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spc="-20" dirty="0">
                <a:solidFill>
                  <a:srgbClr val="465469"/>
                </a:solidFill>
                <a:latin typeface="Calibri"/>
                <a:cs typeface="Calibri"/>
              </a:rPr>
              <a:t>With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k=1000</a:t>
            </a:r>
            <a:r>
              <a:rPr sz="1150" spc="-3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465469"/>
                </a:solidFill>
                <a:latin typeface="Calibri"/>
                <a:cs typeface="Calibri"/>
              </a:rPr>
              <a:t>clusters,</a:t>
            </a:r>
            <a:r>
              <a:rPr sz="1150" spc="-3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both</a:t>
            </a:r>
            <a:r>
              <a:rPr sz="11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GLS</a:t>
            </a:r>
            <a:r>
              <a:rPr sz="11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and</a:t>
            </a:r>
            <a:r>
              <a:rPr sz="11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ACO</a:t>
            </a:r>
            <a:r>
              <a:rPr sz="11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achieve</a:t>
            </a:r>
            <a:r>
              <a:rPr sz="1150" spc="-3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91%+</a:t>
            </a:r>
            <a:r>
              <a:rPr sz="11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465469"/>
                </a:solidFill>
                <a:latin typeface="Calibri"/>
                <a:cs typeface="Calibri"/>
              </a:rPr>
              <a:t>improvement.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The</a:t>
            </a:r>
            <a:r>
              <a:rPr sz="1150" spc="-1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quality</a:t>
            </a:r>
            <a:r>
              <a:rPr sz="1150" spc="-1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of</a:t>
            </a:r>
            <a:r>
              <a:rPr sz="1150" spc="-1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the</a:t>
            </a:r>
            <a:r>
              <a:rPr sz="1150" spc="-1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465469"/>
                </a:solidFill>
                <a:latin typeface="Calibri"/>
                <a:cs typeface="Calibri"/>
              </a:rPr>
              <a:t>decomposition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is</a:t>
            </a:r>
            <a:r>
              <a:rPr sz="1150" spc="-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the</a:t>
            </a:r>
            <a:r>
              <a:rPr sz="1150" spc="-1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465469"/>
                </a:solidFill>
                <a:latin typeface="Calibri"/>
                <a:cs typeface="Calibri"/>
              </a:rPr>
              <a:t>foundation</a:t>
            </a:r>
            <a:r>
              <a:rPr sz="1150" spc="-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465469"/>
                </a:solidFill>
                <a:latin typeface="Calibri"/>
                <a:cs typeface="Calibri"/>
              </a:rPr>
              <a:t>everything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else</a:t>
            </a:r>
            <a:r>
              <a:rPr sz="1150" spc="-3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builds</a:t>
            </a:r>
            <a:r>
              <a:rPr sz="1150" spc="-25" dirty="0">
                <a:solidFill>
                  <a:srgbClr val="465469"/>
                </a:solidFill>
                <a:latin typeface="Calibri"/>
                <a:cs typeface="Calibri"/>
              </a:rPr>
              <a:t> on.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17157" y="2822386"/>
            <a:ext cx="4267200" cy="1870710"/>
            <a:chOff x="317157" y="2822386"/>
            <a:chExt cx="4267200" cy="187071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7157" y="2822386"/>
              <a:ext cx="4266717" cy="187057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11124" y="2880362"/>
              <a:ext cx="4114800" cy="1718945"/>
            </a:xfrm>
            <a:custGeom>
              <a:avLst/>
              <a:gdLst/>
              <a:ahLst/>
              <a:cxnLst/>
              <a:rect l="l" t="t" r="r" b="b"/>
              <a:pathLst>
                <a:path w="4114800" h="1718945">
                  <a:moveTo>
                    <a:pt x="4114431" y="0"/>
                  </a:moveTo>
                  <a:lnTo>
                    <a:pt x="0" y="0"/>
                  </a:lnTo>
                  <a:lnTo>
                    <a:pt x="0" y="1718640"/>
                  </a:lnTo>
                  <a:lnTo>
                    <a:pt x="2057400" y="1718640"/>
                  </a:lnTo>
                  <a:lnTo>
                    <a:pt x="4114431" y="1718640"/>
                  </a:lnTo>
                  <a:lnTo>
                    <a:pt x="41144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39280" y="3008162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5" h="329564">
                  <a:moveTo>
                    <a:pt x="164515" y="0"/>
                  </a:moveTo>
                  <a:lnTo>
                    <a:pt x="121950" y="5578"/>
                  </a:lnTo>
                  <a:lnTo>
                    <a:pt x="82080" y="21958"/>
                  </a:lnTo>
                  <a:lnTo>
                    <a:pt x="48104" y="48148"/>
                  </a:lnTo>
                  <a:lnTo>
                    <a:pt x="21958" y="82435"/>
                  </a:lnTo>
                  <a:lnTo>
                    <a:pt x="5578" y="121994"/>
                  </a:lnTo>
                  <a:lnTo>
                    <a:pt x="0" y="164515"/>
                  </a:lnTo>
                  <a:lnTo>
                    <a:pt x="1405" y="186004"/>
                  </a:lnTo>
                  <a:lnTo>
                    <a:pt x="12451" y="227496"/>
                  </a:lnTo>
                  <a:lnTo>
                    <a:pt x="33934" y="264812"/>
                  </a:lnTo>
                  <a:lnTo>
                    <a:pt x="64231" y="295109"/>
                  </a:lnTo>
                  <a:lnTo>
                    <a:pt x="101541" y="316587"/>
                  </a:lnTo>
                  <a:lnTo>
                    <a:pt x="143032" y="327636"/>
                  </a:lnTo>
                  <a:lnTo>
                    <a:pt x="164515" y="329044"/>
                  </a:lnTo>
                  <a:lnTo>
                    <a:pt x="186004" y="327636"/>
                  </a:lnTo>
                  <a:lnTo>
                    <a:pt x="227496" y="316587"/>
                  </a:lnTo>
                  <a:lnTo>
                    <a:pt x="264812" y="295109"/>
                  </a:lnTo>
                  <a:lnTo>
                    <a:pt x="295109" y="264812"/>
                  </a:lnTo>
                  <a:lnTo>
                    <a:pt x="316587" y="227496"/>
                  </a:lnTo>
                  <a:lnTo>
                    <a:pt x="327636" y="186004"/>
                  </a:lnTo>
                  <a:lnTo>
                    <a:pt x="329044" y="164515"/>
                  </a:lnTo>
                  <a:lnTo>
                    <a:pt x="327636" y="143037"/>
                  </a:lnTo>
                  <a:lnTo>
                    <a:pt x="316587" y="101691"/>
                  </a:lnTo>
                  <a:lnTo>
                    <a:pt x="295103" y="64381"/>
                  </a:lnTo>
                  <a:lnTo>
                    <a:pt x="264657" y="33940"/>
                  </a:lnTo>
                  <a:lnTo>
                    <a:pt x="227341" y="12451"/>
                  </a:lnTo>
                  <a:lnTo>
                    <a:pt x="185999" y="1405"/>
                  </a:lnTo>
                  <a:lnTo>
                    <a:pt x="164515" y="0"/>
                  </a:lnTo>
                  <a:close/>
                </a:path>
              </a:pathLst>
            </a:custGeom>
            <a:solidFill>
              <a:srgbClr val="F49D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39280" y="3008162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5" h="329564">
                  <a:moveTo>
                    <a:pt x="0" y="164515"/>
                  </a:moveTo>
                  <a:lnTo>
                    <a:pt x="1405" y="143037"/>
                  </a:lnTo>
                  <a:lnTo>
                    <a:pt x="5578" y="121994"/>
                  </a:lnTo>
                  <a:lnTo>
                    <a:pt x="21958" y="82435"/>
                  </a:lnTo>
                  <a:lnTo>
                    <a:pt x="48104" y="48148"/>
                  </a:lnTo>
                  <a:lnTo>
                    <a:pt x="82080" y="21958"/>
                  </a:lnTo>
                  <a:lnTo>
                    <a:pt x="121950" y="5578"/>
                  </a:lnTo>
                  <a:lnTo>
                    <a:pt x="164515" y="0"/>
                  </a:lnTo>
                  <a:lnTo>
                    <a:pt x="207041" y="5578"/>
                  </a:lnTo>
                  <a:lnTo>
                    <a:pt x="246595" y="21958"/>
                  </a:lnTo>
                  <a:lnTo>
                    <a:pt x="280893" y="48148"/>
                  </a:lnTo>
                  <a:lnTo>
                    <a:pt x="307086" y="82435"/>
                  </a:lnTo>
                  <a:lnTo>
                    <a:pt x="323461" y="121994"/>
                  </a:lnTo>
                  <a:lnTo>
                    <a:pt x="329044" y="164515"/>
                  </a:lnTo>
                  <a:lnTo>
                    <a:pt x="327636" y="186004"/>
                  </a:lnTo>
                  <a:lnTo>
                    <a:pt x="323461" y="207087"/>
                  </a:lnTo>
                  <a:lnTo>
                    <a:pt x="307086" y="246964"/>
                  </a:lnTo>
                  <a:lnTo>
                    <a:pt x="280939" y="280939"/>
                  </a:lnTo>
                  <a:lnTo>
                    <a:pt x="246964" y="307086"/>
                  </a:lnTo>
                  <a:lnTo>
                    <a:pt x="207087" y="323461"/>
                  </a:lnTo>
                  <a:lnTo>
                    <a:pt x="164515" y="329044"/>
                  </a:lnTo>
                  <a:lnTo>
                    <a:pt x="121950" y="323461"/>
                  </a:lnTo>
                  <a:lnTo>
                    <a:pt x="82080" y="307086"/>
                  </a:lnTo>
                  <a:lnTo>
                    <a:pt x="48104" y="280939"/>
                  </a:lnTo>
                  <a:lnTo>
                    <a:pt x="21958" y="246964"/>
                  </a:lnTo>
                  <a:lnTo>
                    <a:pt x="5578" y="207087"/>
                  </a:lnTo>
                  <a:lnTo>
                    <a:pt x="1405" y="186004"/>
                  </a:lnTo>
                  <a:lnTo>
                    <a:pt x="0" y="164515"/>
                  </a:lnTo>
                  <a:close/>
                </a:path>
              </a:pathLst>
            </a:custGeom>
            <a:ln w="12599">
              <a:solidFill>
                <a:srgbClr val="F49D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11124" y="2880361"/>
            <a:ext cx="4114800" cy="1718945"/>
          </a:xfrm>
          <a:prstGeom prst="rect">
            <a:avLst/>
          </a:prstGeom>
          <a:ln w="25559">
            <a:solidFill>
              <a:srgbClr val="F49D0A"/>
            </a:solidFill>
          </a:ln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endParaRPr sz="1250">
              <a:latin typeface="Times New Roman"/>
              <a:cs typeface="Times New Roman"/>
            </a:endParaRPr>
          </a:p>
          <a:p>
            <a:pPr marL="239395">
              <a:lnSpc>
                <a:spcPct val="100000"/>
              </a:lnSpc>
              <a:tabLst>
                <a:tab pos="548005" algn="l"/>
              </a:tabLst>
            </a:pPr>
            <a:r>
              <a:rPr sz="1200" b="1" spc="-50" dirty="0">
                <a:solidFill>
                  <a:srgbClr val="FFFFFF"/>
                </a:solidFill>
                <a:latin typeface="Meiryo UI"/>
                <a:cs typeface="Meiryo UI"/>
              </a:rPr>
              <a:t>2</a:t>
            </a:r>
            <a:r>
              <a:rPr sz="1200" b="1" dirty="0">
                <a:solidFill>
                  <a:srgbClr val="FFFFFF"/>
                </a:solidFill>
                <a:latin typeface="Meiryo UI"/>
                <a:cs typeface="Meiryo UI"/>
              </a:rPr>
              <a:t>	</a:t>
            </a:r>
            <a:r>
              <a:rPr sz="1250" b="1" spc="50" dirty="0">
                <a:solidFill>
                  <a:srgbClr val="F49D0A"/>
                </a:solidFill>
                <a:latin typeface="Meiryo UI"/>
                <a:cs typeface="Meiryo UI"/>
              </a:rPr>
              <a:t>GLS</a:t>
            </a:r>
            <a:r>
              <a:rPr sz="1250" b="1" spc="135" dirty="0">
                <a:solidFill>
                  <a:srgbClr val="F49D0A"/>
                </a:solidFill>
                <a:latin typeface="Meiryo UI"/>
                <a:cs typeface="Meiryo UI"/>
              </a:rPr>
              <a:t> </a:t>
            </a:r>
            <a:r>
              <a:rPr sz="1250" b="1" dirty="0">
                <a:solidFill>
                  <a:srgbClr val="F49D0A"/>
                </a:solidFill>
                <a:latin typeface="Meiryo UI"/>
                <a:cs typeface="Meiryo UI"/>
              </a:rPr>
              <a:t>wins</a:t>
            </a:r>
            <a:r>
              <a:rPr sz="1250" b="1" spc="135" dirty="0">
                <a:solidFill>
                  <a:srgbClr val="F49D0A"/>
                </a:solidFill>
                <a:latin typeface="Meiryo UI"/>
                <a:cs typeface="Meiryo UI"/>
              </a:rPr>
              <a:t> </a:t>
            </a:r>
            <a:r>
              <a:rPr sz="1250" b="1" dirty="0">
                <a:solidFill>
                  <a:srgbClr val="F49D0A"/>
                </a:solidFill>
                <a:latin typeface="Meiryo UI"/>
                <a:cs typeface="Meiryo UI"/>
              </a:rPr>
              <a:t>end-to-end</a:t>
            </a:r>
            <a:r>
              <a:rPr sz="1250" b="1" spc="135" dirty="0">
                <a:solidFill>
                  <a:srgbClr val="F49D0A"/>
                </a:solidFill>
                <a:latin typeface="Meiryo UI"/>
                <a:cs typeface="Meiryo UI"/>
              </a:rPr>
              <a:t> </a:t>
            </a:r>
            <a:r>
              <a:rPr sz="1250" b="1" dirty="0">
                <a:solidFill>
                  <a:srgbClr val="F49D0A"/>
                </a:solidFill>
                <a:latin typeface="Meiryo UI"/>
                <a:cs typeface="Meiryo UI"/>
              </a:rPr>
              <a:t>due</a:t>
            </a:r>
            <a:r>
              <a:rPr sz="1250" b="1" spc="135" dirty="0">
                <a:solidFill>
                  <a:srgbClr val="F49D0A"/>
                </a:solidFill>
                <a:latin typeface="Meiryo UI"/>
                <a:cs typeface="Meiryo UI"/>
              </a:rPr>
              <a:t> </a:t>
            </a:r>
            <a:r>
              <a:rPr sz="1250" b="1" dirty="0">
                <a:solidFill>
                  <a:srgbClr val="F49D0A"/>
                </a:solidFill>
                <a:latin typeface="Meiryo UI"/>
                <a:cs typeface="Meiryo UI"/>
              </a:rPr>
              <a:t>to</a:t>
            </a:r>
            <a:r>
              <a:rPr sz="1250" b="1" spc="135" dirty="0">
                <a:solidFill>
                  <a:srgbClr val="F49D0A"/>
                </a:solidFill>
                <a:latin typeface="Meiryo UI"/>
                <a:cs typeface="Meiryo UI"/>
              </a:rPr>
              <a:t> </a:t>
            </a:r>
            <a:r>
              <a:rPr sz="1250" b="1" spc="45" dirty="0">
                <a:solidFill>
                  <a:srgbClr val="F49D0A"/>
                </a:solidFill>
                <a:latin typeface="Meiryo UI"/>
                <a:cs typeface="Meiryo UI"/>
              </a:rPr>
              <a:t>speed</a:t>
            </a:r>
            <a:endParaRPr sz="1250">
              <a:latin typeface="Meiryo UI"/>
              <a:cs typeface="Meiryo UI"/>
            </a:endParaRPr>
          </a:p>
          <a:p>
            <a:pPr marL="128270" marR="157480">
              <a:lnSpc>
                <a:spcPct val="135000"/>
              </a:lnSpc>
              <a:spcBef>
                <a:spcPts val="1714"/>
              </a:spcBef>
            </a:pP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ACO</a:t>
            </a:r>
            <a:r>
              <a:rPr sz="1150" spc="-3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produces</a:t>
            </a:r>
            <a:r>
              <a:rPr sz="1150" spc="-3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~5%</a:t>
            </a:r>
            <a:r>
              <a:rPr sz="1150" spc="-3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465469"/>
                </a:solidFill>
                <a:latin typeface="Calibri"/>
                <a:cs typeface="Calibri"/>
              </a:rPr>
              <a:t>better</a:t>
            </a:r>
            <a:r>
              <a:rPr sz="1150" spc="-3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465469"/>
                </a:solidFill>
                <a:latin typeface="Calibri"/>
                <a:cs typeface="Calibri"/>
              </a:rPr>
              <a:t>sub-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tours</a:t>
            </a:r>
            <a:r>
              <a:rPr sz="1150" spc="-3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at</a:t>
            </a:r>
            <a:r>
              <a:rPr sz="1150" spc="-3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equal</a:t>
            </a:r>
            <a:r>
              <a:rPr sz="1150" spc="-3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time</a:t>
            </a:r>
            <a:r>
              <a:rPr sz="1150" spc="-3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budgets,</a:t>
            </a:r>
            <a:r>
              <a:rPr sz="1150" spc="-3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spc="-25" dirty="0">
                <a:solidFill>
                  <a:srgbClr val="465469"/>
                </a:solidFill>
                <a:latin typeface="Calibri"/>
                <a:cs typeface="Calibri"/>
              </a:rPr>
              <a:t>but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GLS</a:t>
            </a:r>
            <a:r>
              <a:rPr sz="1150" spc="-3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is</a:t>
            </a:r>
            <a:r>
              <a:rPr sz="11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7×</a:t>
            </a:r>
            <a:r>
              <a:rPr sz="1150" spc="-1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465469"/>
                </a:solidFill>
                <a:latin typeface="Calibri"/>
                <a:cs typeface="Calibri"/>
              </a:rPr>
              <a:t>faster</a:t>
            </a:r>
            <a:r>
              <a:rPr sz="11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per</a:t>
            </a:r>
            <a:r>
              <a:rPr sz="1150" spc="-1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spc="-20" dirty="0">
                <a:solidFill>
                  <a:srgbClr val="465469"/>
                </a:solidFill>
                <a:latin typeface="Calibri"/>
                <a:cs typeface="Calibri"/>
              </a:rPr>
              <a:t>cluster.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Over</a:t>
            </a:r>
            <a:r>
              <a:rPr sz="11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1,000</a:t>
            </a:r>
            <a:r>
              <a:rPr sz="1150" spc="-1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465469"/>
                </a:solidFill>
                <a:latin typeface="Calibri"/>
                <a:cs typeface="Calibri"/>
              </a:rPr>
              <a:t>clusters,</a:t>
            </a:r>
            <a:r>
              <a:rPr sz="11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GLS</a:t>
            </a:r>
            <a:r>
              <a:rPr sz="1150" spc="-2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can</a:t>
            </a:r>
            <a:r>
              <a:rPr sz="1150" spc="-2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do</a:t>
            </a:r>
            <a:r>
              <a:rPr sz="1150" spc="-20" dirty="0">
                <a:solidFill>
                  <a:srgbClr val="465469"/>
                </a:solidFill>
                <a:latin typeface="Calibri"/>
                <a:cs typeface="Calibri"/>
              </a:rPr>
              <a:t> more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rounds</a:t>
            </a:r>
            <a:r>
              <a:rPr sz="11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in</a:t>
            </a:r>
            <a:r>
              <a:rPr sz="1150" spc="-2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the</a:t>
            </a:r>
            <a:r>
              <a:rPr sz="11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same</a:t>
            </a:r>
            <a:r>
              <a:rPr sz="1150" spc="-2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465469"/>
                </a:solidFill>
                <a:latin typeface="Calibri"/>
                <a:cs typeface="Calibri"/>
              </a:rPr>
              <a:t>wall-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clock</a:t>
            </a:r>
            <a:r>
              <a:rPr sz="1150" spc="-2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time</a:t>
            </a:r>
            <a:r>
              <a:rPr sz="1150" spc="-2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—</a:t>
            </a:r>
            <a:r>
              <a:rPr sz="11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resulting</a:t>
            </a:r>
            <a:r>
              <a:rPr sz="1150" spc="-2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in</a:t>
            </a:r>
            <a:r>
              <a:rPr sz="11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a</a:t>
            </a:r>
            <a:r>
              <a:rPr sz="1150" spc="-1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465469"/>
                </a:solidFill>
                <a:latin typeface="Calibri"/>
                <a:cs typeface="Calibri"/>
              </a:rPr>
              <a:t>better</a:t>
            </a:r>
            <a:r>
              <a:rPr sz="1150" spc="-20" dirty="0">
                <a:solidFill>
                  <a:srgbClr val="465469"/>
                </a:solidFill>
                <a:latin typeface="Calibri"/>
                <a:cs typeface="Calibri"/>
              </a:rPr>
              <a:t> full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pipeline</a:t>
            </a:r>
            <a:r>
              <a:rPr sz="1150" spc="-3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tour</a:t>
            </a:r>
            <a:r>
              <a:rPr sz="1150" spc="-3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(17.6M</a:t>
            </a:r>
            <a:r>
              <a:rPr sz="1150" spc="-3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vs</a:t>
            </a:r>
            <a:r>
              <a:rPr sz="1150" spc="-3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465469"/>
                </a:solidFill>
                <a:latin typeface="Calibri"/>
                <a:cs typeface="Calibri"/>
              </a:rPr>
              <a:t>18.5M).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706277" y="902146"/>
            <a:ext cx="4267200" cy="1870710"/>
            <a:chOff x="4706277" y="902146"/>
            <a:chExt cx="4267200" cy="1870710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6277" y="902146"/>
              <a:ext cx="4266717" cy="187057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800244" y="960122"/>
              <a:ext cx="4114800" cy="1718945"/>
            </a:xfrm>
            <a:custGeom>
              <a:avLst/>
              <a:gdLst/>
              <a:ahLst/>
              <a:cxnLst/>
              <a:rect l="l" t="t" r="r" b="b"/>
              <a:pathLst>
                <a:path w="4114800" h="1718945">
                  <a:moveTo>
                    <a:pt x="4114431" y="0"/>
                  </a:moveTo>
                  <a:lnTo>
                    <a:pt x="0" y="0"/>
                  </a:lnTo>
                  <a:lnTo>
                    <a:pt x="0" y="1718640"/>
                  </a:lnTo>
                  <a:lnTo>
                    <a:pt x="2057400" y="1718640"/>
                  </a:lnTo>
                  <a:lnTo>
                    <a:pt x="4114431" y="1718640"/>
                  </a:lnTo>
                  <a:lnTo>
                    <a:pt x="41144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928400" y="1087922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4" h="329565">
                  <a:moveTo>
                    <a:pt x="164515" y="0"/>
                  </a:moveTo>
                  <a:lnTo>
                    <a:pt x="121994" y="5578"/>
                  </a:lnTo>
                  <a:lnTo>
                    <a:pt x="82435" y="21958"/>
                  </a:lnTo>
                  <a:lnTo>
                    <a:pt x="48148" y="48104"/>
                  </a:lnTo>
                  <a:lnTo>
                    <a:pt x="21958" y="82080"/>
                  </a:lnTo>
                  <a:lnTo>
                    <a:pt x="5578" y="121950"/>
                  </a:lnTo>
                  <a:lnTo>
                    <a:pt x="0" y="164515"/>
                  </a:lnTo>
                  <a:lnTo>
                    <a:pt x="1405" y="185999"/>
                  </a:lnTo>
                  <a:lnTo>
                    <a:pt x="12451" y="227341"/>
                  </a:lnTo>
                  <a:lnTo>
                    <a:pt x="33940" y="264657"/>
                  </a:lnTo>
                  <a:lnTo>
                    <a:pt x="64381" y="295103"/>
                  </a:lnTo>
                  <a:lnTo>
                    <a:pt x="101691" y="316587"/>
                  </a:lnTo>
                  <a:lnTo>
                    <a:pt x="143037" y="327636"/>
                  </a:lnTo>
                  <a:lnTo>
                    <a:pt x="164515" y="329044"/>
                  </a:lnTo>
                  <a:lnTo>
                    <a:pt x="185999" y="327636"/>
                  </a:lnTo>
                  <a:lnTo>
                    <a:pt x="227341" y="316587"/>
                  </a:lnTo>
                  <a:lnTo>
                    <a:pt x="264657" y="295103"/>
                  </a:lnTo>
                  <a:lnTo>
                    <a:pt x="295103" y="264657"/>
                  </a:lnTo>
                  <a:lnTo>
                    <a:pt x="316587" y="227341"/>
                  </a:lnTo>
                  <a:lnTo>
                    <a:pt x="327636" y="185999"/>
                  </a:lnTo>
                  <a:lnTo>
                    <a:pt x="329044" y="164515"/>
                  </a:lnTo>
                  <a:lnTo>
                    <a:pt x="327636" y="143032"/>
                  </a:lnTo>
                  <a:lnTo>
                    <a:pt x="316587" y="101541"/>
                  </a:lnTo>
                  <a:lnTo>
                    <a:pt x="295103" y="64231"/>
                  </a:lnTo>
                  <a:lnTo>
                    <a:pt x="264657" y="33934"/>
                  </a:lnTo>
                  <a:lnTo>
                    <a:pt x="227341" y="12451"/>
                  </a:lnTo>
                  <a:lnTo>
                    <a:pt x="185999" y="1405"/>
                  </a:lnTo>
                  <a:lnTo>
                    <a:pt x="164515" y="0"/>
                  </a:lnTo>
                  <a:close/>
                </a:path>
              </a:pathLst>
            </a:custGeom>
            <a:solidFill>
              <a:srgbClr val="1D4D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928400" y="1087922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4" h="329565">
                  <a:moveTo>
                    <a:pt x="0" y="164515"/>
                  </a:moveTo>
                  <a:lnTo>
                    <a:pt x="1405" y="143032"/>
                  </a:lnTo>
                  <a:lnTo>
                    <a:pt x="5578" y="121950"/>
                  </a:lnTo>
                  <a:lnTo>
                    <a:pt x="21958" y="82080"/>
                  </a:lnTo>
                  <a:lnTo>
                    <a:pt x="48148" y="48104"/>
                  </a:lnTo>
                  <a:lnTo>
                    <a:pt x="82435" y="21958"/>
                  </a:lnTo>
                  <a:lnTo>
                    <a:pt x="121994" y="5578"/>
                  </a:lnTo>
                  <a:lnTo>
                    <a:pt x="164515" y="0"/>
                  </a:lnTo>
                  <a:lnTo>
                    <a:pt x="207041" y="5578"/>
                  </a:lnTo>
                  <a:lnTo>
                    <a:pt x="246595" y="21958"/>
                  </a:lnTo>
                  <a:lnTo>
                    <a:pt x="280893" y="48104"/>
                  </a:lnTo>
                  <a:lnTo>
                    <a:pt x="307086" y="82080"/>
                  </a:lnTo>
                  <a:lnTo>
                    <a:pt x="323461" y="121950"/>
                  </a:lnTo>
                  <a:lnTo>
                    <a:pt x="329044" y="164515"/>
                  </a:lnTo>
                  <a:lnTo>
                    <a:pt x="327636" y="185999"/>
                  </a:lnTo>
                  <a:lnTo>
                    <a:pt x="323461" y="207041"/>
                  </a:lnTo>
                  <a:lnTo>
                    <a:pt x="307086" y="246595"/>
                  </a:lnTo>
                  <a:lnTo>
                    <a:pt x="280893" y="280893"/>
                  </a:lnTo>
                  <a:lnTo>
                    <a:pt x="246595" y="307086"/>
                  </a:lnTo>
                  <a:lnTo>
                    <a:pt x="207041" y="323461"/>
                  </a:lnTo>
                  <a:lnTo>
                    <a:pt x="164515" y="329044"/>
                  </a:lnTo>
                  <a:lnTo>
                    <a:pt x="121994" y="323461"/>
                  </a:lnTo>
                  <a:lnTo>
                    <a:pt x="82435" y="307086"/>
                  </a:lnTo>
                  <a:lnTo>
                    <a:pt x="48148" y="280893"/>
                  </a:lnTo>
                  <a:lnTo>
                    <a:pt x="21958" y="246595"/>
                  </a:lnTo>
                  <a:lnTo>
                    <a:pt x="5578" y="207041"/>
                  </a:lnTo>
                  <a:lnTo>
                    <a:pt x="1405" y="185999"/>
                  </a:lnTo>
                  <a:lnTo>
                    <a:pt x="0" y="164515"/>
                  </a:lnTo>
                  <a:close/>
                </a:path>
              </a:pathLst>
            </a:custGeom>
            <a:ln w="12599">
              <a:solidFill>
                <a:srgbClr val="1D4DD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800244" y="960122"/>
            <a:ext cx="4114800" cy="1718945"/>
          </a:xfrm>
          <a:prstGeom prst="rect">
            <a:avLst/>
          </a:prstGeom>
          <a:ln w="25559">
            <a:solidFill>
              <a:srgbClr val="1D4DD7"/>
            </a:solidFill>
          </a:ln>
        </p:spPr>
        <p:txBody>
          <a:bodyPr vert="horz" wrap="square" lIns="0" tIns="101600" rIns="0" bIns="0" rtlCol="0">
            <a:spAutoFit/>
          </a:bodyPr>
          <a:lstStyle/>
          <a:p>
            <a:pPr marL="548640" marR="278765" indent="-309245">
              <a:lnSpc>
                <a:spcPct val="100000"/>
              </a:lnSpc>
              <a:spcBef>
                <a:spcPts val="800"/>
              </a:spcBef>
              <a:tabLst>
                <a:tab pos="548005" algn="l"/>
              </a:tabLst>
            </a:pPr>
            <a:r>
              <a:rPr sz="1800" b="1" spc="-75" baseline="-34722" dirty="0">
                <a:solidFill>
                  <a:srgbClr val="FFFFFF"/>
                </a:solidFill>
                <a:latin typeface="Meiryo UI"/>
                <a:cs typeface="Meiryo UI"/>
              </a:rPr>
              <a:t>3</a:t>
            </a:r>
            <a:r>
              <a:rPr sz="1800" b="1" baseline="-34722" dirty="0">
                <a:solidFill>
                  <a:srgbClr val="FFFFFF"/>
                </a:solidFill>
                <a:latin typeface="Meiryo UI"/>
                <a:cs typeface="Meiryo UI"/>
              </a:rPr>
              <a:t>	</a:t>
            </a:r>
            <a:r>
              <a:rPr sz="1250" b="1" spc="10" dirty="0">
                <a:solidFill>
                  <a:srgbClr val="1D4DD7"/>
                </a:solidFill>
                <a:latin typeface="Meiryo UI"/>
                <a:cs typeface="Meiryo UI"/>
              </a:rPr>
              <a:t>O(1)</a:t>
            </a:r>
            <a:r>
              <a:rPr sz="1250" b="1" spc="190" dirty="0">
                <a:solidFill>
                  <a:srgbClr val="1D4DD7"/>
                </a:solidFill>
                <a:latin typeface="Meiryo UI"/>
                <a:cs typeface="Meiryo UI"/>
              </a:rPr>
              <a:t> </a:t>
            </a:r>
            <a:r>
              <a:rPr sz="1250" b="1" spc="10" dirty="0">
                <a:solidFill>
                  <a:srgbClr val="1D4DD7"/>
                </a:solidFill>
                <a:latin typeface="Meiryo UI"/>
                <a:cs typeface="Meiryo UI"/>
              </a:rPr>
              <a:t>delta</a:t>
            </a:r>
            <a:r>
              <a:rPr sz="1250" b="1" spc="190" dirty="0">
                <a:solidFill>
                  <a:srgbClr val="1D4DD7"/>
                </a:solidFill>
                <a:latin typeface="Meiryo UI"/>
                <a:cs typeface="Meiryo UI"/>
              </a:rPr>
              <a:t> </a:t>
            </a:r>
            <a:r>
              <a:rPr sz="1250" b="1" spc="10" dirty="0">
                <a:solidFill>
                  <a:srgbClr val="1D4DD7"/>
                </a:solidFill>
                <a:latin typeface="Meiryo UI"/>
                <a:cs typeface="Meiryo UI"/>
              </a:rPr>
              <a:t>evaluation</a:t>
            </a:r>
            <a:r>
              <a:rPr sz="1250" b="1" spc="190" dirty="0">
                <a:solidFill>
                  <a:srgbClr val="1D4DD7"/>
                </a:solidFill>
                <a:latin typeface="Meiryo UI"/>
                <a:cs typeface="Meiryo UI"/>
              </a:rPr>
              <a:t> </a:t>
            </a:r>
            <a:r>
              <a:rPr sz="1250" b="1" spc="10" dirty="0">
                <a:solidFill>
                  <a:srgbClr val="1D4DD7"/>
                </a:solidFill>
                <a:latin typeface="Meiryo UI"/>
                <a:cs typeface="Meiryo UI"/>
              </a:rPr>
              <a:t>is</a:t>
            </a:r>
            <a:r>
              <a:rPr sz="1250" b="1" spc="190" dirty="0">
                <a:solidFill>
                  <a:srgbClr val="1D4DD7"/>
                </a:solidFill>
                <a:latin typeface="Meiryo UI"/>
                <a:cs typeface="Meiryo UI"/>
              </a:rPr>
              <a:t> </a:t>
            </a:r>
            <a:r>
              <a:rPr sz="1250" b="1" spc="10" dirty="0">
                <a:solidFill>
                  <a:srgbClr val="1D4DD7"/>
                </a:solidFill>
                <a:latin typeface="Meiryo UI"/>
                <a:cs typeface="Meiryo UI"/>
              </a:rPr>
              <a:t>essential</a:t>
            </a:r>
            <a:r>
              <a:rPr sz="1250" b="1" spc="190" dirty="0">
                <a:solidFill>
                  <a:srgbClr val="1D4DD7"/>
                </a:solidFill>
                <a:latin typeface="Meiryo UI"/>
                <a:cs typeface="Meiryo UI"/>
              </a:rPr>
              <a:t> </a:t>
            </a:r>
            <a:r>
              <a:rPr sz="1250" b="1" spc="-25" dirty="0">
                <a:solidFill>
                  <a:srgbClr val="1D4DD7"/>
                </a:solidFill>
                <a:latin typeface="Meiryo UI"/>
                <a:cs typeface="Meiryo UI"/>
              </a:rPr>
              <a:t>for </a:t>
            </a:r>
            <a:r>
              <a:rPr sz="1250" b="1" spc="25" dirty="0">
                <a:solidFill>
                  <a:srgbClr val="1D4DD7"/>
                </a:solidFill>
                <a:latin typeface="Meiryo UI"/>
                <a:cs typeface="Meiryo UI"/>
              </a:rPr>
              <a:t>GLS</a:t>
            </a:r>
            <a:endParaRPr sz="1250">
              <a:latin typeface="Meiryo UI"/>
              <a:cs typeface="Meiryo UI"/>
            </a:endParaRPr>
          </a:p>
          <a:p>
            <a:pPr marL="128270" marR="434975">
              <a:lnSpc>
                <a:spcPct val="135000"/>
              </a:lnSpc>
              <a:spcBef>
                <a:spcPts val="965"/>
              </a:spcBef>
            </a:pPr>
            <a:r>
              <a:rPr sz="1150" spc="-10" dirty="0">
                <a:solidFill>
                  <a:srgbClr val="465469"/>
                </a:solidFill>
                <a:latin typeface="Calibri"/>
                <a:cs typeface="Calibri"/>
              </a:rPr>
              <a:t>Recomputing</a:t>
            </a:r>
            <a:r>
              <a:rPr sz="11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full</a:t>
            </a:r>
            <a:r>
              <a:rPr sz="1150" spc="-2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tour</a:t>
            </a:r>
            <a:r>
              <a:rPr sz="1150" spc="-2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length</a:t>
            </a:r>
            <a:r>
              <a:rPr sz="1150" spc="-2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per</a:t>
            </a:r>
            <a:r>
              <a:rPr sz="1150" spc="-2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swap</a:t>
            </a:r>
            <a:r>
              <a:rPr sz="11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is</a:t>
            </a:r>
            <a:r>
              <a:rPr sz="1150" spc="-1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O(n).</a:t>
            </a:r>
            <a:r>
              <a:rPr sz="1150" spc="-1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465469"/>
                </a:solidFill>
                <a:latin typeface="Calibri"/>
                <a:cs typeface="Calibri"/>
              </a:rPr>
              <a:t>Using precomputed</a:t>
            </a:r>
            <a:r>
              <a:rPr sz="1150" spc="-3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distance</a:t>
            </a:r>
            <a:r>
              <a:rPr sz="11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matrices</a:t>
            </a:r>
            <a:r>
              <a:rPr sz="11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and</a:t>
            </a:r>
            <a:r>
              <a:rPr sz="11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computing</a:t>
            </a:r>
            <a:r>
              <a:rPr sz="11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only</a:t>
            </a:r>
            <a:r>
              <a:rPr sz="11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the</a:t>
            </a:r>
            <a:r>
              <a:rPr sz="11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spc="-50" dirty="0">
                <a:solidFill>
                  <a:srgbClr val="465469"/>
                </a:solidFill>
                <a:latin typeface="Calibri"/>
                <a:cs typeface="Calibri"/>
              </a:rPr>
              <a:t>4 </a:t>
            </a:r>
            <a:r>
              <a:rPr sz="1150" spc="-10" dirty="0">
                <a:solidFill>
                  <a:srgbClr val="465469"/>
                </a:solidFill>
                <a:latin typeface="Calibri"/>
                <a:cs typeface="Calibri"/>
              </a:rPr>
              <a:t>affected</a:t>
            </a:r>
            <a:r>
              <a:rPr sz="1150" spc="-3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edges</a:t>
            </a:r>
            <a:r>
              <a:rPr sz="1150" spc="-3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per</a:t>
            </a:r>
            <a:r>
              <a:rPr sz="1150" spc="-3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swap</a:t>
            </a:r>
            <a:r>
              <a:rPr sz="1150" spc="-3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makes</a:t>
            </a:r>
            <a:r>
              <a:rPr sz="1150" spc="-3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GLS</a:t>
            </a:r>
            <a:r>
              <a:rPr sz="11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fast</a:t>
            </a:r>
            <a:r>
              <a:rPr sz="1150" spc="-3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enough</a:t>
            </a:r>
            <a:r>
              <a:rPr sz="1150" spc="-3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to</a:t>
            </a:r>
            <a:r>
              <a:rPr sz="1150" spc="-3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do</a:t>
            </a:r>
            <a:r>
              <a:rPr sz="1150" spc="-3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465469"/>
                </a:solidFill>
                <a:latin typeface="Calibri"/>
                <a:cs typeface="Calibri"/>
              </a:rPr>
              <a:t>7,500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swap</a:t>
            </a:r>
            <a:r>
              <a:rPr sz="11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465469"/>
                </a:solidFill>
                <a:latin typeface="Calibri"/>
                <a:cs typeface="Calibri"/>
              </a:rPr>
              <a:t>evaluations</a:t>
            </a:r>
            <a:r>
              <a:rPr sz="1150" spc="-2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per</a:t>
            </a:r>
            <a:r>
              <a:rPr sz="1150" spc="-2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cluster</a:t>
            </a:r>
            <a:r>
              <a:rPr sz="1150" spc="-2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in</a:t>
            </a:r>
            <a:r>
              <a:rPr sz="11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0.08</a:t>
            </a:r>
            <a:r>
              <a:rPr sz="1150" spc="-2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465469"/>
                </a:solidFill>
                <a:latin typeface="Calibri"/>
                <a:cs typeface="Calibri"/>
              </a:rPr>
              <a:t>seconds.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706277" y="2822386"/>
            <a:ext cx="4267200" cy="1870710"/>
            <a:chOff x="4706277" y="2822386"/>
            <a:chExt cx="4267200" cy="1870710"/>
          </a:xfrm>
        </p:grpSpPr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6277" y="2822386"/>
              <a:ext cx="4266717" cy="187057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800244" y="2880362"/>
              <a:ext cx="4114800" cy="1718945"/>
            </a:xfrm>
            <a:custGeom>
              <a:avLst/>
              <a:gdLst/>
              <a:ahLst/>
              <a:cxnLst/>
              <a:rect l="l" t="t" r="r" b="b"/>
              <a:pathLst>
                <a:path w="4114800" h="1718945">
                  <a:moveTo>
                    <a:pt x="4114431" y="0"/>
                  </a:moveTo>
                  <a:lnTo>
                    <a:pt x="0" y="0"/>
                  </a:lnTo>
                  <a:lnTo>
                    <a:pt x="0" y="1718640"/>
                  </a:lnTo>
                  <a:lnTo>
                    <a:pt x="2057400" y="1718640"/>
                  </a:lnTo>
                  <a:lnTo>
                    <a:pt x="4114431" y="1718640"/>
                  </a:lnTo>
                  <a:lnTo>
                    <a:pt x="41144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928400" y="3008162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4" h="329564">
                  <a:moveTo>
                    <a:pt x="164515" y="0"/>
                  </a:moveTo>
                  <a:lnTo>
                    <a:pt x="121994" y="5578"/>
                  </a:lnTo>
                  <a:lnTo>
                    <a:pt x="82435" y="21958"/>
                  </a:lnTo>
                  <a:lnTo>
                    <a:pt x="48148" y="48148"/>
                  </a:lnTo>
                  <a:lnTo>
                    <a:pt x="21958" y="82435"/>
                  </a:lnTo>
                  <a:lnTo>
                    <a:pt x="5578" y="121994"/>
                  </a:lnTo>
                  <a:lnTo>
                    <a:pt x="0" y="164515"/>
                  </a:lnTo>
                  <a:lnTo>
                    <a:pt x="1405" y="186004"/>
                  </a:lnTo>
                  <a:lnTo>
                    <a:pt x="12451" y="227496"/>
                  </a:lnTo>
                  <a:lnTo>
                    <a:pt x="33940" y="264812"/>
                  </a:lnTo>
                  <a:lnTo>
                    <a:pt x="64381" y="295109"/>
                  </a:lnTo>
                  <a:lnTo>
                    <a:pt x="101691" y="316587"/>
                  </a:lnTo>
                  <a:lnTo>
                    <a:pt x="143037" y="327636"/>
                  </a:lnTo>
                  <a:lnTo>
                    <a:pt x="164515" y="329044"/>
                  </a:lnTo>
                  <a:lnTo>
                    <a:pt x="185999" y="327636"/>
                  </a:lnTo>
                  <a:lnTo>
                    <a:pt x="227341" y="316587"/>
                  </a:lnTo>
                  <a:lnTo>
                    <a:pt x="264657" y="295109"/>
                  </a:lnTo>
                  <a:lnTo>
                    <a:pt x="295103" y="264812"/>
                  </a:lnTo>
                  <a:lnTo>
                    <a:pt x="316587" y="227496"/>
                  </a:lnTo>
                  <a:lnTo>
                    <a:pt x="327636" y="186004"/>
                  </a:lnTo>
                  <a:lnTo>
                    <a:pt x="329044" y="164515"/>
                  </a:lnTo>
                  <a:lnTo>
                    <a:pt x="327636" y="143037"/>
                  </a:lnTo>
                  <a:lnTo>
                    <a:pt x="316587" y="101691"/>
                  </a:lnTo>
                  <a:lnTo>
                    <a:pt x="295103" y="64381"/>
                  </a:lnTo>
                  <a:lnTo>
                    <a:pt x="264657" y="33940"/>
                  </a:lnTo>
                  <a:lnTo>
                    <a:pt x="227341" y="12451"/>
                  </a:lnTo>
                  <a:lnTo>
                    <a:pt x="185999" y="1405"/>
                  </a:lnTo>
                  <a:lnTo>
                    <a:pt x="164515" y="0"/>
                  </a:lnTo>
                  <a:close/>
                </a:path>
              </a:pathLst>
            </a:custGeom>
            <a:solidFill>
              <a:srgbClr val="7B3A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928400" y="3008162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4" h="329564">
                  <a:moveTo>
                    <a:pt x="0" y="164515"/>
                  </a:moveTo>
                  <a:lnTo>
                    <a:pt x="1405" y="143037"/>
                  </a:lnTo>
                  <a:lnTo>
                    <a:pt x="5578" y="121994"/>
                  </a:lnTo>
                  <a:lnTo>
                    <a:pt x="21958" y="82435"/>
                  </a:lnTo>
                  <a:lnTo>
                    <a:pt x="48148" y="48148"/>
                  </a:lnTo>
                  <a:lnTo>
                    <a:pt x="82435" y="21958"/>
                  </a:lnTo>
                  <a:lnTo>
                    <a:pt x="121994" y="5578"/>
                  </a:lnTo>
                  <a:lnTo>
                    <a:pt x="164515" y="0"/>
                  </a:lnTo>
                  <a:lnTo>
                    <a:pt x="207041" y="5578"/>
                  </a:lnTo>
                  <a:lnTo>
                    <a:pt x="246595" y="21958"/>
                  </a:lnTo>
                  <a:lnTo>
                    <a:pt x="280893" y="48148"/>
                  </a:lnTo>
                  <a:lnTo>
                    <a:pt x="307086" y="82435"/>
                  </a:lnTo>
                  <a:lnTo>
                    <a:pt x="323461" y="121994"/>
                  </a:lnTo>
                  <a:lnTo>
                    <a:pt x="329044" y="164515"/>
                  </a:lnTo>
                  <a:lnTo>
                    <a:pt x="327636" y="186004"/>
                  </a:lnTo>
                  <a:lnTo>
                    <a:pt x="323461" y="207087"/>
                  </a:lnTo>
                  <a:lnTo>
                    <a:pt x="307086" y="246964"/>
                  </a:lnTo>
                  <a:lnTo>
                    <a:pt x="280893" y="280939"/>
                  </a:lnTo>
                  <a:lnTo>
                    <a:pt x="246595" y="307086"/>
                  </a:lnTo>
                  <a:lnTo>
                    <a:pt x="207041" y="323461"/>
                  </a:lnTo>
                  <a:lnTo>
                    <a:pt x="164515" y="329044"/>
                  </a:lnTo>
                  <a:lnTo>
                    <a:pt x="121994" y="323461"/>
                  </a:lnTo>
                  <a:lnTo>
                    <a:pt x="82435" y="307086"/>
                  </a:lnTo>
                  <a:lnTo>
                    <a:pt x="48148" y="280939"/>
                  </a:lnTo>
                  <a:lnTo>
                    <a:pt x="21958" y="246964"/>
                  </a:lnTo>
                  <a:lnTo>
                    <a:pt x="5578" y="207087"/>
                  </a:lnTo>
                  <a:lnTo>
                    <a:pt x="1405" y="186004"/>
                  </a:lnTo>
                  <a:lnTo>
                    <a:pt x="0" y="164515"/>
                  </a:lnTo>
                  <a:close/>
                </a:path>
              </a:pathLst>
            </a:custGeom>
            <a:ln w="12599">
              <a:solidFill>
                <a:srgbClr val="7B3A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800244" y="2880361"/>
            <a:ext cx="4114800" cy="1718945"/>
          </a:xfrm>
          <a:prstGeom prst="rect">
            <a:avLst/>
          </a:prstGeom>
          <a:ln w="25559">
            <a:solidFill>
              <a:srgbClr val="7B3AEC"/>
            </a:solidFill>
          </a:ln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endParaRPr sz="1250">
              <a:latin typeface="Times New Roman"/>
              <a:cs typeface="Times New Roman"/>
            </a:endParaRPr>
          </a:p>
          <a:p>
            <a:pPr marL="239395">
              <a:lnSpc>
                <a:spcPct val="100000"/>
              </a:lnSpc>
              <a:tabLst>
                <a:tab pos="548005" algn="l"/>
              </a:tabLst>
            </a:pPr>
            <a:r>
              <a:rPr sz="1200" b="1" spc="-50" dirty="0">
                <a:solidFill>
                  <a:srgbClr val="FFFFFF"/>
                </a:solidFill>
                <a:latin typeface="Meiryo UI"/>
                <a:cs typeface="Meiryo UI"/>
              </a:rPr>
              <a:t>4</a:t>
            </a:r>
            <a:r>
              <a:rPr sz="1200" b="1" dirty="0">
                <a:solidFill>
                  <a:srgbClr val="FFFFFF"/>
                </a:solidFill>
                <a:latin typeface="Meiryo UI"/>
                <a:cs typeface="Meiryo UI"/>
              </a:rPr>
              <a:t>	</a:t>
            </a:r>
            <a:r>
              <a:rPr sz="1250" b="1" dirty="0">
                <a:solidFill>
                  <a:srgbClr val="7B3AEC"/>
                </a:solidFill>
                <a:latin typeface="Meiryo UI"/>
                <a:cs typeface="Meiryo UI"/>
              </a:rPr>
              <a:t>Stitching</a:t>
            </a:r>
            <a:r>
              <a:rPr sz="1250" b="1" spc="185" dirty="0">
                <a:solidFill>
                  <a:srgbClr val="7B3AEC"/>
                </a:solidFill>
                <a:latin typeface="Meiryo UI"/>
                <a:cs typeface="Meiryo UI"/>
              </a:rPr>
              <a:t> </a:t>
            </a:r>
            <a:r>
              <a:rPr sz="1250" b="1" dirty="0">
                <a:solidFill>
                  <a:srgbClr val="7B3AEC"/>
                </a:solidFill>
                <a:latin typeface="Meiryo UI"/>
                <a:cs typeface="Meiryo UI"/>
              </a:rPr>
              <a:t>quality</a:t>
            </a:r>
            <a:r>
              <a:rPr sz="1250" b="1" spc="185" dirty="0">
                <a:solidFill>
                  <a:srgbClr val="7B3AEC"/>
                </a:solidFill>
                <a:latin typeface="Meiryo UI"/>
                <a:cs typeface="Meiryo UI"/>
              </a:rPr>
              <a:t> </a:t>
            </a:r>
            <a:r>
              <a:rPr sz="1250" b="1" spc="45" dirty="0">
                <a:solidFill>
                  <a:srgbClr val="7B3AEC"/>
                </a:solidFill>
                <a:latin typeface="Meiryo UI"/>
                <a:cs typeface="Meiryo UI"/>
              </a:rPr>
              <a:t>matters</a:t>
            </a:r>
            <a:r>
              <a:rPr sz="1250" b="1" spc="185" dirty="0">
                <a:solidFill>
                  <a:srgbClr val="7B3AEC"/>
                </a:solidFill>
                <a:latin typeface="Meiryo UI"/>
                <a:cs typeface="Meiryo UI"/>
              </a:rPr>
              <a:t> </a:t>
            </a:r>
            <a:r>
              <a:rPr sz="1250" b="1" spc="55" dirty="0">
                <a:solidFill>
                  <a:srgbClr val="7B3AEC"/>
                </a:solidFill>
                <a:latin typeface="Meiryo UI"/>
                <a:cs typeface="Meiryo UI"/>
              </a:rPr>
              <a:t>a</a:t>
            </a:r>
            <a:r>
              <a:rPr sz="1250" b="1" spc="185" dirty="0">
                <a:solidFill>
                  <a:srgbClr val="7B3AEC"/>
                </a:solidFill>
                <a:latin typeface="Meiryo UI"/>
                <a:cs typeface="Meiryo UI"/>
              </a:rPr>
              <a:t> </a:t>
            </a:r>
            <a:r>
              <a:rPr sz="1250" b="1" spc="-25" dirty="0">
                <a:solidFill>
                  <a:srgbClr val="7B3AEC"/>
                </a:solidFill>
                <a:latin typeface="Meiryo UI"/>
                <a:cs typeface="Meiryo UI"/>
              </a:rPr>
              <a:t>lot</a:t>
            </a:r>
            <a:endParaRPr sz="1250">
              <a:latin typeface="Meiryo UI"/>
              <a:cs typeface="Meiryo UI"/>
            </a:endParaRPr>
          </a:p>
          <a:p>
            <a:pPr marL="128270" marR="144145">
              <a:lnSpc>
                <a:spcPct val="135000"/>
              </a:lnSpc>
              <a:spcBef>
                <a:spcPts val="1714"/>
              </a:spcBef>
            </a:pP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The</a:t>
            </a:r>
            <a:r>
              <a:rPr sz="11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greedy</a:t>
            </a:r>
            <a:r>
              <a:rPr sz="1150" spc="-1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465469"/>
                </a:solidFill>
                <a:latin typeface="Calibri"/>
                <a:cs typeface="Calibri"/>
              </a:rPr>
              <a:t>boundary-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city</a:t>
            </a:r>
            <a:r>
              <a:rPr sz="1150" spc="-2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stitch</a:t>
            </a:r>
            <a:r>
              <a:rPr sz="1150" spc="-2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is</a:t>
            </a:r>
            <a:r>
              <a:rPr sz="1150" spc="-2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fast</a:t>
            </a:r>
            <a:r>
              <a:rPr sz="1150" spc="-2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but</a:t>
            </a:r>
            <a:r>
              <a:rPr sz="11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465469"/>
                </a:solidFill>
                <a:latin typeface="Calibri"/>
                <a:cs typeface="Calibri"/>
              </a:rPr>
              <a:t>imperfect</a:t>
            </a:r>
            <a:r>
              <a:rPr sz="1150" spc="-2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—</a:t>
            </a:r>
            <a:r>
              <a:rPr sz="11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spc="-20" dirty="0">
                <a:solidFill>
                  <a:srgbClr val="465469"/>
                </a:solidFill>
                <a:latin typeface="Calibri"/>
                <a:cs typeface="Calibri"/>
              </a:rPr>
              <a:t>many inter-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cluster</a:t>
            </a:r>
            <a:r>
              <a:rPr sz="1150" spc="-4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edges</a:t>
            </a:r>
            <a:r>
              <a:rPr sz="1150" spc="-2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are</a:t>
            </a:r>
            <a:r>
              <a:rPr sz="11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longer</a:t>
            </a:r>
            <a:r>
              <a:rPr sz="1150" spc="-2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than</a:t>
            </a:r>
            <a:r>
              <a:rPr sz="11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465469"/>
                </a:solidFill>
                <a:latin typeface="Calibri"/>
                <a:cs typeface="Calibri"/>
              </a:rPr>
              <a:t>necessary.</a:t>
            </a:r>
            <a:r>
              <a:rPr sz="11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Running</a:t>
            </a:r>
            <a:r>
              <a:rPr sz="11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SA</a:t>
            </a:r>
            <a:r>
              <a:rPr sz="1150" spc="-25" dirty="0">
                <a:solidFill>
                  <a:srgbClr val="465469"/>
                </a:solidFill>
                <a:latin typeface="Calibri"/>
                <a:cs typeface="Calibri"/>
              </a:rPr>
              <a:t> on </a:t>
            </a:r>
            <a:r>
              <a:rPr sz="1150" spc="-10" dirty="0">
                <a:solidFill>
                  <a:srgbClr val="465469"/>
                </a:solidFill>
                <a:latin typeface="Calibri"/>
                <a:cs typeface="Calibri"/>
              </a:rPr>
              <a:t>centroids</a:t>
            </a:r>
            <a:r>
              <a:rPr sz="11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for</a:t>
            </a:r>
            <a:r>
              <a:rPr sz="1150" spc="-2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465469"/>
                </a:solidFill>
                <a:latin typeface="Calibri"/>
                <a:cs typeface="Calibri"/>
              </a:rPr>
              <a:t>cluster</a:t>
            </a:r>
            <a:r>
              <a:rPr sz="11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ordering</a:t>
            </a:r>
            <a:r>
              <a:rPr sz="11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helps,</a:t>
            </a:r>
            <a:r>
              <a:rPr sz="11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but</a:t>
            </a:r>
            <a:r>
              <a:rPr sz="11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applying</a:t>
            </a:r>
            <a:r>
              <a:rPr sz="11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465469"/>
                </a:solidFill>
                <a:latin typeface="Calibri"/>
                <a:cs typeface="Calibri"/>
              </a:rPr>
              <a:t>GLS/ACO</a:t>
            </a:r>
            <a:r>
              <a:rPr sz="1150" spc="-2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to</a:t>
            </a:r>
            <a:r>
              <a:rPr sz="1150" spc="-25" dirty="0">
                <a:solidFill>
                  <a:srgbClr val="465469"/>
                </a:solidFill>
                <a:latin typeface="Calibri"/>
                <a:cs typeface="Calibri"/>
              </a:rPr>
              <a:t> the </a:t>
            </a:r>
            <a:r>
              <a:rPr sz="1150" spc="-10" dirty="0">
                <a:solidFill>
                  <a:srgbClr val="465469"/>
                </a:solidFill>
                <a:latin typeface="Calibri"/>
                <a:cs typeface="Calibri"/>
              </a:rPr>
              <a:t>stitch</a:t>
            </a:r>
            <a:r>
              <a:rPr sz="1150" spc="-2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itself</a:t>
            </a:r>
            <a:r>
              <a:rPr sz="1150" spc="-2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is</a:t>
            </a:r>
            <a:r>
              <a:rPr sz="1150" spc="-2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the</a:t>
            </a:r>
            <a:r>
              <a:rPr sz="1150" spc="-2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465469"/>
                </a:solidFill>
                <a:latin typeface="Calibri"/>
                <a:cs typeface="Calibri"/>
              </a:rPr>
              <a:t>clearest</a:t>
            </a:r>
            <a:r>
              <a:rPr sz="11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path</a:t>
            </a:r>
            <a:r>
              <a:rPr sz="1150" spc="-2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to</a:t>
            </a:r>
            <a:r>
              <a:rPr sz="1150" spc="-25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5469"/>
                </a:solidFill>
                <a:latin typeface="Calibri"/>
                <a:cs typeface="Calibri"/>
              </a:rPr>
              <a:t>further</a:t>
            </a:r>
            <a:r>
              <a:rPr sz="1150" spc="-20" dirty="0">
                <a:solidFill>
                  <a:srgbClr val="465469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465469"/>
                </a:solidFill>
                <a:latin typeface="Calibri"/>
                <a:cs typeface="Calibri"/>
              </a:rPr>
              <a:t>improvement.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0E162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6299" y="-6653"/>
            <a:ext cx="177165" cy="5156200"/>
            <a:chOff x="-6299" y="-6653"/>
            <a:chExt cx="177165" cy="5156200"/>
          </a:xfrm>
        </p:grpSpPr>
        <p:sp>
          <p:nvSpPr>
            <p:cNvPr id="4" name="object 4"/>
            <p:cNvSpPr/>
            <p:nvPr/>
          </p:nvSpPr>
          <p:spPr>
            <a:xfrm>
              <a:off x="0" y="-353"/>
              <a:ext cx="164465" cy="5143500"/>
            </a:xfrm>
            <a:custGeom>
              <a:avLst/>
              <a:gdLst/>
              <a:ahLst/>
              <a:cxnLst/>
              <a:rect l="l" t="t" r="r" b="b"/>
              <a:pathLst>
                <a:path w="164465" h="5143500">
                  <a:moveTo>
                    <a:pt x="164160" y="0"/>
                  </a:moveTo>
                  <a:lnTo>
                    <a:pt x="0" y="0"/>
                  </a:lnTo>
                  <a:lnTo>
                    <a:pt x="0" y="5143309"/>
                  </a:lnTo>
                  <a:lnTo>
                    <a:pt x="82080" y="5143309"/>
                  </a:lnTo>
                  <a:lnTo>
                    <a:pt x="164160" y="5143309"/>
                  </a:lnTo>
                  <a:lnTo>
                    <a:pt x="164160" y="0"/>
                  </a:lnTo>
                  <a:close/>
                </a:path>
              </a:pathLst>
            </a:custGeom>
            <a:solidFill>
              <a:srgbClr val="0D94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-353"/>
              <a:ext cx="164465" cy="5143500"/>
            </a:xfrm>
            <a:custGeom>
              <a:avLst/>
              <a:gdLst/>
              <a:ahLst/>
              <a:cxnLst/>
              <a:rect l="l" t="t" r="r" b="b"/>
              <a:pathLst>
                <a:path w="164465" h="5143500">
                  <a:moveTo>
                    <a:pt x="82080" y="5143309"/>
                  </a:moveTo>
                  <a:lnTo>
                    <a:pt x="0" y="5143309"/>
                  </a:lnTo>
                  <a:lnTo>
                    <a:pt x="0" y="0"/>
                  </a:lnTo>
                  <a:lnTo>
                    <a:pt x="164160" y="0"/>
                  </a:lnTo>
                  <a:lnTo>
                    <a:pt x="164160" y="5143309"/>
                  </a:lnTo>
                  <a:lnTo>
                    <a:pt x="82080" y="5143309"/>
                  </a:lnTo>
                  <a:close/>
                </a:path>
              </a:pathLst>
            </a:custGeom>
            <a:ln w="12599">
              <a:solidFill>
                <a:srgbClr val="0D94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398424" y="391225"/>
            <a:ext cx="494919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100" dirty="0">
                <a:solidFill>
                  <a:srgbClr val="FFFFFF"/>
                </a:solidFill>
              </a:rPr>
              <a:t>Conclusion</a:t>
            </a:r>
            <a:r>
              <a:rPr sz="2800" spc="45" dirty="0">
                <a:solidFill>
                  <a:srgbClr val="FFFFFF"/>
                </a:solidFill>
              </a:rPr>
              <a:t> </a:t>
            </a:r>
            <a:r>
              <a:rPr sz="2800" spc="114" dirty="0">
                <a:solidFill>
                  <a:srgbClr val="FFFFFF"/>
                </a:solidFill>
              </a:rPr>
              <a:t>&amp;</a:t>
            </a:r>
            <a:r>
              <a:rPr sz="2800" spc="40" dirty="0">
                <a:solidFill>
                  <a:srgbClr val="FFFFFF"/>
                </a:solidFill>
              </a:rPr>
              <a:t> </a:t>
            </a:r>
            <a:r>
              <a:rPr sz="2800" spc="90" dirty="0">
                <a:solidFill>
                  <a:srgbClr val="FFFFFF"/>
                </a:solidFill>
              </a:rPr>
              <a:t>Next</a:t>
            </a:r>
            <a:r>
              <a:rPr sz="2800" spc="45" dirty="0">
                <a:solidFill>
                  <a:srgbClr val="FFFFFF"/>
                </a:solidFill>
              </a:rPr>
              <a:t> </a:t>
            </a:r>
            <a:r>
              <a:rPr sz="2800" spc="100" dirty="0">
                <a:solidFill>
                  <a:srgbClr val="FFFFFF"/>
                </a:solidFill>
              </a:rPr>
              <a:t>Steps</a:t>
            </a:r>
            <a:endParaRPr sz="2800"/>
          </a:p>
        </p:txBody>
      </p:sp>
      <p:sp>
        <p:nvSpPr>
          <p:cNvPr id="7" name="object 7"/>
          <p:cNvSpPr txBox="1"/>
          <p:nvPr/>
        </p:nvSpPr>
        <p:spPr>
          <a:xfrm>
            <a:off x="398424" y="1084582"/>
            <a:ext cx="8173720" cy="2571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01185" algn="l"/>
              </a:tabLst>
            </a:pPr>
            <a:r>
              <a:rPr sz="1500" b="1" spc="60" dirty="0">
                <a:solidFill>
                  <a:srgbClr val="13B8A6"/>
                </a:solidFill>
                <a:latin typeface="Meiryo UI"/>
                <a:cs typeface="Meiryo UI"/>
              </a:rPr>
              <a:t>What</a:t>
            </a:r>
            <a:r>
              <a:rPr sz="1500" b="1" spc="25" dirty="0">
                <a:solidFill>
                  <a:srgbClr val="13B8A6"/>
                </a:solidFill>
                <a:latin typeface="Meiryo UI"/>
                <a:cs typeface="Meiryo UI"/>
              </a:rPr>
              <a:t> </a:t>
            </a:r>
            <a:r>
              <a:rPr sz="1500" b="1" spc="65" dirty="0">
                <a:solidFill>
                  <a:srgbClr val="13B8A6"/>
                </a:solidFill>
                <a:latin typeface="Meiryo UI"/>
                <a:cs typeface="Meiryo UI"/>
              </a:rPr>
              <a:t>we</a:t>
            </a:r>
            <a:r>
              <a:rPr sz="1500" b="1" spc="30" dirty="0">
                <a:solidFill>
                  <a:srgbClr val="13B8A6"/>
                </a:solidFill>
                <a:latin typeface="Meiryo UI"/>
                <a:cs typeface="Meiryo UI"/>
              </a:rPr>
              <a:t> </a:t>
            </a:r>
            <a:r>
              <a:rPr sz="1500" b="1" spc="45" dirty="0">
                <a:solidFill>
                  <a:srgbClr val="13B8A6"/>
                </a:solidFill>
                <a:latin typeface="Meiryo UI"/>
                <a:cs typeface="Meiryo UI"/>
              </a:rPr>
              <a:t>achieved</a:t>
            </a:r>
            <a:r>
              <a:rPr sz="1500" b="1" dirty="0">
                <a:solidFill>
                  <a:srgbClr val="13B8A6"/>
                </a:solidFill>
                <a:latin typeface="Meiryo UI"/>
                <a:cs typeface="Meiryo UI"/>
              </a:rPr>
              <a:t>	</a:t>
            </a:r>
            <a:r>
              <a:rPr sz="1500" b="1" spc="50" dirty="0">
                <a:solidFill>
                  <a:srgbClr val="F49D0A"/>
                </a:solidFill>
                <a:latin typeface="Meiryo UI"/>
                <a:cs typeface="Meiryo UI"/>
              </a:rPr>
              <a:t>Reach</a:t>
            </a:r>
            <a:r>
              <a:rPr sz="1500" b="1" spc="30" dirty="0">
                <a:solidFill>
                  <a:srgbClr val="F49D0A"/>
                </a:solidFill>
                <a:latin typeface="Meiryo UI"/>
                <a:cs typeface="Meiryo UI"/>
              </a:rPr>
              <a:t> </a:t>
            </a:r>
            <a:r>
              <a:rPr sz="1500" b="1" spc="40" dirty="0">
                <a:solidFill>
                  <a:srgbClr val="F49D0A"/>
                </a:solidFill>
                <a:latin typeface="Meiryo UI"/>
                <a:cs typeface="Meiryo UI"/>
              </a:rPr>
              <a:t>goals</a:t>
            </a:r>
            <a:endParaRPr sz="1500">
              <a:latin typeface="Meiryo UI"/>
              <a:cs typeface="Meiryo UI"/>
            </a:endParaRPr>
          </a:p>
          <a:p>
            <a:pPr marL="179705" indent="-171450">
              <a:lnSpc>
                <a:spcPct val="100000"/>
              </a:lnSpc>
              <a:spcBef>
                <a:spcPts val="1764"/>
              </a:spcBef>
              <a:buClr>
                <a:srgbClr val="0D9487"/>
              </a:buClr>
              <a:buFont typeface="Meiryo UI"/>
              <a:buChar char="✓"/>
              <a:tabLst>
                <a:tab pos="179705" algn="l"/>
                <a:tab pos="4401185" algn="l"/>
              </a:tabLst>
            </a:pP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Vectorized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35" dirty="0">
                <a:solidFill>
                  <a:srgbClr val="FFFFFF"/>
                </a:solidFill>
                <a:latin typeface="Calibri"/>
                <a:cs typeface="Calibri"/>
              </a:rPr>
              <a:t>k-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means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115k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cities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seconds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1250" b="1" dirty="0">
                <a:solidFill>
                  <a:srgbClr val="F49D0A"/>
                </a:solidFill>
                <a:latin typeface="Calibri"/>
                <a:cs typeface="Calibri"/>
              </a:rPr>
              <a:t>→</a:t>
            </a:r>
            <a:r>
              <a:rPr sz="1250" b="1" spc="-30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94A3B8"/>
                </a:solidFill>
                <a:latin typeface="Calibri"/>
                <a:cs typeface="Calibri"/>
              </a:rPr>
              <a:t>Apply</a:t>
            </a:r>
            <a:r>
              <a:rPr sz="1250" spc="-2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94A3B8"/>
                </a:solidFill>
                <a:latin typeface="Calibri"/>
                <a:cs typeface="Calibri"/>
              </a:rPr>
              <a:t>GLS/ACO</a:t>
            </a:r>
            <a:r>
              <a:rPr sz="1250" spc="-3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94A3B8"/>
                </a:solidFill>
                <a:latin typeface="Calibri"/>
                <a:cs typeface="Calibri"/>
              </a:rPr>
              <a:t>to</a:t>
            </a:r>
            <a:r>
              <a:rPr sz="1250" spc="-25" dirty="0">
                <a:solidFill>
                  <a:srgbClr val="94A3B8"/>
                </a:solidFill>
                <a:latin typeface="Calibri"/>
                <a:cs typeface="Calibri"/>
              </a:rPr>
              <a:t> inter-</a:t>
            </a:r>
            <a:r>
              <a:rPr sz="1250" dirty="0">
                <a:solidFill>
                  <a:srgbClr val="94A3B8"/>
                </a:solidFill>
                <a:latin typeface="Calibri"/>
                <a:cs typeface="Calibri"/>
              </a:rPr>
              <a:t>cluster</a:t>
            </a:r>
            <a:r>
              <a:rPr sz="1250" spc="-2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94A3B8"/>
                </a:solidFill>
                <a:latin typeface="Calibri"/>
                <a:cs typeface="Calibri"/>
              </a:rPr>
              <a:t>stitching</a:t>
            </a:r>
            <a:r>
              <a:rPr sz="1250" spc="-3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250" spc="-25" dirty="0">
                <a:solidFill>
                  <a:srgbClr val="94A3B8"/>
                </a:solidFill>
                <a:latin typeface="Calibri"/>
                <a:cs typeface="Calibri"/>
              </a:rPr>
              <a:t>too</a:t>
            </a:r>
            <a:endParaRPr sz="12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20"/>
              </a:spcBef>
              <a:buClr>
                <a:srgbClr val="0D9487"/>
              </a:buClr>
              <a:buFont typeface="Meiryo UI"/>
              <a:buChar char="✓"/>
            </a:pPr>
            <a:endParaRPr sz="1250">
              <a:latin typeface="Calibri"/>
              <a:cs typeface="Calibri"/>
            </a:endParaRPr>
          </a:p>
          <a:p>
            <a:pPr marL="179705" indent="-171450">
              <a:lnSpc>
                <a:spcPct val="100000"/>
              </a:lnSpc>
              <a:buClr>
                <a:srgbClr val="0D9487"/>
              </a:buClr>
              <a:buFont typeface="Meiryo UI"/>
              <a:buChar char="✓"/>
              <a:tabLst>
                <a:tab pos="179705" algn="l"/>
                <a:tab pos="4401185" algn="l"/>
              </a:tabLst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GLS</a:t>
            </a:r>
            <a:r>
              <a:rPr sz="125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125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O(1)</a:t>
            </a:r>
            <a:r>
              <a:rPr sz="125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delta</a:t>
            </a:r>
            <a:r>
              <a:rPr sz="125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evaluation:</a:t>
            </a:r>
            <a:r>
              <a:rPr sz="125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91.8%</a:t>
            </a:r>
            <a:r>
              <a:rPr sz="125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tour</a:t>
            </a:r>
            <a:r>
              <a:rPr sz="125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improvement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1250" b="1" dirty="0">
                <a:solidFill>
                  <a:srgbClr val="F49D0A"/>
                </a:solidFill>
                <a:latin typeface="Calibri"/>
                <a:cs typeface="Calibri"/>
              </a:rPr>
              <a:t>→</a:t>
            </a:r>
            <a:r>
              <a:rPr sz="1250" b="1" spc="-3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250" spc="-20" dirty="0">
                <a:solidFill>
                  <a:srgbClr val="94A3B8"/>
                </a:solidFill>
                <a:latin typeface="Calibri"/>
                <a:cs typeface="Calibri"/>
              </a:rPr>
              <a:t>2-</a:t>
            </a:r>
            <a:r>
              <a:rPr sz="1250" dirty="0">
                <a:solidFill>
                  <a:srgbClr val="94A3B8"/>
                </a:solidFill>
                <a:latin typeface="Calibri"/>
                <a:cs typeface="Calibri"/>
              </a:rPr>
              <a:t>opt</a:t>
            </a:r>
            <a:r>
              <a:rPr sz="1250" spc="-3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94A3B8"/>
                </a:solidFill>
                <a:latin typeface="Calibri"/>
                <a:cs typeface="Calibri"/>
              </a:rPr>
              <a:t>moves</a:t>
            </a:r>
            <a:r>
              <a:rPr sz="1250" spc="-3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94A3B8"/>
                </a:solidFill>
                <a:latin typeface="Calibri"/>
                <a:cs typeface="Calibri"/>
              </a:rPr>
              <a:t>(reverse</a:t>
            </a:r>
            <a:r>
              <a:rPr sz="1250" spc="-3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94A3B8"/>
                </a:solidFill>
                <a:latin typeface="Calibri"/>
                <a:cs typeface="Calibri"/>
              </a:rPr>
              <a:t>segment)</a:t>
            </a:r>
            <a:r>
              <a:rPr sz="1250" spc="-3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94A3B8"/>
                </a:solidFill>
                <a:latin typeface="Calibri"/>
                <a:cs typeface="Calibri"/>
              </a:rPr>
              <a:t>for</a:t>
            </a:r>
            <a:r>
              <a:rPr sz="1250" spc="-3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94A3B8"/>
                </a:solidFill>
                <a:latin typeface="Calibri"/>
                <a:cs typeface="Calibri"/>
              </a:rPr>
              <a:t>richer</a:t>
            </a:r>
            <a:r>
              <a:rPr sz="1250" spc="-3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94A3B8"/>
                </a:solidFill>
                <a:latin typeface="Calibri"/>
                <a:cs typeface="Calibri"/>
              </a:rPr>
              <a:t>neighborhood</a:t>
            </a:r>
            <a:endParaRPr sz="12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20"/>
              </a:spcBef>
              <a:buClr>
                <a:srgbClr val="0D9487"/>
              </a:buClr>
              <a:buFont typeface="Meiryo UI"/>
              <a:buChar char="✓"/>
            </a:pPr>
            <a:endParaRPr sz="1250">
              <a:latin typeface="Calibri"/>
              <a:cs typeface="Calibri"/>
            </a:endParaRPr>
          </a:p>
          <a:p>
            <a:pPr marL="179705" indent="-171450">
              <a:lnSpc>
                <a:spcPct val="100000"/>
              </a:lnSpc>
              <a:buClr>
                <a:srgbClr val="0D9487"/>
              </a:buClr>
              <a:buFont typeface="Meiryo UI"/>
              <a:buChar char="✓"/>
              <a:tabLst>
                <a:tab pos="179705" algn="l"/>
                <a:tab pos="4401185" algn="l"/>
              </a:tabLst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ACO</a:t>
            </a:r>
            <a:r>
              <a:rPr sz="125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125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pheromone</a:t>
            </a:r>
            <a:r>
              <a:rPr sz="125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matrix:</a:t>
            </a:r>
            <a:r>
              <a:rPr sz="125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91.4%</a:t>
            </a:r>
            <a:r>
              <a:rPr sz="125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improvement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1250" b="1" dirty="0">
                <a:solidFill>
                  <a:srgbClr val="F49D0A"/>
                </a:solidFill>
                <a:latin typeface="Calibri"/>
                <a:cs typeface="Calibri"/>
              </a:rPr>
              <a:t>→</a:t>
            </a:r>
            <a:r>
              <a:rPr sz="1250" b="1" spc="-30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94A3B8"/>
                </a:solidFill>
                <a:latin typeface="Calibri"/>
                <a:cs typeface="Calibri"/>
              </a:rPr>
              <a:t>Hierarchical</a:t>
            </a:r>
            <a:r>
              <a:rPr sz="1250" spc="-3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94A3B8"/>
                </a:solidFill>
                <a:latin typeface="Calibri"/>
                <a:cs typeface="Calibri"/>
              </a:rPr>
              <a:t>clustering</a:t>
            </a:r>
            <a:r>
              <a:rPr sz="1250" spc="-3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94A3B8"/>
                </a:solidFill>
                <a:latin typeface="Calibri"/>
                <a:cs typeface="Calibri"/>
              </a:rPr>
              <a:t>for</a:t>
            </a:r>
            <a:r>
              <a:rPr sz="1250" spc="-2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250" spc="-20" dirty="0">
                <a:solidFill>
                  <a:srgbClr val="94A3B8"/>
                </a:solidFill>
                <a:latin typeface="Calibri"/>
                <a:cs typeface="Calibri"/>
              </a:rPr>
              <a:t>3-</a:t>
            </a:r>
            <a:r>
              <a:rPr sz="1250" dirty="0">
                <a:solidFill>
                  <a:srgbClr val="94A3B8"/>
                </a:solidFill>
                <a:latin typeface="Calibri"/>
                <a:cs typeface="Calibri"/>
              </a:rPr>
              <a:t>level</a:t>
            </a:r>
            <a:r>
              <a:rPr sz="1250" spc="-3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94A3B8"/>
                </a:solidFill>
                <a:latin typeface="Calibri"/>
                <a:cs typeface="Calibri"/>
              </a:rPr>
              <a:t>decomposition</a:t>
            </a:r>
            <a:endParaRPr sz="12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20"/>
              </a:spcBef>
              <a:buClr>
                <a:srgbClr val="0D9487"/>
              </a:buClr>
              <a:buFont typeface="Meiryo UI"/>
              <a:buChar char="✓"/>
            </a:pPr>
            <a:endParaRPr sz="1250">
              <a:latin typeface="Calibri"/>
              <a:cs typeface="Calibri"/>
            </a:endParaRPr>
          </a:p>
          <a:p>
            <a:pPr marL="179705" indent="-171450">
              <a:lnSpc>
                <a:spcPct val="100000"/>
              </a:lnSpc>
              <a:buClr>
                <a:srgbClr val="0D9487"/>
              </a:buClr>
              <a:buFont typeface="Meiryo UI"/>
              <a:buChar char="✓"/>
              <a:tabLst>
                <a:tab pos="179705" algn="l"/>
                <a:tab pos="4401185" algn="l"/>
              </a:tabLst>
            </a:pP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Parallelized</a:t>
            </a:r>
            <a:r>
              <a:rPr sz="12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pipeline: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1,000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clusters</a:t>
            </a:r>
            <a:r>
              <a:rPr sz="12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~20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seconds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1250" b="1" dirty="0">
                <a:solidFill>
                  <a:srgbClr val="F49D0A"/>
                </a:solidFill>
                <a:latin typeface="Calibri"/>
                <a:cs typeface="Calibri"/>
              </a:rPr>
              <a:t>→</a:t>
            </a:r>
            <a:r>
              <a:rPr sz="1250" b="1" spc="-30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250" spc="-20" dirty="0">
                <a:solidFill>
                  <a:srgbClr val="94A3B8"/>
                </a:solidFill>
                <a:latin typeface="Calibri"/>
                <a:cs typeface="Calibri"/>
              </a:rPr>
              <a:t>Tune</a:t>
            </a:r>
            <a:r>
              <a:rPr sz="1250" spc="-3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94A3B8"/>
                </a:solidFill>
                <a:latin typeface="Calibri"/>
                <a:cs typeface="Calibri"/>
              </a:rPr>
              <a:t>ACO</a:t>
            </a:r>
            <a:r>
              <a:rPr sz="1250" spc="-3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94A3B8"/>
                </a:solidFill>
                <a:latin typeface="Calibri"/>
                <a:cs typeface="Calibri"/>
              </a:rPr>
              <a:t>with</a:t>
            </a:r>
            <a:r>
              <a:rPr sz="1250" spc="-3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94A3B8"/>
                </a:solidFill>
                <a:latin typeface="Calibri"/>
                <a:cs typeface="Calibri"/>
              </a:rPr>
              <a:t>more</a:t>
            </a:r>
            <a:r>
              <a:rPr sz="1250" spc="-3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94A3B8"/>
                </a:solidFill>
                <a:latin typeface="Calibri"/>
                <a:cs typeface="Calibri"/>
              </a:rPr>
              <a:t>ants</a:t>
            </a:r>
            <a:r>
              <a:rPr sz="1250" spc="-3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94A3B8"/>
                </a:solidFill>
                <a:latin typeface="Calibri"/>
                <a:cs typeface="Calibri"/>
              </a:rPr>
              <a:t>on</a:t>
            </a:r>
            <a:r>
              <a:rPr sz="1250" spc="-3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94A3B8"/>
                </a:solidFill>
                <a:latin typeface="Calibri"/>
                <a:cs typeface="Calibri"/>
              </a:rPr>
              <a:t>a</a:t>
            </a:r>
            <a:r>
              <a:rPr sz="1250" spc="-3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94A3B8"/>
                </a:solidFill>
                <a:latin typeface="Calibri"/>
                <a:cs typeface="Calibri"/>
              </a:rPr>
              <a:t>compute</a:t>
            </a:r>
            <a:r>
              <a:rPr sz="1250" spc="-3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94A3B8"/>
                </a:solidFill>
                <a:latin typeface="Calibri"/>
                <a:cs typeface="Calibri"/>
              </a:rPr>
              <a:t>cluster</a:t>
            </a:r>
            <a:endParaRPr sz="12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15"/>
              </a:spcBef>
              <a:buClr>
                <a:srgbClr val="0D9487"/>
              </a:buClr>
              <a:buFont typeface="Meiryo UI"/>
              <a:buChar char="✓"/>
            </a:pPr>
            <a:endParaRPr sz="1250">
              <a:latin typeface="Calibri"/>
              <a:cs typeface="Calibri"/>
            </a:endParaRPr>
          </a:p>
          <a:p>
            <a:pPr marL="179705" indent="-171450">
              <a:lnSpc>
                <a:spcPct val="100000"/>
              </a:lnSpc>
              <a:buClr>
                <a:srgbClr val="0D9487"/>
              </a:buClr>
              <a:buFont typeface="Meiryo UI"/>
              <a:buChar char="✓"/>
              <a:tabLst>
                <a:tab pos="179705" algn="l"/>
                <a:tab pos="4401185" algn="l"/>
              </a:tabLst>
            </a:pP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End-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to-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end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tour:</a:t>
            </a:r>
            <a:r>
              <a:rPr sz="12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17,605,785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vs</a:t>
            </a:r>
            <a:r>
              <a:rPr sz="12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213,920,969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default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1250" b="1" dirty="0">
                <a:solidFill>
                  <a:srgbClr val="F49D0A"/>
                </a:solidFill>
                <a:latin typeface="Calibri"/>
                <a:cs typeface="Calibri"/>
              </a:rPr>
              <a:t>→</a:t>
            </a:r>
            <a:r>
              <a:rPr sz="1250" b="1" spc="-10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94A3B8"/>
                </a:solidFill>
                <a:latin typeface="Calibri"/>
                <a:cs typeface="Calibri"/>
              </a:rPr>
              <a:t>Systematic </a:t>
            </a:r>
            <a:r>
              <a:rPr sz="1250" dirty="0">
                <a:solidFill>
                  <a:srgbClr val="94A3B8"/>
                </a:solidFill>
                <a:latin typeface="Calibri"/>
                <a:cs typeface="Calibri"/>
              </a:rPr>
              <a:t>λ</a:t>
            </a:r>
            <a:r>
              <a:rPr sz="1250" spc="-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94A3B8"/>
                </a:solidFill>
                <a:latin typeface="Calibri"/>
                <a:cs typeface="Calibri"/>
              </a:rPr>
              <a:t>/</a:t>
            </a:r>
            <a:r>
              <a:rPr sz="1250" spc="-1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94A3B8"/>
                </a:solidFill>
                <a:latin typeface="Calibri"/>
                <a:cs typeface="Calibri"/>
              </a:rPr>
              <a:t>α</a:t>
            </a:r>
            <a:r>
              <a:rPr sz="1250" spc="-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94A3B8"/>
                </a:solidFill>
                <a:latin typeface="Calibri"/>
                <a:cs typeface="Calibri"/>
              </a:rPr>
              <a:t>/</a:t>
            </a:r>
            <a:r>
              <a:rPr sz="1250" spc="-1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94A3B8"/>
                </a:solidFill>
                <a:latin typeface="Calibri"/>
                <a:cs typeface="Calibri"/>
              </a:rPr>
              <a:t>β</a:t>
            </a:r>
            <a:r>
              <a:rPr sz="1250" spc="-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94A3B8"/>
                </a:solidFill>
                <a:latin typeface="Calibri"/>
                <a:cs typeface="Calibri"/>
              </a:rPr>
              <a:t>sensitivity analysis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11124" y="4004642"/>
            <a:ext cx="8321040" cy="914400"/>
          </a:xfrm>
          <a:custGeom>
            <a:avLst/>
            <a:gdLst/>
            <a:ahLst/>
            <a:cxnLst/>
            <a:rect l="l" t="t" r="r" b="b"/>
            <a:pathLst>
              <a:path w="8321040" h="914400">
                <a:moveTo>
                  <a:pt x="8320671" y="0"/>
                </a:moveTo>
                <a:lnTo>
                  <a:pt x="0" y="0"/>
                </a:lnTo>
                <a:lnTo>
                  <a:pt x="0" y="914044"/>
                </a:lnTo>
                <a:lnTo>
                  <a:pt x="4160519" y="914044"/>
                </a:lnTo>
                <a:lnTo>
                  <a:pt x="8320671" y="914044"/>
                </a:lnTo>
                <a:lnTo>
                  <a:pt x="8320671" y="0"/>
                </a:lnTo>
                <a:close/>
              </a:path>
            </a:pathLst>
          </a:custGeom>
          <a:solidFill>
            <a:srgbClr val="1D28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11124" y="4004642"/>
            <a:ext cx="8321040" cy="914400"/>
          </a:xfrm>
          <a:prstGeom prst="rect">
            <a:avLst/>
          </a:prstGeom>
          <a:ln w="25559">
            <a:solidFill>
              <a:srgbClr val="0D9487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30"/>
              </a:spcBef>
            </a:pPr>
            <a:endParaRPr sz="1200">
              <a:latin typeface="Times New Roman"/>
              <a:cs typeface="Times New Roman"/>
            </a:endParaRPr>
          </a:p>
          <a:p>
            <a:pPr marL="182245">
              <a:lnSpc>
                <a:spcPct val="100000"/>
              </a:lnSpc>
              <a:tabLst>
                <a:tab pos="2365375" algn="l"/>
              </a:tabLst>
            </a:pPr>
            <a:r>
              <a:rPr sz="1600" b="1" dirty="0">
                <a:solidFill>
                  <a:srgbClr val="13B8A6"/>
                </a:solidFill>
                <a:latin typeface="Calibri"/>
                <a:cs typeface="Calibri"/>
              </a:rPr>
              <a:t>Best</a:t>
            </a:r>
            <a:r>
              <a:rPr sz="1600" b="1" spc="-60" dirty="0">
                <a:solidFill>
                  <a:srgbClr val="13B8A6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3B8A6"/>
                </a:solidFill>
                <a:latin typeface="Calibri"/>
                <a:cs typeface="Calibri"/>
              </a:rPr>
              <a:t>tour:</a:t>
            </a:r>
            <a:r>
              <a:rPr sz="1600" b="1" spc="-50" dirty="0">
                <a:solidFill>
                  <a:srgbClr val="13B8A6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17,605,785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1200" dirty="0">
                <a:solidFill>
                  <a:srgbClr val="94A3B8"/>
                </a:solidFill>
                <a:latin typeface="Calibri"/>
                <a:cs typeface="Calibri"/>
              </a:rPr>
              <a:t>(GLS</a:t>
            </a:r>
            <a:r>
              <a:rPr sz="1200" spc="-3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4A3B8"/>
                </a:solidFill>
                <a:latin typeface="Calibri"/>
                <a:cs typeface="Calibri"/>
              </a:rPr>
              <a:t>·</a:t>
            </a:r>
            <a:r>
              <a:rPr sz="1200" spc="-3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4A3B8"/>
                </a:solidFill>
                <a:latin typeface="Calibri"/>
                <a:cs typeface="Calibri"/>
              </a:rPr>
              <a:t>k=1000</a:t>
            </a:r>
            <a:r>
              <a:rPr sz="1200" spc="-3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4A3B8"/>
                </a:solidFill>
                <a:latin typeface="Calibri"/>
                <a:cs typeface="Calibri"/>
              </a:rPr>
              <a:t>·</a:t>
            </a:r>
            <a:r>
              <a:rPr sz="1200" spc="-3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4A3B8"/>
                </a:solidFill>
                <a:latin typeface="Calibri"/>
                <a:cs typeface="Calibri"/>
              </a:rPr>
              <a:t>~30</a:t>
            </a:r>
            <a:r>
              <a:rPr sz="1200" spc="-30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4A3B8"/>
                </a:solidFill>
                <a:latin typeface="Calibri"/>
                <a:cs typeface="Calibri"/>
              </a:rPr>
              <a:t>seconds</a:t>
            </a:r>
            <a:r>
              <a:rPr sz="1200" spc="-25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94A3B8"/>
                </a:solidFill>
                <a:latin typeface="Calibri"/>
                <a:cs typeface="Calibri"/>
              </a:rPr>
              <a:t>total)</a:t>
            </a:r>
            <a:endParaRPr sz="1200">
              <a:latin typeface="Calibri"/>
              <a:cs typeface="Calibri"/>
            </a:endParaRPr>
          </a:p>
          <a:p>
            <a:pPr marL="182245">
              <a:lnSpc>
                <a:spcPct val="100000"/>
              </a:lnSpc>
              <a:spcBef>
                <a:spcPts val="470"/>
              </a:spcBef>
            </a:pPr>
            <a:r>
              <a:rPr sz="1300" b="1" dirty="0">
                <a:solidFill>
                  <a:srgbClr val="F49D0A"/>
                </a:solidFill>
                <a:latin typeface="Calibri"/>
                <a:cs typeface="Calibri"/>
              </a:rPr>
              <a:t>91.8%</a:t>
            </a:r>
            <a:r>
              <a:rPr sz="1300" b="1" spc="-40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F49D0A"/>
                </a:solidFill>
                <a:latin typeface="Calibri"/>
                <a:cs typeface="Calibri"/>
              </a:rPr>
              <a:t>improvement</a:t>
            </a:r>
            <a:r>
              <a:rPr sz="1300" b="1" spc="-30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49D0A"/>
                </a:solidFill>
                <a:latin typeface="Calibri"/>
                <a:cs typeface="Calibri"/>
              </a:rPr>
              <a:t>over</a:t>
            </a:r>
            <a:r>
              <a:rPr sz="1300" b="1" spc="-3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49D0A"/>
                </a:solidFill>
                <a:latin typeface="Calibri"/>
                <a:cs typeface="Calibri"/>
              </a:rPr>
              <a:t>the</a:t>
            </a:r>
            <a:r>
              <a:rPr sz="1300" b="1" spc="-30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49D0A"/>
                </a:solidFill>
                <a:latin typeface="Calibri"/>
                <a:cs typeface="Calibri"/>
              </a:rPr>
              <a:t>213.9M</a:t>
            </a:r>
            <a:r>
              <a:rPr sz="1300" b="1" spc="-3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F49D0A"/>
                </a:solidFill>
                <a:latin typeface="Calibri"/>
                <a:cs typeface="Calibri"/>
              </a:rPr>
              <a:t>default</a:t>
            </a:r>
            <a:r>
              <a:rPr sz="1300" b="1" spc="-3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F49D0A"/>
                </a:solidFill>
                <a:latin typeface="Calibri"/>
                <a:cs typeface="Calibri"/>
              </a:rPr>
              <a:t>sequential</a:t>
            </a:r>
            <a:r>
              <a:rPr sz="1300" b="1" spc="-30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F49D0A"/>
                </a:solidFill>
                <a:latin typeface="Calibri"/>
                <a:cs typeface="Calibri"/>
              </a:rPr>
              <a:t>tour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</TotalTime>
  <Words>1819</Words>
  <Application>Microsoft Macintosh PowerPoint</Application>
  <PresentationFormat>Custom</PresentationFormat>
  <Paragraphs>263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Adobe Clean SemiCondensed</vt:lpstr>
      <vt:lpstr>Meiryo UI</vt:lpstr>
      <vt:lpstr>Arial</vt:lpstr>
      <vt:lpstr>Calibri</vt:lpstr>
      <vt:lpstr>Cambria</vt:lpstr>
      <vt:lpstr>Lucida Sans Unicode</vt:lpstr>
      <vt:lpstr>Times New Roman</vt:lpstr>
      <vt:lpstr>Office Theme</vt:lpstr>
      <vt:lpstr>Large-Scale TSP via</vt:lpstr>
      <vt:lpstr>Goals &amp; Setup</vt:lpstr>
      <vt:lpstr>Two-Level Optimization Pipeline</vt:lpstr>
      <vt:lpstr>Step 1: K-Means Clustering</vt:lpstr>
      <vt:lpstr>Step 2a: Guided Local Search (GLS) — Deep Dive</vt:lpstr>
      <vt:lpstr>Step 2b: Ant Colony Optimization (ACO) — Overview</vt:lpstr>
      <vt:lpstr>Step 3: Inter-Cluster Stitching</vt:lpstr>
      <vt:lpstr>What We Tried: Arc of Experimentation</vt:lpstr>
      <vt:lpstr>Per-Cluster Benchmark: GLS vs ACO vs SA</vt:lpstr>
      <vt:lpstr>PowerPoint Presentation</vt:lpstr>
      <vt:lpstr>Key Insights</vt:lpstr>
      <vt:lpstr>Conclusion &amp; Next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Large-Scale TSP via Clustering, GLS, and ACO</dc:title>
  <dc:subject>PptxGenJS Presentation</dc:subject>
  <dc:creator>Jason and Geno</dc:creator>
  <cp:lastModifiedBy>Jason Deng</cp:lastModifiedBy>
  <cp:revision>1</cp:revision>
  <dcterms:created xsi:type="dcterms:W3CDTF">2026-06-04T22:52:51Z</dcterms:created>
  <dcterms:modified xsi:type="dcterms:W3CDTF">2026-06-04T23:45:01Z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2026-06-02T00:00:00Z</vt:filetime>
  </property>
  <property fmtid="{D5CDD505-2E9C-101B-9397-08002B2CF9AE}" pid="3" name="Creator">
    <vt:lpwstr>Impress</vt:lpwstr>
  </property>
  <property fmtid="{D5CDD505-2E9C-101B-9397-08002B2CF9AE}" pid="4" name="Producer">
    <vt:lpwstr>LibreOffice 26.2.2.2 (AARCH64)</vt:lpwstr>
  </property>
  <property fmtid="{D5CDD505-2E9C-101B-9397-08002B2CF9AE}" pid="5" name="LastSaved">
    <vt:filetime>2026-06-02T00:00:00Z</vt:filetime>
  </property>
</Properties>
</file>